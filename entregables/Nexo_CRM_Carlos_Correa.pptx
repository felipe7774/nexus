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5918d5453a49e0" /><Relationship Type="http://schemas.openxmlformats.org/officeDocument/2006/relationships/extended-properties" Target="/docProps/app.xml" Id="Rf9d94e20ec024dee" /><Relationship Type="http://schemas.openxmlformats.org/officeDocument/2006/relationships/officeDocument" Target="/ppt/presentation.xml" Id="Rca0d9201189849cc" /></Relationships>
</file>

<file path=ppt/presentation.xml><?xml version="1.0" encoding="utf-8"?>
<p:presentation xmlns:p="http://schemas.openxmlformats.org/presentationml/2006/main">
  <p:sldMasterIdLst>
    <p:sldMasterId xmlns:r="http://schemas.openxmlformats.org/officeDocument/2006/relationships" id="2147483648" r:id="R218a64e7ca8d452b"/>
  </p:sldMasterIdLst>
  <p:notesMasterIdLst>
    <p:notesMasterId xmlns:r="http://schemas.openxmlformats.org/officeDocument/2006/relationships" r:id="Rc00f8a9706844ec0"/>
  </p:notesMasterIdLst>
  <p:sldIdLst>
    <p:sldId xmlns:r="http://schemas.openxmlformats.org/officeDocument/2006/relationships" id="256" r:id="Rde32d9781f484a90"/>
    <p:sldId xmlns:r="http://schemas.openxmlformats.org/officeDocument/2006/relationships" id="257" r:id="R1d0ce9d40dcf470b"/>
    <p:sldId xmlns:r="http://schemas.openxmlformats.org/officeDocument/2006/relationships" id="258" r:id="Rf107e8e3ba894bc5"/>
    <p:sldId xmlns:r="http://schemas.openxmlformats.org/officeDocument/2006/relationships" id="259" r:id="Rc931136f3b114412"/>
    <p:sldId xmlns:r="http://schemas.openxmlformats.org/officeDocument/2006/relationships" id="260" r:id="R0bc20a21aec24f39"/>
    <p:sldId xmlns:r="http://schemas.openxmlformats.org/officeDocument/2006/relationships" id="261" r:id="Rc4490088eb9f4c80"/>
    <p:sldId xmlns:r="http://schemas.openxmlformats.org/officeDocument/2006/relationships" id="262" r:id="Rb9166b6de06d495e"/>
    <p:sldId xmlns:r="http://schemas.openxmlformats.org/officeDocument/2006/relationships" id="263" r:id="R0f9d4680d46448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11b6e88ee0468e" /><Relationship Type="http://schemas.openxmlformats.org/officeDocument/2006/relationships/slideMaster" Target="/ppt/slideMasters/slideMaster1.xml" Id="R218a64e7ca8d452b" /><Relationship Type="http://schemas.openxmlformats.org/officeDocument/2006/relationships/notesMaster" Target="/ppt/notesMasters/notesMaster1.xml" Id="Rc00f8a9706844ec0" /><Relationship Type="http://schemas.openxmlformats.org/officeDocument/2006/relationships/presProps" Target="/ppt/presProps.xml" Id="R094d38f2af324eac" /><Relationship Type="http://schemas.openxmlformats.org/officeDocument/2006/relationships/tableStyles" Target="/ppt/tableStyles.xml" Id="R48ec825094de471b" /><Relationship Type="http://schemas.openxmlformats.org/officeDocument/2006/relationships/slide" Target="/ppt/slides/slide1.xml" Id="Rde32d9781f484a90" /><Relationship Type="http://schemas.openxmlformats.org/officeDocument/2006/relationships/slide" Target="/ppt/slides/slide2.xml" Id="R1d0ce9d40dcf470b" /><Relationship Type="http://schemas.openxmlformats.org/officeDocument/2006/relationships/slide" Target="/ppt/slides/slide3.xml" Id="Rf107e8e3ba894bc5" /><Relationship Type="http://schemas.openxmlformats.org/officeDocument/2006/relationships/slide" Target="/ppt/slides/slide4.xml" Id="Rc931136f3b114412" /><Relationship Type="http://schemas.openxmlformats.org/officeDocument/2006/relationships/slide" Target="/ppt/slides/slide5.xml" Id="R0bc20a21aec24f39" /><Relationship Type="http://schemas.openxmlformats.org/officeDocument/2006/relationships/slide" Target="/ppt/slides/slide6.xml" Id="Rc4490088eb9f4c80" /><Relationship Type="http://schemas.openxmlformats.org/officeDocument/2006/relationships/slide" Target="/ppt/slides/slide7.xml" Id="Rb9166b6de06d495e" /><Relationship Type="http://schemas.openxmlformats.org/officeDocument/2006/relationships/slide" Target="/ppt/slides/slide8.xml" Id="R0f9d4680d46448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c54438d17045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a7ca783aab4581" /><Relationship Type="http://schemas.openxmlformats.org/officeDocument/2006/relationships/notesMaster" Target="/ppt/notesMasters/notesMaster1.xml" Id="R85bd3b32569641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66b35d64bc4268" /><Relationship Type="http://schemas.openxmlformats.org/officeDocument/2006/relationships/notesMaster" Target="/ppt/notesMasters/notesMaster1.xml" Id="R61dc79eacd7541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71a30b042417c" /><Relationship Type="http://schemas.openxmlformats.org/officeDocument/2006/relationships/notesMaster" Target="/ppt/notesMasters/notesMaster1.xml" Id="R74676107859541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caab42ba33409a" /><Relationship Type="http://schemas.openxmlformats.org/officeDocument/2006/relationships/notesMaster" Target="/ppt/notesMasters/notesMaster1.xml" Id="R6e6a0e1b8c194d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d5b2cdeaca413d" /><Relationship Type="http://schemas.openxmlformats.org/officeDocument/2006/relationships/notesMaster" Target="/ppt/notesMasters/notesMaster1.xml" Id="R1ccfc9cdd68d44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ee68eeb514df6" /><Relationship Type="http://schemas.openxmlformats.org/officeDocument/2006/relationships/notesMaster" Target="/ppt/notesMasters/notesMaster1.xml" Id="R21dc00b8e81349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ef6836c9014fab" /><Relationship Type="http://schemas.openxmlformats.org/officeDocument/2006/relationships/notesMaster" Target="/ppt/notesMasters/notesMaster1.xml" Id="Rc48833b10294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6acdd7ff9e4784" /><Relationship Type="http://schemas.openxmlformats.org/officeDocument/2006/relationships/notesMaster" Target="/ppt/notesMasters/notesMaster1.xml" Id="R2e3a2db3564747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20 segundos</a:t>
            </a:r>
          </a:p>
          <a:p xmlns:a="http://schemas.openxmlformats.org/drawingml/2006/main">
            <a:r>
              <a:t/>
            </a:r>
          </a:p>
          <a:p xmlns:a="http://schemas.openxmlformats.org/drawingml/2006/main">
            <a:r>
              <a:t>Buenos días. Soy Carlos Correa y voy a presentar Nexo CRM. Mi parte explica el problema que buscamos resolver, cómo está construido el sistema y las decisiones arquitectónicas que confirmó el equipo. Después, mi compañero presentará las pruebas y los resultados que permiten evaluar esas decisiones.</a:t>
            </a:r>
          </a:p>
          <a:p xmlns:a="http://schemas.openxmlformats.org/drawingml/2006/main">
            <a:r>
              <a:t/>
            </a:r>
          </a:p>
          <a:p xmlns:a="http://schemas.openxmlformats.org/drawingml/2006/main">
            <a:r>
              <a:t>Fuentes:</a:t>
            </a:r>
          </a:p>
          <a:p xmlns:a="http://schemas.openxmlformats.org/drawingml/2006/main">
            <a:r>
              <a:t>https://github.com/Felipe7774/NEXUS/blob/b46acb2/dossier/17-preparacion-defensa.md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50 segundos</a:t>
            </a:r>
          </a:p>
          <a:p xmlns:a="http://schemas.openxmlformats.org/drawingml/2006/main">
            <a:r>
              <a:t/>
            </a:r>
          </a:p>
          <a:p xmlns:a="http://schemas.openxmlformats.org/drawingml/2006/main">
            <a:r>
              <a:t>Nexo CRM es una aplicación B2B, es decir, orientada a relaciones comerciales entre empresas. Permite administrar empresas y contactos, gestionar oportunidades de venta mediante un pipeline y organizar actividades como llamadas, reuniones, correos y tareas. El problema es la dispersión de la información. Si una persona guarda los contactos en un lugar y las negociaciones y seguimientos en otros, cuesta saber en qué estado está una venta. Por ejemplo, podemos relacionar una empresa con la persona de contacto, registrar una oportunidad y programar la siguiente llamada. El objetivo es consultar esa información desde la misma aplicación. Si la demostración está preparada, mostrar brevemente Empresas, Contactos y Pipeline sin recorrer cada botón.</a:t>
            </a:r>
          </a:p>
          <a:p xmlns:a="http://schemas.openxmlformats.org/drawingml/2006/main">
            <a:r>
              <a:t/>
            </a:r>
          </a:p>
          <a:p xmlns:a="http://schemas.openxmlformats.org/drawingml/2006/main">
            <a:r>
              <a:t>Fuentes:</a:t>
            </a:r>
          </a:p>
          <a:p xmlns:a="http://schemas.openxmlformats.org/drawingml/2006/main">
            <a:r>
              <a:t>https://github.com/Felipe7774/NEXUS/blob/b46acb2/README.md</a:t>
            </a:r>
          </a:p>
          <a:p xmlns:a="http://schemas.openxmlformats.org/drawingml/2006/main">
            <a:r>
              <a:t>https://github.com/Felipe7774/NEXUS/blob/b46acb2/src/lib/crm.ts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45 segundos</a:t>
            </a:r>
          </a:p>
          <a:p xmlns:a="http://schemas.openxmlformats.org/drawingml/2006/main">
            <a:r>
              <a:t/>
            </a:r>
          </a:p>
          <a:p xmlns:a="http://schemas.openxmlformats.org/drawingml/2006/main">
            <a:r>
              <a:t>El primer nivel de C4 muestra el sistema desde afuera. Tenemos tres tipos de usuarios: el vendedor administra la información comercial y realiza seguimiento; el gerente consulta el pipeline, los indicadores y los reportes; y el administrador tiene acceso a la configuración. En el centro está Nexo CRM como un único sistema. A la derecha aparece Supabase, que proporciona autenticación y persistencia. Esta vista permite entender el alcance y las dependencias sin entrar todavía en el código. El alojamiento de la aplicación lo explicaré en la siguiente vista. Las funciones indicadas describen los usos principales de cada rol y no una lista exhaustiva de permisos.</a:t>
            </a:r>
          </a:p>
          <a:p xmlns:a="http://schemas.openxmlformats.org/drawingml/2006/main">
            <a:r>
              <a:t/>
            </a:r>
          </a:p>
          <a:p xmlns:a="http://schemas.openxmlformats.org/drawingml/2006/main">
            <a:r>
              <a:t>Fuentes:</a:t>
            </a:r>
          </a:p>
          <a:p xmlns:a="http://schemas.openxmlformats.org/drawingml/2006/main">
            <a:r>
              <a:t>https://github.com/Felipe7774/NEXUS/blob/b46acb2/dossier/modeloc4-nivel.md</a:t>
            </a:r>
          </a:p>
          <a:p xmlns:a="http://schemas.openxmlformats.org/drawingml/2006/main">
            <a:r>
              <a:t>https://github.com/Felipe7774/NEXUS/blob/b46acb2/src/hooks/use-auth.ts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60 segundos</a:t>
            </a:r>
          </a:p>
          <a:p xmlns:a="http://schemas.openxmlformats.org/drawingml/2006/main">
            <a:r>
              <a:t/>
            </a:r>
          </a:p>
          <a:p xmlns:a="http://schemas.openxmlformats.org/drawingml/2006/main">
            <a:r>
              <a:t>En el segundo nivel distinguimos la aplicación propia y los servicios administrados que utiliza. La aplicación web usa React y TypeScript. TanStack Start y Nitro proporcionan capacidades de servidor, además de la interfaz. La documentación consolidada registra el despliegue en Vercel. El proyecto Supabase aporta Auth para usuarios y sesiones, PostgreSQL para los datos del CRM y RLS para controlar el acceso a sus filas. RLS es una capacidad de PostgreSQL y no se despliega como otra aplicación. Un punto importante: no tenemos un backend Node independiente. La lógica de servidor forma parte de la misma unidad de despliegue de la aplicación. Representamos Supabase agrupado como plataforma administrada para mantener esta vista al nivel de detalle de nuestro proyecto.</a:t>
            </a:r>
          </a:p>
          <a:p xmlns:a="http://schemas.openxmlformats.org/drawingml/2006/main">
            <a:r>
              <a:t/>
            </a:r>
          </a:p>
          <a:p xmlns:a="http://schemas.openxmlformats.org/drawingml/2006/main">
            <a:r>
              <a:t>Fuentes:</a:t>
            </a:r>
          </a:p>
          <a:p xmlns:a="http://schemas.openxmlformats.org/drawingml/2006/main">
            <a:r>
              <a:t>https://github.com/Felipe7774/NEXUS/blob/b46acb2/dossier/adrs/ADR-004-arquitectura-monolitica.md</a:t>
            </a:r>
          </a:p>
          <a:p xmlns:a="http://schemas.openxmlformats.org/drawingml/2006/main">
            <a:r>
              <a:t>https://github.com/Felipe7774/NEXUS/blob/b46acb2/dossier/15-evidencia-ejecutable-consolidada.md</a:t>
            </a:r>
          </a:p>
          <a:p xmlns:a="http://schemas.openxmlformats.org/drawingml/2006/main">
            <a:r>
              <a:t>https://github.com/Felipe7774/NEXUS/blob/b46acb2/vite.config.ts</a:t>
            </a:r>
          </a:p>
          <a:p xmlns:a="http://schemas.openxmlformats.org/drawingml/2006/main">
            <a:r>
              <a:t>https://github.com/Felipe7774/NEXUS/blob/b46acb2/supabase/config.toml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50 segundos</a:t>
            </a:r>
          </a:p>
          <a:p xmlns:a="http://schemas.openxmlformats.org/drawingml/2006/main">
            <a:r>
              <a:t/>
            </a:r>
          </a:p>
          <a:p xmlns:a="http://schemas.openxmlformats.org/drawingml/2006/main">
            <a:r>
              <a:t>En el tercer nivel observamos las responsabilidades internas y los archivos que las implementan. Las pantallas y formularios cubren empresas, contactos, oportunidades, actividades, reportes y configuración. Las consultas y mutaciones comerciales están centralizadas en crm.ts. Los hooks y clientes de Supabase gestionan sesión e integración, mientras que server.ts y start.ts contienen el procesamiento de servidor. Del lado de Supabase, las migraciones describen el esquema y las políticas. También existe un cliente administrativo llamado client.server.ts que usa service_role y puede evitar RLS. La revisión documentada indica que ningún módulo de src lo consume. Lo mencionamos porque está presente en el código y exige cuidado si alguien lo utiliza.</a:t>
            </a:r>
          </a:p>
          <a:p xmlns:a="http://schemas.openxmlformats.org/drawingml/2006/main">
            <a:r>
              <a:t/>
            </a:r>
          </a:p>
          <a:p xmlns:a="http://schemas.openxmlformats.org/drawingml/2006/main">
            <a:r>
              <a:t>Fuentes:</a:t>
            </a:r>
          </a:p>
          <a:p xmlns:a="http://schemas.openxmlformats.org/drawingml/2006/main">
            <a:r>
              <a:t>https://github.com/Felipe7774/NEXUS/blob/b46acb2/dossier/modeloc4-nivel.md</a:t>
            </a:r>
          </a:p>
          <a:p xmlns:a="http://schemas.openxmlformats.org/drawingml/2006/main">
            <a:r>
              <a:t>https://github.com/Felipe7774/NEXUS/blob/b46acb2/src/lib/crm.ts</a:t>
            </a:r>
          </a:p>
          <a:p xmlns:a="http://schemas.openxmlformats.org/drawingml/2006/main">
            <a:r>
              <a:t>https://github.com/Felipe7774/NEXUS/blob/b46acb2/src/integrations/supabase/client.server.ts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60 segundos</a:t>
            </a:r>
          </a:p>
          <a:p xmlns:a="http://schemas.openxmlformats.org/drawingml/2006/main">
            <a:r>
              <a:t/>
            </a:r>
          </a:p>
          <a:p xmlns:a="http://schemas.openxmlformats.org/drawingml/2006/main">
            <a:r>
              <a:t>Un ADR registra una decisión arquitectónica junto con su contexto y consecuencias. La primera decisión confirmada es organizar el código en capas: presentación, operaciones e integración con datos. Esperamos que esta separación ayude a comprender y mantener el sistema, aunque no hemos medido cuantitativamente ese beneficio. Mantenerla exige disciplina porque la implementación todavía tiene acoplamiento con Supabase. La cuarta decisión es conservar una aplicación monolítica. Para tres integrantes y el alcance actual, una sola unidad de despliegue reduce el trabajo operativo. Sus módulos se publican juntos y no pueden desplegarse de manera independiente. Capas y monolito son compatibles: las capas describen la organización interna y el monolito describe cómo agrupamos el despliegue. No hay evidencia actual que justifique introducir microservicios.</a:t>
            </a:r>
          </a:p>
          <a:p xmlns:a="http://schemas.openxmlformats.org/drawingml/2006/main">
            <a:r>
              <a:t/>
            </a:r>
          </a:p>
          <a:p xmlns:a="http://schemas.openxmlformats.org/drawingml/2006/main">
            <a:r>
              <a:t>Fuentes:</a:t>
            </a:r>
          </a:p>
          <a:p xmlns:a="http://schemas.openxmlformats.org/drawingml/2006/main">
            <a:r>
              <a:t>https://github.com/Felipe7774/NEXUS/blob/b46acb2/dossier/adrs/ADR-001-estilo-en-capas.md</a:t>
            </a:r>
          </a:p>
          <a:p xmlns:a="http://schemas.openxmlformats.org/drawingml/2006/main">
            <a:r>
              <a:t>https://github.com/Felipe7774/NEXUS/blob/b46acb2/dossier/adrs/ADR-004-arquitectura-monolitica.md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65 segundos</a:t>
            </a:r>
          </a:p>
          <a:p xmlns:a="http://schemas.openxmlformats.org/drawingml/2006/main">
            <a:r>
              <a:t/>
            </a:r>
          </a:p>
          <a:p xmlns:a="http://schemas.openxmlformats.org/drawingml/2006/main">
            <a:r>
              <a:t>La segunda decisión es utilizar Supabase para autenticación y persistencia. Aprovechamos servicios existentes y concentramos el trabajo en las funcionalidades del CRM. El costo es la dependencia de la plataforma, de su disponibilidad, de los límites del plan y de la administración de la cuenta. La tercera decisión es aplicar RLS, que significa seguridad a nivel de fila. Por ejemplo, la base puede impedir que un usuario consulte una empresa de otro usuario según las políticas definidas. El control no depende únicamente de ocultar un botón en la pantalla. Existe una prueba que cubre ese caso de aislamiento entre dos usuarios. Sin embargo, no demuestra que todas las políticas sean correctas. También debemos proteger sesiones, credenciales y el cliente administrativo. Son decisiones útiles para el proyecto, con riesgos que necesitamos controlar.</a:t>
            </a:r>
          </a:p>
          <a:p xmlns:a="http://schemas.openxmlformats.org/drawingml/2006/main">
            <a:r>
              <a:t/>
            </a:r>
          </a:p>
          <a:p xmlns:a="http://schemas.openxmlformats.org/drawingml/2006/main">
            <a:r>
              <a:t>Fuentes:</a:t>
            </a:r>
          </a:p>
          <a:p xmlns:a="http://schemas.openxmlformats.org/drawingml/2006/main">
            <a:r>
              <a:t>https://github.com/Felipe7774/NEXUS/blob/b46acb2/dossier/adrs/ADR-002-supabase-autenticacion-y-persistencia.md</a:t>
            </a:r>
          </a:p>
          <a:p xmlns:a="http://schemas.openxmlformats.org/drawingml/2006/main">
            <a:r>
              <a:t>https://github.com/Felipe7774/NEXUS/blob/b46acb2/dossier/adrs/ADR-003-aislamiento-de-datos-con-rls.md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50 segundos</a:t>
            </a:r>
          </a:p>
          <a:p xmlns:a="http://schemas.openxmlformats.org/drawingml/2006/main">
            <a:r>
              <a:t/>
            </a:r>
          </a:p>
          <a:p xmlns:a="http://schemas.openxmlformats.org/drawingml/2006/main">
            <a:r>
              <a:t>La matriz compara valor, costo, riesgo residual e impacto en calidad. Esta diapositiva resume los beneficios y los compromisos principales. Capas facilita comprender responsabilidades, pero mantener esa separación requiere disciplina. Supabase reduce trabajo de desarrollo, pero introduce dependencia externa. RLS aporta control de acceso, pero exige configurar y revisar políticas. El monolito reduce complejidad operativa, aunque los módulos se despliegan juntos. El equipo confirmó las cuatro decisiones para el alcance actual. Las valoraciones de la matriz son una evaluación cualitativa, no una comparación experimental entre arquitecturas. Estas decisiones necesitan evidencia. Mi compañero explicará cómo las evaluamos mediante pruebas y experimentos, incluyendo la recuperación de datos, y qué aspectos siguen pendientes.</a:t>
            </a:r>
          </a:p>
          <a:p xmlns:a="http://schemas.openxmlformats.org/drawingml/2006/main">
            <a:r>
              <a:t/>
            </a:r>
          </a:p>
          <a:p xmlns:a="http://schemas.openxmlformats.org/drawingml/2006/main">
            <a:r>
              <a:t>Fuentes:</a:t>
            </a:r>
          </a:p>
          <a:p xmlns:a="http://schemas.openxmlformats.org/drawingml/2006/main">
            <a:r>
              <a:t>https://github.com/Felipe7774/NEXUS/blob/b46acb2/dossier/12-matriz-trade-offs.md</a:t>
            </a:r>
          </a:p>
          <a:p xmlns:a="http://schemas.openxmlformats.org/drawingml/2006/main">
            <a:r>
              <a:t>https://github.com/Felipe7774/NEXUS/blob/b46acb2/dossier/17-preparacion-defensa.md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a7789c0e39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6432d6d564ab5" /><Relationship Type="http://schemas.openxmlformats.org/officeDocument/2006/relationships/slideLayout" Target="/ppt/slideLayouts/slideLayout1.xml" Id="R6113a32c63ef49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13a32c63ef49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e91db896094fa8" /><Relationship Type="http://schemas.openxmlformats.org/officeDocument/2006/relationships/notesSlide" Target="/ppt/notesSlides/notesSlide1.xml" Id="R13884528e71f4f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8d02e4b3124e7a" /><Relationship Type="http://schemas.openxmlformats.org/officeDocument/2006/relationships/notesSlide" Target="/ppt/notesSlides/notesSlide2.xml" Id="R5d8b56fb4a4046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c545dc00ae4820" /><Relationship Type="http://schemas.openxmlformats.org/officeDocument/2006/relationships/notesSlide" Target="/ppt/notesSlides/notesSlide3.xml" Id="Rb31ad9adc96f4e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7f3f855418494e" /><Relationship Type="http://schemas.openxmlformats.org/officeDocument/2006/relationships/notesSlide" Target="/ppt/notesSlides/notesSlide4.xml" Id="Re68d46aadd534e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dd407b95a444c4" /><Relationship Type="http://schemas.openxmlformats.org/officeDocument/2006/relationships/notesSlide" Target="/ppt/notesSlides/notesSlide5.xml" Id="R3956b67c135c49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3b13ddae1f4513" /><Relationship Type="http://schemas.openxmlformats.org/officeDocument/2006/relationships/notesSlide" Target="/ppt/notesSlides/notesSlide6.xml" Id="Rc05897409da348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89e1d844154bab" /><Relationship Type="http://schemas.openxmlformats.org/officeDocument/2006/relationships/notesSlide" Target="/ppt/notesSlides/notesSlide7.xml" Id="Rbd6efab53ab549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911d44662c4723" /><Relationship Type="http://schemas.openxmlformats.org/officeDocument/2006/relationships/notesSlide" Target="/ppt/notesSlides/notesSlide8.xml" Id="R8e17935c4fee403c" /></Relationships>
</file>

<file path=ppt/slides/slide1.xml><?xml version="1.0" encoding="utf-8"?>
<p:sld xmlns:p="http://schemas.openxmlformats.org/presentationml/2006/main">
  <p:cSld>
    <p:bg>
      <p:bgPr>
        <a:solidFill xmlns:a="http://schemas.openxmlformats.org/drawingml/2006/main">
          <a:srgbClr val="13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ABC3D5-471B-4381-9966-45029564F825}"/>
              </a:ext>
            </a:extLst>
          </p:cNvPr>
          <p:cNvSpPr>
            <a:spLocks xmlns:a="http://schemas.openxmlformats.org/drawingml/2006/main" noGrp="1"/>
          </p:cNvSpPr>
          <p:nvPr/>
        </p:nvSpPr>
        <p:spPr>
          <a:xfrm xmlns:a="http://schemas.openxmlformats.org/drawingml/2006/main">
            <a:off x="685800" y="157162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Nexo CRM</a:t>
            </a:r>
          </a:p>
        </p:txBody>
      </p:sp>
      <p:sp>
        <p:nvSpPr>
          <p:cNvPr id="2" name="">
            <a:extLst xmlns:a="http://schemas.openxmlformats.org/drawingml/2006/main">
              <a:ext uri="{FF2B5EF4-FFF2-40B4-BE49-F238E27FC236}">
                <a16:creationId xmlns:a16="http://schemas.microsoft.com/office/drawing/2014/main" id="{63B005D7-0C20-4FDF-8365-ABD8D1DC0778}"/>
              </a:ext>
            </a:extLst>
          </p:cNvPr>
          <p:cNvSpPr>
            <a:spLocks xmlns:a="http://schemas.openxmlformats.org/drawingml/2006/main" noGrp="1"/>
          </p:cNvSpPr>
          <p:nvPr/>
        </p:nvSpPr>
        <p:spPr>
          <a:xfrm xmlns:a="http://schemas.openxmlformats.org/drawingml/2006/main">
            <a:off x="742950" y="304800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84D9D0"/>
                </a:solidFill>
                <a:latin typeface="Arial"/>
                <a:ea typeface="Arial"/>
                <a:cs typeface="Arial"/>
              </a:defRPr>
            </a:pPr>
            <a:r>
              <a:rPr sz="3300" b="0">
                <a:solidFill>
                  <a:srgbClr val="84D9D0"/>
                </a:solidFill>
                <a:latin typeface="Arial"/>
                <a:ea typeface="Arial"/>
                <a:cs typeface="Arial"/>
              </a:rPr>
              <a:t>El sistema y sus decisiones</a:t>
            </a:r>
          </a:p>
          <a:p xmlns:a="http://schemas.openxmlformats.org/drawingml/2006/main">
            <a:pPr>
              <a:defRPr sz="3300" b="0">
                <a:solidFill>
                  <a:srgbClr val="84D9D0"/>
                </a:solidFill>
                <a:latin typeface="Arial"/>
                <a:ea typeface="Arial"/>
                <a:cs typeface="Arial"/>
              </a:defRPr>
            </a:pPr>
            <a:r>
              <a:rPr sz="3300" b="0">
                <a:solidFill>
                  <a:srgbClr val="84D9D0"/>
                </a:solidFill>
                <a:latin typeface="Arial"/>
                <a:ea typeface="Arial"/>
                <a:cs typeface="Arial"/>
              </a:rPr>
              <a:t>arquitectónicas</a:t>
            </a:r>
          </a:p>
        </p:txBody>
      </p:sp>
      <p:sp>
        <p:nvSpPr>
          <p:cNvPr id="3" name="">
            <a:extLst xmlns:a="http://schemas.openxmlformats.org/drawingml/2006/main">
              <a:ext uri="{FF2B5EF4-FFF2-40B4-BE49-F238E27FC236}">
                <a16:creationId xmlns:a16="http://schemas.microsoft.com/office/drawing/2014/main" id="{CB9E9064-A697-4E7E-8B67-151D1A431769}"/>
              </a:ext>
            </a:extLst>
          </p:cNvPr>
          <p:cNvSpPr>
            <a:spLocks xmlns:a="http://schemas.openxmlformats.org/drawingml/2006/main" noGrp="1"/>
          </p:cNvSpPr>
          <p:nvPr/>
        </p:nvSpPr>
        <p:spPr>
          <a:xfrm xmlns:a="http://schemas.openxmlformats.org/drawingml/2006/main">
            <a:off x="742950" y="542925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Carlos Correa</a:t>
            </a:r>
          </a:p>
        </p:txBody>
      </p:sp>
      <p:sp>
        <p:nvSpPr>
          <p:cNvPr id="4" name="">
            <a:extLst xmlns:a="http://schemas.openxmlformats.org/drawingml/2006/main">
              <a:ext uri="{FF2B5EF4-FFF2-40B4-BE49-F238E27FC236}">
                <a16:creationId xmlns:a16="http://schemas.microsoft.com/office/drawing/2014/main" id="{EF877633-E2CB-44E4-9335-CDA0317B4A18}"/>
              </a:ext>
            </a:extLst>
          </p:cNvPr>
          <p:cNvSpPr>
            <a:spLocks xmlns:a="http://schemas.openxmlformats.org/drawingml/2006/main" noGrp="1"/>
          </p:cNvSpPr>
          <p:nvPr/>
        </p:nvSpPr>
        <p:spPr>
          <a:xfrm xmlns:a="http://schemas.openxmlformats.org/drawingml/2006/main">
            <a:off x="742950" y="59055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1D1DC"/>
                </a:solidFill>
                <a:latin typeface="Arial"/>
                <a:ea typeface="Arial"/>
                <a:cs typeface="Arial"/>
              </a:defRPr>
            </a:pPr>
            <a:r>
              <a:rPr sz="1650" b="0">
                <a:solidFill>
                  <a:srgbClr val="C1D1DC"/>
                </a:solidFill>
                <a:latin typeface="Arial"/>
                <a:ea typeface="Arial"/>
                <a:cs typeface="Arial"/>
              </a:rPr>
              <a:t>Integrante 1 · Arquitectura de Software</a:t>
            </a:r>
          </a:p>
        </p:txBody>
      </p:sp>
    </p:spTree>
    <p:extLst>
      <p:ext uri="{BB962C8B-B14F-4D97-AF65-F5344CB8AC3E}">
        <p14:creationId xmlns:p14="http://schemas.microsoft.com/office/powerpoint/2010/main" val="5801819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A4E6C2-63C9-495E-8715-099B688CA66E}"/>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PROBLEMA Y ALCANCE</a:t>
            </a:r>
          </a:p>
        </p:txBody>
      </p:sp>
      <p:sp>
        <p:nvSpPr>
          <p:cNvPr id="2" name="">
            <a:extLst xmlns:a="http://schemas.openxmlformats.org/drawingml/2006/main">
              <a:ext uri="{FF2B5EF4-FFF2-40B4-BE49-F238E27FC236}">
                <a16:creationId xmlns:a16="http://schemas.microsoft.com/office/drawing/2014/main" id="{7E02DB71-D09A-4A83-A06B-3F9C0A276670}"/>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La gestión comercial en un solo lugar</a:t>
            </a:r>
          </a:p>
        </p:txBody>
      </p:sp>
      <p:sp>
        <p:nvSpPr>
          <p:cNvPr id="3" name="">
            <a:extLst xmlns:a="http://schemas.openxmlformats.org/drawingml/2006/main">
              <a:ext uri="{FF2B5EF4-FFF2-40B4-BE49-F238E27FC236}">
                <a16:creationId xmlns:a16="http://schemas.microsoft.com/office/drawing/2014/main" id="{03C05CE1-93EE-482C-BCDB-9B534120E542}"/>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F98B6C4-36FD-4D7D-A504-631A8594546D}"/>
              </a:ext>
            </a:extLst>
          </p:cNvPr>
          <p:cNvSpPr>
            <a:spLocks xmlns:a="http://schemas.openxmlformats.org/drawingml/2006/main" noGrp="1"/>
          </p:cNvSpPr>
          <p:nvPr/>
        </p:nvSpPr>
        <p:spPr>
          <a:xfrm xmlns:a="http://schemas.openxmlformats.org/drawingml/2006/main">
            <a:off x="609600" y="20478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B40"/>
                </a:solidFill>
                <a:latin typeface="Arial"/>
                <a:ea typeface="Arial"/>
                <a:cs typeface="Arial"/>
              </a:defRPr>
            </a:pPr>
            <a:r>
              <a:rPr sz="2550" b="1">
                <a:solidFill>
                  <a:srgbClr val="132B40"/>
                </a:solidFill>
                <a:latin typeface="Arial"/>
                <a:ea typeface="Arial"/>
                <a:cs typeface="Arial"/>
              </a:rPr>
              <a:t>Información dispersa</a:t>
            </a:r>
          </a:p>
        </p:txBody>
      </p:sp>
      <p:sp>
        <p:nvSpPr>
          <p:cNvPr id="5" name="">
            <a:extLst xmlns:a="http://schemas.openxmlformats.org/drawingml/2006/main">
              <a:ext uri="{FF2B5EF4-FFF2-40B4-BE49-F238E27FC236}">
                <a16:creationId xmlns:a16="http://schemas.microsoft.com/office/drawing/2014/main" id="{EBDCB696-08A8-4787-94EA-B2D402946803}"/>
              </a:ext>
            </a:extLst>
          </p:cNvPr>
          <p:cNvSpPr>
            <a:spLocks xmlns:a="http://schemas.openxmlformats.org/drawingml/2006/main" noGrp="1"/>
          </p:cNvSpPr>
          <p:nvPr/>
        </p:nvSpPr>
        <p:spPr>
          <a:xfrm xmlns:a="http://schemas.openxmlformats.org/drawingml/2006/main">
            <a:off x="609600" y="2781300"/>
            <a:ext cx="4857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144"/>
                </a:solidFill>
                <a:latin typeface="Arial"/>
                <a:ea typeface="Arial"/>
                <a:cs typeface="Arial"/>
              </a:defRPr>
            </a:pPr>
            <a:r>
              <a:rPr sz="2250" b="0">
                <a:solidFill>
                  <a:srgbClr val="193144"/>
                </a:solidFill>
                <a:latin typeface="Arial"/>
                <a:ea typeface="Arial"/>
                <a:cs typeface="Arial"/>
              </a:rPr>
              <a:t>Contactos, negociaciones y seguimientos separados dificultan conocer el estado de una venta.</a:t>
            </a:r>
          </a:p>
        </p:txBody>
      </p:sp>
      <p:sp>
        <p:nvSpPr>
          <p:cNvPr id="6" name="">
            <a:extLst xmlns:a="http://schemas.openxmlformats.org/drawingml/2006/main">
              <a:ext uri="{FF2B5EF4-FFF2-40B4-BE49-F238E27FC236}">
                <a16:creationId xmlns:a16="http://schemas.microsoft.com/office/drawing/2014/main" id="{31F89344-D819-4E7F-8A0F-3AB015F150E5}"/>
              </a:ext>
            </a:extLst>
          </p:cNvPr>
          <p:cNvSpPr>
            <a:spLocks xmlns:a="http://schemas.openxmlformats.org/drawingml/2006/main" noGrp="1"/>
          </p:cNvSpPr>
          <p:nvPr/>
        </p:nvSpPr>
        <p:spPr>
          <a:xfrm xmlns:a="http://schemas.openxmlformats.org/drawingml/2006/main">
            <a:off x="6381750" y="204787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Nexo CRM centraliza</a:t>
            </a:r>
          </a:p>
        </p:txBody>
      </p:sp>
      <p:sp>
        <p:nvSpPr>
          <p:cNvPr id="7" name="">
            <a:extLst xmlns:a="http://schemas.openxmlformats.org/drawingml/2006/main">
              <a:ext uri="{FF2B5EF4-FFF2-40B4-BE49-F238E27FC236}">
                <a16:creationId xmlns:a16="http://schemas.microsoft.com/office/drawing/2014/main" id="{8592E668-33A9-4FF6-A0E6-5C322D18F9B5}"/>
              </a:ext>
            </a:extLst>
          </p:cNvPr>
          <p:cNvSpPr>
            <a:spLocks xmlns:a="http://schemas.openxmlformats.org/drawingml/2006/main" noGrp="1"/>
          </p:cNvSpPr>
          <p:nvPr/>
        </p:nvSpPr>
        <p:spPr>
          <a:xfrm xmlns:a="http://schemas.openxmlformats.org/drawingml/2006/main">
            <a:off x="6381750" y="2781300"/>
            <a:ext cx="519112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144"/>
                </a:solidFill>
                <a:latin typeface="Arial"/>
                <a:ea typeface="Arial"/>
                <a:cs typeface="Arial"/>
              </a:defRPr>
            </a:pPr>
            <a:r>
              <a:rPr sz="2250" b="0">
                <a:solidFill>
                  <a:srgbClr val="193144"/>
                </a:solidFill>
                <a:latin typeface="Arial"/>
                <a:ea typeface="Arial"/>
                <a:cs typeface="Arial"/>
              </a:rPr>
              <a:t>Empresas y contactos</a:t>
            </a:r>
          </a:p>
          <a:p xmlns:a="http://schemas.openxmlformats.org/drawingml/2006/main">
            <a:pPr>
              <a:defRPr sz="2250" b="0">
                <a:solidFill>
                  <a:srgbClr val="193144"/>
                </a:solidFill>
                <a:latin typeface="Arial"/>
                <a:ea typeface="Arial"/>
                <a:cs typeface="Arial"/>
              </a:defRPr>
            </a:pPr>
            <a:r>
              <a:rPr sz="2250" b="0">
                <a:solidFill>
                  <a:srgbClr val="193144"/>
                </a:solidFill>
                <a:latin typeface="Arial"/>
                <a:ea typeface="Arial"/>
                <a:cs typeface="Arial"/>
              </a:rPr>
              <a:t>Oportunidades en el pipeline</a:t>
            </a:r>
          </a:p>
          <a:p xmlns:a="http://schemas.openxmlformats.org/drawingml/2006/main">
            <a:pPr>
              <a:defRPr sz="2250" b="0">
                <a:solidFill>
                  <a:srgbClr val="193144"/>
                </a:solidFill>
                <a:latin typeface="Arial"/>
                <a:ea typeface="Arial"/>
                <a:cs typeface="Arial"/>
              </a:defRPr>
            </a:pPr>
            <a:r>
              <a:rPr sz="2250" b="0">
                <a:solidFill>
                  <a:srgbClr val="193144"/>
                </a:solidFill>
                <a:latin typeface="Arial"/>
                <a:ea typeface="Arial"/>
                <a:cs typeface="Arial"/>
              </a:rPr>
              <a:t>Actividades de seguimiento</a:t>
            </a:r>
          </a:p>
        </p:txBody>
      </p:sp>
      <p:sp>
        <p:nvSpPr>
          <p:cNvPr id="8" name="">
            <a:extLst xmlns:a="http://schemas.openxmlformats.org/drawingml/2006/main">
              <a:ext uri="{FF2B5EF4-FFF2-40B4-BE49-F238E27FC236}">
                <a16:creationId xmlns:a16="http://schemas.microsoft.com/office/drawing/2014/main" id="{87087D08-B2AA-4F14-BF63-DA00C4B42A82}"/>
              </a:ext>
            </a:extLst>
          </p:cNvPr>
          <p:cNvSpPr>
            <a:spLocks xmlns:a="http://schemas.openxmlformats.org/drawingml/2006/main" noGrp="1"/>
          </p:cNvSpPr>
          <p:nvPr/>
        </p:nvSpPr>
        <p:spPr>
          <a:xfrm xmlns:a="http://schemas.openxmlformats.org/drawingml/2006/main">
            <a:off x="609600" y="538162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7A"/>
                </a:solidFill>
                <a:latin typeface="Arial"/>
                <a:ea typeface="Arial"/>
                <a:cs typeface="Arial"/>
              </a:defRPr>
            </a:pPr>
            <a:r>
              <a:rPr sz="2025" b="0">
                <a:solidFill>
                  <a:srgbClr val="53697A"/>
                </a:solidFill>
                <a:latin typeface="Arial"/>
                <a:ea typeface="Arial"/>
                <a:cs typeface="Arial"/>
              </a:rPr>
              <a:t>Ejemplo: relacionar una empresa con un contacto, una oportunidad y su próxima llamada.</a:t>
            </a:r>
          </a:p>
        </p:txBody>
      </p:sp>
    </p:spTree>
    <p:extLst>
      <p:ext uri="{BB962C8B-B14F-4D97-AF65-F5344CB8AC3E}">
        <p14:creationId xmlns:p14="http://schemas.microsoft.com/office/powerpoint/2010/main" val="2471641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5A1FCC5-8F43-410C-A375-A787F0976B78}"/>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QUIÉN USA EL SISTEMA Y DE QUÉ DEPENDE</a:t>
            </a:r>
          </a:p>
        </p:txBody>
      </p:sp>
      <p:sp>
        <p:nvSpPr>
          <p:cNvPr id="2" name="">
            <a:extLst xmlns:a="http://schemas.openxmlformats.org/drawingml/2006/main">
              <a:ext uri="{FF2B5EF4-FFF2-40B4-BE49-F238E27FC236}">
                <a16:creationId xmlns:a16="http://schemas.microsoft.com/office/drawing/2014/main" id="{FE10D780-2487-4190-A42E-045BCD2F2A05}"/>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Nivel 1 · Contexto</a:t>
            </a:r>
          </a:p>
        </p:txBody>
      </p:sp>
      <p:sp>
        <p:nvSpPr>
          <p:cNvPr id="3" name="">
            <a:extLst xmlns:a="http://schemas.openxmlformats.org/drawingml/2006/main">
              <a:ext uri="{FF2B5EF4-FFF2-40B4-BE49-F238E27FC236}">
                <a16:creationId xmlns:a16="http://schemas.microsoft.com/office/drawing/2014/main" id="{B6D602A8-AC0E-4550-A86F-B8CF6043458B}"/>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F3AB4CF-1247-49D5-9789-718E7EB74BA4}"/>
              </a:ext>
            </a:extLst>
          </p:cNvPr>
          <p:cNvSpPr>
            <a:spLocks xmlns:a="http://schemas.openxmlformats.org/drawingml/2006/main" noGrp="1"/>
          </p:cNvSpPr>
          <p:nvPr/>
        </p:nvSpPr>
        <p:spPr>
          <a:xfrm xmlns:a="http://schemas.openxmlformats.org/drawingml/2006/main">
            <a:off x="609600" y="2333625"/>
            <a:ext cx="2905125" cy="2381250"/>
          </a:xfrm>
          <a:prstGeom xmlns:a="http://schemas.openxmlformats.org/drawingml/2006/main" prst="rect">
            <a:avLst/>
          </a:prstGeom>
          <a:solidFill xmlns:a="http://schemas.openxmlformats.org/drawingml/2006/main">
            <a:srgbClr val="F3F6F8"/>
          </a:solidFill>
          <a:ln xmlns:a="http://schemas.openxmlformats.org/drawingml/2006/main" w="9525">
            <a:solidFill>
              <a:srgbClr val="CEDBE1"/>
            </a:solidFill>
          </a:ln>
        </p:spPr>
      </p:sp>
      <p:sp>
        <p:nvSpPr>
          <p:cNvPr id="5" name="">
            <a:extLst xmlns:a="http://schemas.openxmlformats.org/drawingml/2006/main">
              <a:ext uri="{FF2B5EF4-FFF2-40B4-BE49-F238E27FC236}">
                <a16:creationId xmlns:a16="http://schemas.microsoft.com/office/drawing/2014/main" id="{0078DD75-7D06-44E8-9644-52DFBBFE8276}"/>
              </a:ext>
            </a:extLst>
          </p:cNvPr>
          <p:cNvSpPr>
            <a:spLocks xmlns:a="http://schemas.openxmlformats.org/drawingml/2006/main" noGrp="1"/>
          </p:cNvSpPr>
          <p:nvPr/>
        </p:nvSpPr>
        <p:spPr>
          <a:xfrm xmlns:a="http://schemas.openxmlformats.org/drawingml/2006/main">
            <a:off x="819150" y="25050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Usuarios</a:t>
            </a:r>
          </a:p>
        </p:txBody>
      </p:sp>
      <p:sp>
        <p:nvSpPr>
          <p:cNvPr id="6" name="">
            <a:extLst xmlns:a="http://schemas.openxmlformats.org/drawingml/2006/main">
              <a:ext uri="{FF2B5EF4-FFF2-40B4-BE49-F238E27FC236}">
                <a16:creationId xmlns:a16="http://schemas.microsoft.com/office/drawing/2014/main" id="{5DB34189-2192-4F93-B9B9-319359EC96AE}"/>
              </a:ext>
            </a:extLst>
          </p:cNvPr>
          <p:cNvSpPr>
            <a:spLocks xmlns:a="http://schemas.openxmlformats.org/drawingml/2006/main" noGrp="1"/>
          </p:cNvSpPr>
          <p:nvPr/>
        </p:nvSpPr>
        <p:spPr>
          <a:xfrm xmlns:a="http://schemas.openxmlformats.org/drawingml/2006/main">
            <a:off x="819150" y="3000375"/>
            <a:ext cx="24860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Vendedor</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Gerente</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Administrador</a:t>
            </a:r>
          </a:p>
        </p:txBody>
      </p:sp>
      <p:sp>
        <p:nvSpPr>
          <p:cNvPr id="7" name="">
            <a:extLst xmlns:a="http://schemas.openxmlformats.org/drawingml/2006/main">
              <a:ext uri="{FF2B5EF4-FFF2-40B4-BE49-F238E27FC236}">
                <a16:creationId xmlns:a16="http://schemas.microsoft.com/office/drawing/2014/main" id="{39D419AA-4534-4ED1-950E-9F0A8578BBF4}"/>
              </a:ext>
            </a:extLst>
          </p:cNvPr>
          <p:cNvSpPr>
            <a:spLocks xmlns:a="http://schemas.openxmlformats.org/drawingml/2006/main" noGrp="1"/>
          </p:cNvSpPr>
          <p:nvPr/>
        </p:nvSpPr>
        <p:spPr>
          <a:xfrm xmlns:a="http://schemas.openxmlformats.org/drawingml/2006/main">
            <a:off x="4476750" y="2333625"/>
            <a:ext cx="3238500" cy="2381250"/>
          </a:xfrm>
          <a:prstGeom xmlns:a="http://schemas.openxmlformats.org/drawingml/2006/main" prst="rect">
            <a:avLst/>
          </a:prstGeom>
          <a:solidFill xmlns:a="http://schemas.openxmlformats.org/drawingml/2006/main">
            <a:srgbClr val="E9F4F3"/>
          </a:solidFill>
          <a:ln xmlns:a="http://schemas.openxmlformats.org/drawingml/2006/main" w="9525">
            <a:solidFill>
              <a:srgbClr val="CEDBE1"/>
            </a:solidFill>
          </a:ln>
        </p:spPr>
      </p:sp>
      <p:sp>
        <p:nvSpPr>
          <p:cNvPr id="8" name="">
            <a:extLst xmlns:a="http://schemas.openxmlformats.org/drawingml/2006/main">
              <a:ext uri="{FF2B5EF4-FFF2-40B4-BE49-F238E27FC236}">
                <a16:creationId xmlns:a16="http://schemas.microsoft.com/office/drawing/2014/main" id="{B8073DA4-1845-4039-9C6F-AEA02DA8C4F7}"/>
              </a:ext>
            </a:extLst>
          </p:cNvPr>
          <p:cNvSpPr>
            <a:spLocks xmlns:a="http://schemas.openxmlformats.org/drawingml/2006/main" noGrp="1"/>
          </p:cNvSpPr>
          <p:nvPr/>
        </p:nvSpPr>
        <p:spPr>
          <a:xfrm xmlns:a="http://schemas.openxmlformats.org/drawingml/2006/main">
            <a:off x="4686300" y="2505075"/>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Nexo CRM</a:t>
            </a:r>
          </a:p>
        </p:txBody>
      </p:sp>
      <p:sp>
        <p:nvSpPr>
          <p:cNvPr id="9" name="">
            <a:extLst xmlns:a="http://schemas.openxmlformats.org/drawingml/2006/main">
              <a:ext uri="{FF2B5EF4-FFF2-40B4-BE49-F238E27FC236}">
                <a16:creationId xmlns:a16="http://schemas.microsoft.com/office/drawing/2014/main" id="{9A80BDDE-07B7-4B28-A58B-BBDA5C1332B3}"/>
              </a:ext>
            </a:extLst>
          </p:cNvPr>
          <p:cNvSpPr>
            <a:spLocks xmlns:a="http://schemas.openxmlformats.org/drawingml/2006/main" noGrp="1"/>
          </p:cNvSpPr>
          <p:nvPr/>
        </p:nvSpPr>
        <p:spPr>
          <a:xfrm xmlns:a="http://schemas.openxmlformats.org/drawingml/2006/main">
            <a:off x="4686300" y="3000375"/>
            <a:ext cx="2819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Gestión comercial</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de empresas, contactos,</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oportunidades y actividades</a:t>
            </a:r>
          </a:p>
        </p:txBody>
      </p:sp>
      <p:sp>
        <p:nvSpPr>
          <p:cNvPr id="10" name="">
            <a:extLst xmlns:a="http://schemas.openxmlformats.org/drawingml/2006/main">
              <a:ext uri="{FF2B5EF4-FFF2-40B4-BE49-F238E27FC236}">
                <a16:creationId xmlns:a16="http://schemas.microsoft.com/office/drawing/2014/main" id="{66B44FCD-91D2-40C0-B495-72D1CCE04186}"/>
              </a:ext>
            </a:extLst>
          </p:cNvPr>
          <p:cNvSpPr>
            <a:spLocks xmlns:a="http://schemas.openxmlformats.org/drawingml/2006/main" noGrp="1"/>
          </p:cNvSpPr>
          <p:nvPr/>
        </p:nvSpPr>
        <p:spPr>
          <a:xfrm xmlns:a="http://schemas.openxmlformats.org/drawingml/2006/main">
            <a:off x="8667750" y="2333625"/>
            <a:ext cx="2905125" cy="2381250"/>
          </a:xfrm>
          <a:prstGeom xmlns:a="http://schemas.openxmlformats.org/drawingml/2006/main" prst="rect">
            <a:avLst/>
          </a:prstGeom>
          <a:solidFill xmlns:a="http://schemas.openxmlformats.org/drawingml/2006/main">
            <a:srgbClr val="F3F6F8"/>
          </a:solidFill>
          <a:ln xmlns:a="http://schemas.openxmlformats.org/drawingml/2006/main" w="9525">
            <a:solidFill>
              <a:srgbClr val="CEDBE1"/>
            </a:solidFill>
          </a:ln>
        </p:spPr>
      </p:sp>
      <p:sp>
        <p:nvSpPr>
          <p:cNvPr id="11" name="">
            <a:extLst xmlns:a="http://schemas.openxmlformats.org/drawingml/2006/main">
              <a:ext uri="{FF2B5EF4-FFF2-40B4-BE49-F238E27FC236}">
                <a16:creationId xmlns:a16="http://schemas.microsoft.com/office/drawing/2014/main" id="{FA6E948F-BE3A-4D8E-B7F9-B1018F24A613}"/>
              </a:ext>
            </a:extLst>
          </p:cNvPr>
          <p:cNvSpPr>
            <a:spLocks xmlns:a="http://schemas.openxmlformats.org/drawingml/2006/main" noGrp="1"/>
          </p:cNvSpPr>
          <p:nvPr/>
        </p:nvSpPr>
        <p:spPr>
          <a:xfrm xmlns:a="http://schemas.openxmlformats.org/drawingml/2006/main">
            <a:off x="8877300" y="25050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Supabase</a:t>
            </a:r>
          </a:p>
        </p:txBody>
      </p:sp>
      <p:sp>
        <p:nvSpPr>
          <p:cNvPr id="12" name="">
            <a:extLst xmlns:a="http://schemas.openxmlformats.org/drawingml/2006/main">
              <a:ext uri="{FF2B5EF4-FFF2-40B4-BE49-F238E27FC236}">
                <a16:creationId xmlns:a16="http://schemas.microsoft.com/office/drawing/2014/main" id="{DC24C157-1433-4E79-A5B2-76734772C206}"/>
              </a:ext>
            </a:extLst>
          </p:cNvPr>
          <p:cNvSpPr>
            <a:spLocks xmlns:a="http://schemas.openxmlformats.org/drawingml/2006/main" noGrp="1"/>
          </p:cNvSpPr>
          <p:nvPr/>
        </p:nvSpPr>
        <p:spPr>
          <a:xfrm xmlns:a="http://schemas.openxmlformats.org/drawingml/2006/main">
            <a:off x="8877300" y="3000375"/>
            <a:ext cx="24860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Autenticación</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y persistencia</a:t>
            </a:r>
          </a:p>
        </p:txBody>
      </p:sp>
      <p:cxnSp>
        <p:nvCxnSpPr>
          <p:cNvPr id="30" name=""/>
          <p:cNvCxnSpPr>
            <a:stCxn xmlns:a="http://schemas.openxmlformats.org/drawingml/2006/main" id="4" idx="3"/>
            <a:endCxn xmlns:a="http://schemas.openxmlformats.org/drawingml/2006/main" id="7" idx="1"/>
          </p:cNvCxnSpPr>
          <p:nvPr/>
        </p:nvCxnSpPr>
        <p:spPr>
          <a:xfrm xmlns:a="http://schemas.openxmlformats.org/drawingml/2006/main">
            <a:off x="3514725" y="3524250"/>
            <a:ext cx="962025" cy="0"/>
          </a:xfrm>
          <a:prstGeom xmlns:a="http://schemas.openxmlformats.org/drawingml/2006/main" prst="straightConnector1">
            <a:avLst/>
          </a:prstGeom>
          <a:ln xmlns:a="http://schemas.openxmlformats.org/drawingml/2006/main" w="23813">
            <a:solidFill>
              <a:srgbClr val="087F8C"/>
            </a:solidFill>
            <a:tailEnd type="triangle" w="med" len="med"/>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7715250" y="3524250"/>
            <a:ext cx="952500"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15" name="">
            <a:extLst xmlns:a="http://schemas.openxmlformats.org/drawingml/2006/main">
              <a:ext uri="{FF2B5EF4-FFF2-40B4-BE49-F238E27FC236}">
                <a16:creationId xmlns:a16="http://schemas.microsoft.com/office/drawing/2014/main" id="{5AF96DF9-C9B8-4952-86CD-376670A0FE7E}"/>
              </a:ext>
            </a:extLst>
          </p:cNvPr>
          <p:cNvSpPr>
            <a:spLocks xmlns:a="http://schemas.openxmlformats.org/drawingml/2006/main" noGrp="1"/>
          </p:cNvSpPr>
          <p:nvPr/>
        </p:nvSpPr>
        <p:spPr>
          <a:xfrm xmlns:a="http://schemas.openxmlformats.org/drawingml/2006/main">
            <a:off x="3629025" y="3019425"/>
            <a:ext cx="809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C"/>
                </a:solidFill>
                <a:latin typeface="Arial"/>
                <a:ea typeface="Arial"/>
                <a:cs typeface="Arial"/>
              </a:defRPr>
            </a:pPr>
            <a:r>
              <a:rPr sz="1425" b="1">
                <a:solidFill>
                  <a:srgbClr val="087F8C"/>
                </a:solidFill>
                <a:latin typeface="Arial"/>
                <a:ea typeface="Arial"/>
                <a:cs typeface="Arial"/>
              </a:rPr>
              <a:t>Usan</a:t>
            </a:r>
          </a:p>
        </p:txBody>
      </p:sp>
      <p:sp>
        <p:nvSpPr>
          <p:cNvPr id="16" name="">
            <a:extLst xmlns:a="http://schemas.openxmlformats.org/drawingml/2006/main">
              <a:ext uri="{FF2B5EF4-FFF2-40B4-BE49-F238E27FC236}">
                <a16:creationId xmlns:a16="http://schemas.microsoft.com/office/drawing/2014/main" id="{36C1C770-1033-4422-BE54-A5477984E196}"/>
              </a:ext>
            </a:extLst>
          </p:cNvPr>
          <p:cNvSpPr>
            <a:spLocks xmlns:a="http://schemas.openxmlformats.org/drawingml/2006/main" noGrp="1"/>
          </p:cNvSpPr>
          <p:nvPr/>
        </p:nvSpPr>
        <p:spPr>
          <a:xfrm xmlns:a="http://schemas.openxmlformats.org/drawingml/2006/main">
            <a:off x="7877175" y="3019425"/>
            <a:ext cx="723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87F8C"/>
                </a:solidFill>
                <a:latin typeface="Arial"/>
                <a:ea typeface="Arial"/>
                <a:cs typeface="Arial"/>
              </a:defRPr>
            </a:pPr>
            <a:r>
              <a:rPr sz="1425" b="1">
                <a:solidFill>
                  <a:srgbClr val="087F8C"/>
                </a:solidFill>
                <a:latin typeface="Arial"/>
                <a:ea typeface="Arial"/>
                <a:cs typeface="Arial"/>
              </a:rPr>
              <a:t>API</a:t>
            </a:r>
          </a:p>
        </p:txBody>
      </p:sp>
      <p:sp>
        <p:nvSpPr>
          <p:cNvPr id="17" name="">
            <a:extLst xmlns:a="http://schemas.openxmlformats.org/drawingml/2006/main">
              <a:ext uri="{FF2B5EF4-FFF2-40B4-BE49-F238E27FC236}">
                <a16:creationId xmlns:a16="http://schemas.microsoft.com/office/drawing/2014/main" id="{2F0131D9-91D2-47ED-808A-EFBF8B94565D}"/>
              </a:ext>
            </a:extLst>
          </p:cNvPr>
          <p:cNvSpPr>
            <a:spLocks xmlns:a="http://schemas.openxmlformats.org/drawingml/2006/main" noGrp="1"/>
          </p:cNvSpPr>
          <p:nvPr/>
        </p:nvSpPr>
        <p:spPr>
          <a:xfrm xmlns:a="http://schemas.openxmlformats.org/drawingml/2006/main">
            <a:off x="609600" y="53149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97A"/>
                </a:solidFill>
                <a:latin typeface="Arial"/>
                <a:ea typeface="Arial"/>
                <a:cs typeface="Arial"/>
              </a:defRPr>
            </a:pPr>
            <a:r>
              <a:rPr sz="2025" b="0">
                <a:solidFill>
                  <a:srgbClr val="53697A"/>
                </a:solidFill>
                <a:latin typeface="Arial"/>
                <a:ea typeface="Arial"/>
                <a:cs typeface="Arial"/>
              </a:rPr>
              <a:t>El vendedor opera el CRM. El gerente consulta resultados. El administrador configura el sistema.</a:t>
            </a:r>
          </a:p>
        </p:txBody>
      </p:sp>
    </p:spTree>
    <p:extLst>
      <p:ext uri="{BB962C8B-B14F-4D97-AF65-F5344CB8AC3E}">
        <p14:creationId xmlns:p14="http://schemas.microsoft.com/office/powerpoint/2010/main" val="1965602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489A49-5310-4D22-ADE3-EEAB11708A08}"/>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UNIDADES DE EJECUCIÓN</a:t>
            </a:r>
          </a:p>
        </p:txBody>
      </p:sp>
      <p:sp>
        <p:nvSpPr>
          <p:cNvPr id="2" name="">
            <a:extLst xmlns:a="http://schemas.openxmlformats.org/drawingml/2006/main">
              <a:ext uri="{FF2B5EF4-FFF2-40B4-BE49-F238E27FC236}">
                <a16:creationId xmlns:a16="http://schemas.microsoft.com/office/drawing/2014/main" id="{4EA76882-5EA7-4348-99B9-E4943291181C}"/>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Nivel 2 · Aplicación y servicios administrados</a:t>
            </a:r>
          </a:p>
        </p:txBody>
      </p:sp>
      <p:sp>
        <p:nvSpPr>
          <p:cNvPr id="3" name="">
            <a:extLst xmlns:a="http://schemas.openxmlformats.org/drawingml/2006/main">
              <a:ext uri="{FF2B5EF4-FFF2-40B4-BE49-F238E27FC236}">
                <a16:creationId xmlns:a16="http://schemas.microsoft.com/office/drawing/2014/main" id="{C22E1206-EDD9-4414-9D6F-6FF15D948C83}"/>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9810541-866E-4419-9E91-9200F2865609}"/>
              </a:ext>
            </a:extLst>
          </p:cNvPr>
          <p:cNvSpPr>
            <a:spLocks xmlns:a="http://schemas.openxmlformats.org/drawingml/2006/main" noGrp="1"/>
          </p:cNvSpPr>
          <p:nvPr/>
        </p:nvSpPr>
        <p:spPr>
          <a:xfrm xmlns:a="http://schemas.openxmlformats.org/drawingml/2006/main">
            <a:off x="609600" y="2238375"/>
            <a:ext cx="4810125" cy="2571750"/>
          </a:xfrm>
          <a:prstGeom xmlns:a="http://schemas.openxmlformats.org/drawingml/2006/main" prst="rect">
            <a:avLst/>
          </a:prstGeom>
          <a:solidFill xmlns:a="http://schemas.openxmlformats.org/drawingml/2006/main">
            <a:srgbClr val="E9F4F3"/>
          </a:solidFill>
          <a:ln xmlns:a="http://schemas.openxmlformats.org/drawingml/2006/main" w="9525">
            <a:solidFill>
              <a:srgbClr val="CEDBE1"/>
            </a:solidFill>
          </a:ln>
        </p:spPr>
      </p:sp>
      <p:sp>
        <p:nvSpPr>
          <p:cNvPr id="5" name="">
            <a:extLst xmlns:a="http://schemas.openxmlformats.org/drawingml/2006/main">
              <a:ext uri="{FF2B5EF4-FFF2-40B4-BE49-F238E27FC236}">
                <a16:creationId xmlns:a16="http://schemas.microsoft.com/office/drawing/2014/main" id="{37D7DF6C-E4CA-4D06-9241-72605E7976E3}"/>
              </a:ext>
            </a:extLst>
          </p:cNvPr>
          <p:cNvSpPr>
            <a:spLocks xmlns:a="http://schemas.openxmlformats.org/drawingml/2006/main" noGrp="1"/>
          </p:cNvSpPr>
          <p:nvPr/>
        </p:nvSpPr>
        <p:spPr>
          <a:xfrm xmlns:a="http://schemas.openxmlformats.org/drawingml/2006/main">
            <a:off x="819150" y="2409825"/>
            <a:ext cx="439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Aplicación web</a:t>
            </a:r>
          </a:p>
        </p:txBody>
      </p:sp>
      <p:sp>
        <p:nvSpPr>
          <p:cNvPr id="6" name="">
            <a:extLst xmlns:a="http://schemas.openxmlformats.org/drawingml/2006/main">
              <a:ext uri="{FF2B5EF4-FFF2-40B4-BE49-F238E27FC236}">
                <a16:creationId xmlns:a16="http://schemas.microsoft.com/office/drawing/2014/main" id="{0AB4DAA5-FFDD-4812-B443-12E28E87BE6F}"/>
              </a:ext>
            </a:extLst>
          </p:cNvPr>
          <p:cNvSpPr>
            <a:spLocks xmlns:a="http://schemas.openxmlformats.org/drawingml/2006/main" noGrp="1"/>
          </p:cNvSpPr>
          <p:nvPr/>
        </p:nvSpPr>
        <p:spPr>
          <a:xfrm xmlns:a="http://schemas.openxmlformats.org/drawingml/2006/main">
            <a:off x="819150" y="2905125"/>
            <a:ext cx="439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React y TypeScript</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TanStack Start y Nitro</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Interfaz y capacidades de servidor</a:t>
            </a:r>
          </a:p>
        </p:txBody>
      </p:sp>
      <p:sp>
        <p:nvSpPr>
          <p:cNvPr id="7" name="">
            <a:extLst xmlns:a="http://schemas.openxmlformats.org/drawingml/2006/main">
              <a:ext uri="{FF2B5EF4-FFF2-40B4-BE49-F238E27FC236}">
                <a16:creationId xmlns:a16="http://schemas.microsoft.com/office/drawing/2014/main" id="{E5A7A4D2-2136-4F1D-A6F5-DDD664CDC27F}"/>
              </a:ext>
            </a:extLst>
          </p:cNvPr>
          <p:cNvSpPr>
            <a:spLocks xmlns:a="http://schemas.openxmlformats.org/drawingml/2006/main" noGrp="1"/>
          </p:cNvSpPr>
          <p:nvPr/>
        </p:nvSpPr>
        <p:spPr>
          <a:xfrm xmlns:a="http://schemas.openxmlformats.org/drawingml/2006/main">
            <a:off x="6762750" y="2238375"/>
            <a:ext cx="4810125" cy="2571750"/>
          </a:xfrm>
          <a:prstGeom xmlns:a="http://schemas.openxmlformats.org/drawingml/2006/main" prst="rect">
            <a:avLst/>
          </a:prstGeom>
          <a:solidFill xmlns:a="http://schemas.openxmlformats.org/drawingml/2006/main">
            <a:srgbClr val="F3F6F8"/>
          </a:solidFill>
          <a:ln xmlns:a="http://schemas.openxmlformats.org/drawingml/2006/main" w="9525">
            <a:solidFill>
              <a:srgbClr val="CEDBE1"/>
            </a:solidFill>
          </a:ln>
        </p:spPr>
      </p:sp>
      <p:sp>
        <p:nvSpPr>
          <p:cNvPr id="8" name="">
            <a:extLst xmlns:a="http://schemas.openxmlformats.org/drawingml/2006/main">
              <a:ext uri="{FF2B5EF4-FFF2-40B4-BE49-F238E27FC236}">
                <a16:creationId xmlns:a16="http://schemas.microsoft.com/office/drawing/2014/main" id="{4D43FBA1-4A09-41A4-AD9B-85426CE3ED80}"/>
              </a:ext>
            </a:extLst>
          </p:cNvPr>
          <p:cNvSpPr>
            <a:spLocks xmlns:a="http://schemas.openxmlformats.org/drawingml/2006/main" noGrp="1"/>
          </p:cNvSpPr>
          <p:nvPr/>
        </p:nvSpPr>
        <p:spPr>
          <a:xfrm xmlns:a="http://schemas.openxmlformats.org/drawingml/2006/main">
            <a:off x="6972300" y="2409825"/>
            <a:ext cx="4391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2B40"/>
                </a:solidFill>
                <a:latin typeface="Arial"/>
                <a:ea typeface="Arial"/>
                <a:cs typeface="Arial"/>
              </a:defRPr>
            </a:pPr>
            <a:r>
              <a:rPr sz="2100" b="1">
                <a:solidFill>
                  <a:srgbClr val="132B40"/>
                </a:solidFill>
                <a:latin typeface="Arial"/>
                <a:ea typeface="Arial"/>
                <a:cs typeface="Arial"/>
              </a:rPr>
              <a:t>Proyecto Supabase</a:t>
            </a:r>
          </a:p>
        </p:txBody>
      </p:sp>
      <p:sp>
        <p:nvSpPr>
          <p:cNvPr id="9" name="">
            <a:extLst xmlns:a="http://schemas.openxmlformats.org/drawingml/2006/main">
              <a:ext uri="{FF2B5EF4-FFF2-40B4-BE49-F238E27FC236}">
                <a16:creationId xmlns:a16="http://schemas.microsoft.com/office/drawing/2014/main" id="{DAE5DA4B-7EBA-4F70-A9D7-0A7C035F5D6D}"/>
              </a:ext>
            </a:extLst>
          </p:cNvPr>
          <p:cNvSpPr>
            <a:spLocks xmlns:a="http://schemas.openxmlformats.org/drawingml/2006/main" noGrp="1"/>
          </p:cNvSpPr>
          <p:nvPr/>
        </p:nvSpPr>
        <p:spPr>
          <a:xfrm xmlns:a="http://schemas.openxmlformats.org/drawingml/2006/main">
            <a:off x="6972300" y="2905125"/>
            <a:ext cx="439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Auth: usuarios y sesiones</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PostgreSQL: información del CRM</a:t>
            </a:r>
          </a:p>
          <a:p xmlns:a="http://schemas.openxmlformats.org/drawingml/2006/main">
            <a:pPr>
              <a:defRPr sz="1800" b="0">
                <a:solidFill>
                  <a:srgbClr val="193144"/>
                </a:solidFill>
                <a:latin typeface="Arial"/>
                <a:ea typeface="Arial"/>
                <a:cs typeface="Arial"/>
              </a:defRPr>
            </a:pPr>
            <a:r>
              <a:rPr sz="1800" b="0">
                <a:solidFill>
                  <a:srgbClr val="193144"/>
                </a:solidFill>
                <a:latin typeface="Arial"/>
                <a:ea typeface="Arial"/>
                <a:cs typeface="Arial"/>
              </a:rPr>
              <a:t>RLS: políticas dentro de PostgreSQL</a:t>
            </a:r>
          </a:p>
        </p:txBody>
      </p:sp>
      <p:cxnSp>
        <p:nvCxnSpPr>
          <p:cNvPr id="23" name=""/>
          <p:cNvCxnSpPr>
            <a:stCxn xmlns:a="http://schemas.openxmlformats.org/drawingml/2006/main" id="4" idx="3"/>
            <a:endCxn xmlns:a="http://schemas.openxmlformats.org/drawingml/2006/main" id="7" idx="1"/>
          </p:cNvCxnSpPr>
          <p:nvPr/>
        </p:nvCxnSpPr>
        <p:spPr>
          <a:xfrm xmlns:a="http://schemas.openxmlformats.org/drawingml/2006/main">
            <a:off x="5419725" y="3524250"/>
            <a:ext cx="1343025" cy="0"/>
          </a:xfrm>
          <a:prstGeom xmlns:a="http://schemas.openxmlformats.org/drawingml/2006/main" prst="straightConnector1">
            <a:avLst/>
          </a:prstGeom>
          <a:ln xmlns:a="http://schemas.openxmlformats.org/drawingml/2006/main" w="23813">
            <a:solidFill>
              <a:srgbClr val="087F8C"/>
            </a:solidFill>
            <a:tailEnd type="triangle" w="med" len="med"/>
          </a:ln>
        </p:spPr>
      </p:cxnSp>
      <p:sp>
        <p:nvSpPr>
          <p:cNvPr id="11" name="">
            <a:extLst xmlns:a="http://schemas.openxmlformats.org/drawingml/2006/main">
              <a:ext uri="{FF2B5EF4-FFF2-40B4-BE49-F238E27FC236}">
                <a16:creationId xmlns:a16="http://schemas.microsoft.com/office/drawing/2014/main" id="{3DEFA0F3-08DB-49DC-AD90-B6EA5CBA7A83}"/>
              </a:ext>
            </a:extLst>
          </p:cNvPr>
          <p:cNvSpPr>
            <a:spLocks xmlns:a="http://schemas.openxmlformats.org/drawingml/2006/main" noGrp="1"/>
          </p:cNvSpPr>
          <p:nvPr/>
        </p:nvSpPr>
        <p:spPr>
          <a:xfrm xmlns:a="http://schemas.openxmlformats.org/drawingml/2006/main">
            <a:off x="5638800" y="3095625"/>
            <a:ext cx="981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8C"/>
                </a:solidFill>
                <a:latin typeface="Arial"/>
                <a:ea typeface="Arial"/>
                <a:cs typeface="Arial"/>
              </a:defRPr>
            </a:pPr>
            <a:r>
              <a:rPr sz="1650" b="1">
                <a:solidFill>
                  <a:srgbClr val="087F8C"/>
                </a:solidFill>
                <a:latin typeface="Arial"/>
                <a:ea typeface="Arial"/>
                <a:cs typeface="Arial"/>
              </a:rPr>
              <a:t>HTTPS</a:t>
            </a:r>
          </a:p>
        </p:txBody>
      </p:sp>
      <p:sp>
        <p:nvSpPr>
          <p:cNvPr id="12" name="">
            <a:extLst xmlns:a="http://schemas.openxmlformats.org/drawingml/2006/main">
              <a:ext uri="{FF2B5EF4-FFF2-40B4-BE49-F238E27FC236}">
                <a16:creationId xmlns:a16="http://schemas.microsoft.com/office/drawing/2014/main" id="{C4288DD4-50E3-4CB7-B2E3-41F03EF1A6CD}"/>
              </a:ext>
            </a:extLst>
          </p:cNvPr>
          <p:cNvSpPr>
            <a:spLocks xmlns:a="http://schemas.openxmlformats.org/drawingml/2006/main" noGrp="1"/>
          </p:cNvSpPr>
          <p:nvPr/>
        </p:nvSpPr>
        <p:spPr>
          <a:xfrm xmlns:a="http://schemas.openxmlformats.org/drawingml/2006/main">
            <a:off x="819150" y="4991100"/>
            <a:ext cx="447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Alojamiento: Vercel</a:t>
            </a:r>
          </a:p>
        </p:txBody>
      </p:sp>
      <p:sp>
        <p:nvSpPr>
          <p:cNvPr id="13" name="">
            <a:extLst xmlns:a="http://schemas.openxmlformats.org/drawingml/2006/main">
              <a:ext uri="{FF2B5EF4-FFF2-40B4-BE49-F238E27FC236}">
                <a16:creationId xmlns:a16="http://schemas.microsoft.com/office/drawing/2014/main" id="{7D622DC9-0E9A-451B-A928-5DEA0E6E2098}"/>
              </a:ext>
            </a:extLst>
          </p:cNvPr>
          <p:cNvSpPr>
            <a:spLocks xmlns:a="http://schemas.openxmlformats.org/drawingml/2006/main" noGrp="1"/>
          </p:cNvSpPr>
          <p:nvPr/>
        </p:nvSpPr>
        <p:spPr>
          <a:xfrm xmlns:a="http://schemas.openxmlformats.org/drawingml/2006/main">
            <a:off x="609600" y="5686425"/>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B40"/>
                </a:solidFill>
                <a:latin typeface="Arial"/>
                <a:ea typeface="Arial"/>
                <a:cs typeface="Arial"/>
              </a:defRPr>
            </a:pPr>
            <a:r>
              <a:rPr sz="2025" b="1">
                <a:solidFill>
                  <a:srgbClr val="132B40"/>
                </a:solidFill>
                <a:latin typeface="Arial"/>
                <a:ea typeface="Arial"/>
                <a:cs typeface="Arial"/>
              </a:rPr>
              <a:t>Una aplicación propia desplegable. La lógica de servidor viaja con la aplicación web.</a:t>
            </a:r>
          </a:p>
        </p:txBody>
      </p:sp>
    </p:spTree>
    <p:extLst>
      <p:ext uri="{BB962C8B-B14F-4D97-AF65-F5344CB8AC3E}">
        <p14:creationId xmlns:p14="http://schemas.microsoft.com/office/powerpoint/2010/main" val="5376074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48B622-3BD1-4494-BA5B-8B57156B0D2B}"/>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COMPONENTES Y TRAZABILIDAD</a:t>
            </a:r>
          </a:p>
        </p:txBody>
      </p:sp>
      <p:sp>
        <p:nvSpPr>
          <p:cNvPr id="2" name="">
            <a:extLst xmlns:a="http://schemas.openxmlformats.org/drawingml/2006/main">
              <a:ext uri="{FF2B5EF4-FFF2-40B4-BE49-F238E27FC236}">
                <a16:creationId xmlns:a16="http://schemas.microsoft.com/office/drawing/2014/main" id="{8792B135-0584-4F58-961E-187ACAFCD815}"/>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Nivel 3 · Responsabilidades dentro del código</a:t>
            </a:r>
          </a:p>
        </p:txBody>
      </p:sp>
      <p:sp>
        <p:nvSpPr>
          <p:cNvPr id="3" name="">
            <a:extLst xmlns:a="http://schemas.openxmlformats.org/drawingml/2006/main">
              <a:ext uri="{FF2B5EF4-FFF2-40B4-BE49-F238E27FC236}">
                <a16:creationId xmlns:a16="http://schemas.microsoft.com/office/drawing/2014/main" id="{B0018D8F-03BA-4689-876A-8CBE6CB5CA65}"/>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05</a:t>
            </a:r>
          </a:p>
        </p:txBody>
      </p:sp>
      <p:graphicFrame>
        <p:nvGraphicFramePr>
          <p:cNvPr id="10" name=""/>
          <p:cNvGraphicFramePr/>
          <p:nvPr/>
        </p:nvGraphicFramePr>
        <p:xfrm>
          <a:off xmlns:a="http://schemas.openxmlformats.org/drawingml/2006/main" x="609600" y="1809750"/>
          <a:ext xmlns:a="http://schemas.openxmlformats.org/drawingml/2006/main" cx="10972800" cy="3381375"/>
        </p:xfrm>
        <a:graphic xmlns:a="http://schemas.openxmlformats.org/drawingml/2006/main">
          <a:graphicData uri="http://schemas.openxmlformats.org/drawingml/2006/table">
            <a:tbl>
              <a:tblPr/>
              <a:tblGrid>
                <a:gridCol w="5238750"/>
                <a:gridCol w="5734050"/>
              </a:tblGrid>
              <a:tr h="590550">
                <a:tc>
                  <a:txBody>
                    <a:bodyPr/>
                    <a:lstStyle/>
                    <a:p>
                      <a:r>
                        <a:rPr sz="1650" b="1">
                          <a:solidFill>
                            <a:srgbClr val="FFFFFF"/>
                          </a:solidFill>
                          <a:latin typeface="Arial"/>
                          <a:ea typeface="Arial"/>
                          <a:cs typeface="Arial"/>
                        </a:rPr>
                        <a:t>Responsabilidad</a:t>
                      </a:r>
                    </a:p>
                  </a:txBody>
                  <a:tcPr marL="142875" marR="142875" marT="142875" marB="142875" anchor="ctr">
                    <a:solidFill>
                      <a:srgbClr val="132B40"/>
                    </a:solidFill>
                  </a:tcPr>
                </a:tc>
                <a:tc>
                  <a:txBody>
                    <a:bodyPr/>
                    <a:lstStyle/>
                    <a:p>
                      <a:r>
                        <a:rPr sz="1650" b="1">
                          <a:solidFill>
                            <a:srgbClr val="FFFFFF"/>
                          </a:solidFill>
                          <a:latin typeface="Arial"/>
                          <a:ea typeface="Arial"/>
                          <a:cs typeface="Arial"/>
                        </a:rPr>
                        <a:t>Implementación</a:t>
                      </a:r>
                    </a:p>
                  </a:txBody>
                  <a:tcPr marL="142875" marR="142875" marT="142875" marB="142875" anchor="ctr">
                    <a:solidFill>
                      <a:srgbClr val="132B40"/>
                    </a:solidFill>
                  </a:tcPr>
                </a:tc>
              </a:tr>
              <a:tr h="697706">
                <a:tc>
                  <a:txBody>
                    <a:bodyPr/>
                    <a:lstStyle/>
                    <a:p>
                      <a:r>
                        <a:rPr sz="1800" b="1">
                          <a:solidFill>
                            <a:srgbClr val="193144"/>
                          </a:solidFill>
                          <a:latin typeface="Arial"/>
                          <a:ea typeface="Arial"/>
                          <a:cs typeface="Arial"/>
                        </a:rPr>
                        <a:t>Pantallas y formularios del CRM</a:t>
                      </a:r>
                    </a:p>
                  </a:txBody>
                  <a:tcPr marL="142875" marR="142875" marT="142875" marB="142875" anchor="ctr">
                    <a:solidFill>
                      <a:srgbClr val="F3F6F8"/>
                    </a:solidFill>
                  </a:tcPr>
                </a:tc>
                <a:tc>
                  <a:txBody>
                    <a:bodyPr/>
                    <a:lstStyle/>
                    <a:p>
                      <a:r>
                        <a:rPr sz="1800" b="0">
                          <a:solidFill>
                            <a:srgbClr val="193144"/>
                          </a:solidFill>
                          <a:latin typeface="Arial"/>
                          <a:ea typeface="Arial"/>
                          <a:cs typeface="Arial"/>
                        </a:rPr>
                        <a:t>src/routes/ y src/components/</a:t>
                      </a:r>
                    </a:p>
                  </a:txBody>
                  <a:tcPr marL="142875" marR="142875" marT="142875" marB="142875" anchor="ctr">
                    <a:solidFill>
                      <a:srgbClr val="F3F6F8"/>
                    </a:solidFill>
                  </a:tcPr>
                </a:tc>
              </a:tr>
              <a:tr h="697706">
                <a:tc>
                  <a:txBody>
                    <a:bodyPr/>
                    <a:lstStyle/>
                    <a:p>
                      <a:r>
                        <a:rPr sz="1800" b="1">
                          <a:solidFill>
                            <a:srgbClr val="193144"/>
                          </a:solidFill>
                          <a:latin typeface="Arial"/>
                          <a:ea typeface="Arial"/>
                          <a:cs typeface="Arial"/>
                        </a:rPr>
                        <a:t>Consultas y operaciones comerciales</a:t>
                      </a:r>
                    </a:p>
                  </a:txBody>
                  <a:tcPr marL="142875" marR="142875" marT="142875" marB="142875" anchor="ctr">
                    <a:solidFill>
                      <a:srgbClr val="E9F4F3"/>
                    </a:solidFill>
                  </a:tcPr>
                </a:tc>
                <a:tc>
                  <a:txBody>
                    <a:bodyPr/>
                    <a:lstStyle/>
                    <a:p>
                      <a:r>
                        <a:rPr sz="1800" b="0">
                          <a:solidFill>
                            <a:srgbClr val="193144"/>
                          </a:solidFill>
                          <a:latin typeface="Arial"/>
                          <a:ea typeface="Arial"/>
                          <a:cs typeface="Arial"/>
                        </a:rPr>
                        <a:t>src/lib/crm.ts</a:t>
                      </a:r>
                    </a:p>
                  </a:txBody>
                  <a:tcPr marL="142875" marR="142875" marT="142875" marB="142875" anchor="ctr">
                    <a:solidFill>
                      <a:srgbClr val="E9F4F3"/>
                    </a:solidFill>
                  </a:tcPr>
                </a:tc>
              </a:tr>
              <a:tr h="697706">
                <a:tc>
                  <a:txBody>
                    <a:bodyPr/>
                    <a:lstStyle/>
                    <a:p>
                      <a:r>
                        <a:rPr sz="1800" b="1">
                          <a:solidFill>
                            <a:srgbClr val="193144"/>
                          </a:solidFill>
                          <a:latin typeface="Arial"/>
                          <a:ea typeface="Arial"/>
                          <a:cs typeface="Arial"/>
                        </a:rPr>
                        <a:t>Autenticación e integración con Supabase</a:t>
                      </a:r>
                    </a:p>
                  </a:txBody>
                  <a:tcPr marL="142875" marR="142875" marT="142875" marB="142875" anchor="ctr">
                    <a:solidFill>
                      <a:srgbClr val="F3F6F8"/>
                    </a:solidFill>
                  </a:tcPr>
                </a:tc>
                <a:tc>
                  <a:txBody>
                    <a:bodyPr/>
                    <a:lstStyle/>
                    <a:p>
                      <a:r>
                        <a:rPr sz="1800" b="0">
                          <a:solidFill>
                            <a:srgbClr val="193144"/>
                          </a:solidFill>
                          <a:latin typeface="Arial"/>
                          <a:ea typeface="Arial"/>
                          <a:cs typeface="Arial"/>
                        </a:rPr>
                        <a:t>src/hooks/use-auth.ts y src/integrations/supabase/</a:t>
                      </a:r>
                    </a:p>
                  </a:txBody>
                  <a:tcPr marL="142875" marR="142875" marT="142875" marB="142875" anchor="ctr">
                    <a:solidFill>
                      <a:srgbClr val="F3F6F8"/>
                    </a:solidFill>
                  </a:tcPr>
                </a:tc>
              </a:tr>
              <a:tr h="697706">
                <a:tc>
                  <a:txBody>
                    <a:bodyPr/>
                    <a:lstStyle/>
                    <a:p>
                      <a:r>
                        <a:rPr sz="1800" b="1">
                          <a:solidFill>
                            <a:srgbClr val="193144"/>
                          </a:solidFill>
                          <a:latin typeface="Arial"/>
                          <a:ea typeface="Arial"/>
                          <a:cs typeface="Arial"/>
                        </a:rPr>
                        <a:t>Procesamiento de solicitudes del servidor</a:t>
                      </a:r>
                    </a:p>
                  </a:txBody>
                  <a:tcPr marL="142875" marR="142875" marT="142875" marB="142875" anchor="ctr">
                    <a:solidFill>
                      <a:srgbClr val="E9F4F3"/>
                    </a:solidFill>
                  </a:tcPr>
                </a:tc>
                <a:tc>
                  <a:txBody>
                    <a:bodyPr/>
                    <a:lstStyle/>
                    <a:p>
                      <a:r>
                        <a:rPr sz="1800" b="0">
                          <a:solidFill>
                            <a:srgbClr val="193144"/>
                          </a:solidFill>
                          <a:latin typeface="Arial"/>
                          <a:ea typeface="Arial"/>
                          <a:cs typeface="Arial"/>
                        </a:rPr>
                        <a:t>src/server.ts y src/start.ts</a:t>
                      </a:r>
                    </a:p>
                  </a:txBody>
                  <a:tcPr marL="142875" marR="142875" marT="142875" marB="142875" anchor="ctr">
                    <a:solidFill>
                      <a:srgbClr val="E9F4F3"/>
                    </a:solidFill>
                  </a:tcPr>
                </a:tc>
              </a:tr>
            </a:tbl>
          </a:graphicData>
        </a:graphic>
      </p:graphicFrame>
      <p:sp>
        <p:nvSpPr>
          <p:cNvPr id="5" name="">
            <a:extLst xmlns:a="http://schemas.openxmlformats.org/drawingml/2006/main">
              <a:ext uri="{FF2B5EF4-FFF2-40B4-BE49-F238E27FC236}">
                <a16:creationId xmlns:a16="http://schemas.microsoft.com/office/drawing/2014/main" id="{D0F02599-560F-40F2-A31A-ABA91F47892D}"/>
              </a:ext>
            </a:extLst>
          </p:cNvPr>
          <p:cNvSpPr>
            <a:spLocks xmlns:a="http://schemas.openxmlformats.org/drawingml/2006/main" noGrp="1"/>
          </p:cNvSpPr>
          <p:nvPr/>
        </p:nvSpPr>
        <p:spPr>
          <a:xfrm xmlns:a="http://schemas.openxmlformats.org/drawingml/2006/main">
            <a:off x="609600" y="5362575"/>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En Supabase: autenticación, datos y políticas RLS.</a:t>
            </a:r>
          </a:p>
        </p:txBody>
      </p:sp>
      <p:sp>
        <p:nvSpPr>
          <p:cNvPr id="6" name="">
            <a:extLst xmlns:a="http://schemas.openxmlformats.org/drawingml/2006/main">
              <a:ext uri="{FF2B5EF4-FFF2-40B4-BE49-F238E27FC236}">
                <a16:creationId xmlns:a16="http://schemas.microsoft.com/office/drawing/2014/main" id="{75AB4702-9CCA-498D-8488-05768613AFD3}"/>
              </a:ext>
            </a:extLst>
          </p:cNvPr>
          <p:cNvSpPr>
            <a:spLocks xmlns:a="http://schemas.openxmlformats.org/drawingml/2006/main" noGrp="1"/>
          </p:cNvSpPr>
          <p:nvPr/>
        </p:nvSpPr>
        <p:spPr>
          <a:xfrm xmlns:a="http://schemas.openxmlformats.org/drawingml/2006/main">
            <a:off x="609600" y="585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97A"/>
                </a:solidFill>
                <a:latin typeface="Arial"/>
                <a:ea typeface="Arial"/>
                <a:cs typeface="Arial"/>
              </a:defRPr>
            </a:pPr>
            <a:r>
              <a:rPr sz="1650" b="0">
                <a:solidFill>
                  <a:srgbClr val="53697A"/>
                </a:solidFill>
                <a:latin typeface="Arial"/>
                <a:ea typeface="Arial"/>
                <a:cs typeface="Arial"/>
              </a:rPr>
              <a:t>Cliente administrativo: client.server.ts usa service_role y no tiene consumidores en src.</a:t>
            </a:r>
          </a:p>
        </p:txBody>
      </p:sp>
    </p:spTree>
    <p:extLst>
      <p:ext uri="{BB962C8B-B14F-4D97-AF65-F5344CB8AC3E}">
        <p14:creationId xmlns:p14="http://schemas.microsoft.com/office/powerpoint/2010/main" val="12444899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74A1C5-A232-42F3-B9B8-F0652AD44880}"/>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ADR-001 Y ADR-004</a:t>
            </a:r>
          </a:p>
        </p:txBody>
      </p:sp>
      <p:sp>
        <p:nvSpPr>
          <p:cNvPr id="2" name="">
            <a:extLst xmlns:a="http://schemas.openxmlformats.org/drawingml/2006/main">
              <a:ext uri="{FF2B5EF4-FFF2-40B4-BE49-F238E27FC236}">
                <a16:creationId xmlns:a16="http://schemas.microsoft.com/office/drawing/2014/main" id="{FEBF802C-DCE5-4861-9632-CABE08722502}"/>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Organización y despliegue de la aplicación</a:t>
            </a:r>
          </a:p>
        </p:txBody>
      </p:sp>
      <p:sp>
        <p:nvSpPr>
          <p:cNvPr id="3" name="">
            <a:extLst xmlns:a="http://schemas.openxmlformats.org/drawingml/2006/main">
              <a:ext uri="{FF2B5EF4-FFF2-40B4-BE49-F238E27FC236}">
                <a16:creationId xmlns:a16="http://schemas.microsoft.com/office/drawing/2014/main" id="{83D4A3D6-2E5F-4EF8-9F96-549B2CA4C886}"/>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3DDD817-416A-4742-9C1F-37F20D511D68}"/>
              </a:ext>
            </a:extLst>
          </p:cNvPr>
          <p:cNvSpPr>
            <a:spLocks xmlns:a="http://schemas.openxmlformats.org/drawingml/2006/main" noGrp="1"/>
          </p:cNvSpPr>
          <p:nvPr/>
        </p:nvSpPr>
        <p:spPr>
          <a:xfrm xmlns:a="http://schemas.openxmlformats.org/drawingml/2006/main">
            <a:off x="609600" y="204787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Arquitectura en capas</a:t>
            </a:r>
          </a:p>
        </p:txBody>
      </p:sp>
      <p:sp>
        <p:nvSpPr>
          <p:cNvPr id="5" name="">
            <a:extLst xmlns:a="http://schemas.openxmlformats.org/drawingml/2006/main">
              <a:ext uri="{FF2B5EF4-FFF2-40B4-BE49-F238E27FC236}">
                <a16:creationId xmlns:a16="http://schemas.microsoft.com/office/drawing/2014/main" id="{C8E9859C-620E-4156-80DC-6E02BF08B754}"/>
              </a:ext>
            </a:extLst>
          </p:cNvPr>
          <p:cNvSpPr>
            <a:spLocks xmlns:a="http://schemas.openxmlformats.org/drawingml/2006/main" noGrp="1"/>
          </p:cNvSpPr>
          <p:nvPr/>
        </p:nvSpPr>
        <p:spPr>
          <a:xfrm xmlns:a="http://schemas.openxmlformats.org/drawingml/2006/main">
            <a:off x="609600" y="2809875"/>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Separa presentación, operaciones</a:t>
            </a:r>
          </a:p>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e integración con los datos.</a:t>
            </a:r>
          </a:p>
        </p:txBody>
      </p:sp>
      <p:sp>
        <p:nvSpPr>
          <p:cNvPr id="6" name="">
            <a:extLst xmlns:a="http://schemas.openxmlformats.org/drawingml/2006/main">
              <a:ext uri="{FF2B5EF4-FFF2-40B4-BE49-F238E27FC236}">
                <a16:creationId xmlns:a16="http://schemas.microsoft.com/office/drawing/2014/main" id="{D96FDB3F-9DDA-4711-BE64-96C86CE7AF3E}"/>
              </a:ext>
            </a:extLst>
          </p:cNvPr>
          <p:cNvSpPr>
            <a:spLocks xmlns:a="http://schemas.openxmlformats.org/drawingml/2006/main" noGrp="1"/>
          </p:cNvSpPr>
          <p:nvPr/>
        </p:nvSpPr>
        <p:spPr>
          <a:xfrm xmlns:a="http://schemas.openxmlformats.org/drawingml/2006/main">
            <a:off x="609600" y="40481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44"/>
                </a:solidFill>
                <a:latin typeface="Arial"/>
                <a:ea typeface="Arial"/>
                <a:cs typeface="Arial"/>
              </a:defRPr>
            </a:pPr>
            <a:r>
              <a:rPr sz="2025" b="0">
                <a:solidFill>
                  <a:srgbClr val="193144"/>
                </a:solidFill>
                <a:latin typeface="Arial"/>
                <a:ea typeface="Arial"/>
                <a:cs typeface="Arial"/>
              </a:rPr>
              <a:t>Beneficio esperado</a:t>
            </a:r>
          </a:p>
          <a:p xmlns:a="http://schemas.openxmlformats.org/drawingml/2006/main">
            <a:pPr>
              <a:defRPr sz="2025" b="0">
                <a:solidFill>
                  <a:srgbClr val="193144"/>
                </a:solidFill>
                <a:latin typeface="Arial"/>
                <a:ea typeface="Arial"/>
                <a:cs typeface="Arial"/>
              </a:defRPr>
            </a:pPr>
            <a:r>
              <a:rPr sz="2025" b="0">
                <a:solidFill>
                  <a:srgbClr val="193144"/>
                </a:solidFill>
                <a:latin typeface="Arial"/>
                <a:ea typeface="Arial"/>
                <a:cs typeface="Arial"/>
              </a:rPr>
              <a:t>Comprender y mantener el código.</a:t>
            </a:r>
          </a:p>
        </p:txBody>
      </p:sp>
      <p:sp>
        <p:nvSpPr>
          <p:cNvPr id="7" name="">
            <a:extLst xmlns:a="http://schemas.openxmlformats.org/drawingml/2006/main">
              <a:ext uri="{FF2B5EF4-FFF2-40B4-BE49-F238E27FC236}">
                <a16:creationId xmlns:a16="http://schemas.microsoft.com/office/drawing/2014/main" id="{B91DAE67-DDB4-4969-8F2A-029B4B8B83C9}"/>
              </a:ext>
            </a:extLst>
          </p:cNvPr>
          <p:cNvSpPr>
            <a:spLocks xmlns:a="http://schemas.openxmlformats.org/drawingml/2006/main" noGrp="1"/>
          </p:cNvSpPr>
          <p:nvPr/>
        </p:nvSpPr>
        <p:spPr>
          <a:xfrm xmlns:a="http://schemas.openxmlformats.org/drawingml/2006/main">
            <a:off x="609600" y="52578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55C18"/>
                </a:solidFill>
                <a:latin typeface="Arial"/>
                <a:ea typeface="Arial"/>
                <a:cs typeface="Arial"/>
              </a:defRPr>
            </a:pPr>
            <a:r>
              <a:rPr sz="1875" b="0">
                <a:solidFill>
                  <a:srgbClr val="A55C18"/>
                </a:solidFill>
                <a:latin typeface="Arial"/>
                <a:ea typeface="Arial"/>
                <a:cs typeface="Arial"/>
              </a:rPr>
              <a:t>Exige disciplina en las dependencias.</a:t>
            </a:r>
          </a:p>
        </p:txBody>
      </p:sp>
      <p:sp>
        <p:nvSpPr>
          <p:cNvPr id="8" name="">
            <a:extLst xmlns:a="http://schemas.openxmlformats.org/drawingml/2006/main">
              <a:ext uri="{FF2B5EF4-FFF2-40B4-BE49-F238E27FC236}">
                <a16:creationId xmlns:a16="http://schemas.microsoft.com/office/drawing/2014/main" id="{15B9B6A4-D7D0-4622-B606-097763E2C1D8}"/>
              </a:ext>
            </a:extLst>
          </p:cNvPr>
          <p:cNvSpPr>
            <a:spLocks xmlns:a="http://schemas.openxmlformats.org/drawingml/2006/main" noGrp="1"/>
          </p:cNvSpPr>
          <p:nvPr/>
        </p:nvSpPr>
        <p:spPr>
          <a:xfrm xmlns:a="http://schemas.openxmlformats.org/drawingml/2006/main">
            <a:off x="6553200" y="204787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Aplicación monolítica</a:t>
            </a:r>
          </a:p>
        </p:txBody>
      </p:sp>
      <p:sp>
        <p:nvSpPr>
          <p:cNvPr id="9" name="">
            <a:extLst xmlns:a="http://schemas.openxmlformats.org/drawingml/2006/main">
              <a:ext uri="{FF2B5EF4-FFF2-40B4-BE49-F238E27FC236}">
                <a16:creationId xmlns:a16="http://schemas.microsoft.com/office/drawing/2014/main" id="{1C6C79AD-58F9-424E-ADED-53B5741EC189}"/>
              </a:ext>
            </a:extLst>
          </p:cNvPr>
          <p:cNvSpPr>
            <a:spLocks xmlns:a="http://schemas.openxmlformats.org/drawingml/2006/main" noGrp="1"/>
          </p:cNvSpPr>
          <p:nvPr/>
        </p:nvSpPr>
        <p:spPr>
          <a:xfrm xmlns:a="http://schemas.openxmlformats.org/drawingml/2006/main">
            <a:off x="6553200" y="2809875"/>
            <a:ext cx="5000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Agrupa el código propio en</a:t>
            </a:r>
          </a:p>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una sola unidad de despliegue.</a:t>
            </a:r>
          </a:p>
        </p:txBody>
      </p:sp>
      <p:sp>
        <p:nvSpPr>
          <p:cNvPr id="10" name="">
            <a:extLst xmlns:a="http://schemas.openxmlformats.org/drawingml/2006/main">
              <a:ext uri="{FF2B5EF4-FFF2-40B4-BE49-F238E27FC236}">
                <a16:creationId xmlns:a16="http://schemas.microsoft.com/office/drawing/2014/main" id="{4F2FAB20-2EE7-49D1-84DD-EA5333693568}"/>
              </a:ext>
            </a:extLst>
          </p:cNvPr>
          <p:cNvSpPr>
            <a:spLocks xmlns:a="http://schemas.openxmlformats.org/drawingml/2006/main" noGrp="1"/>
          </p:cNvSpPr>
          <p:nvPr/>
        </p:nvSpPr>
        <p:spPr>
          <a:xfrm xmlns:a="http://schemas.openxmlformats.org/drawingml/2006/main">
            <a:off x="6553200" y="4048125"/>
            <a:ext cx="5000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144"/>
                </a:solidFill>
                <a:latin typeface="Arial"/>
                <a:ea typeface="Arial"/>
                <a:cs typeface="Arial"/>
              </a:defRPr>
            </a:pPr>
            <a:r>
              <a:rPr sz="2025" b="0">
                <a:solidFill>
                  <a:srgbClr val="193144"/>
                </a:solidFill>
                <a:latin typeface="Arial"/>
                <a:ea typeface="Arial"/>
                <a:cs typeface="Arial"/>
              </a:rPr>
              <a:t>Beneficio esperado</a:t>
            </a:r>
          </a:p>
          <a:p xmlns:a="http://schemas.openxmlformats.org/drawingml/2006/main">
            <a:pPr>
              <a:defRPr sz="2025" b="0">
                <a:solidFill>
                  <a:srgbClr val="193144"/>
                </a:solidFill>
                <a:latin typeface="Arial"/>
                <a:ea typeface="Arial"/>
                <a:cs typeface="Arial"/>
              </a:defRPr>
            </a:pPr>
            <a:r>
              <a:rPr sz="2025" b="0">
                <a:solidFill>
                  <a:srgbClr val="193144"/>
                </a:solidFill>
                <a:latin typeface="Arial"/>
                <a:ea typeface="Arial"/>
                <a:cs typeface="Arial"/>
              </a:rPr>
              <a:t>Menor complejidad de operación.</a:t>
            </a:r>
          </a:p>
        </p:txBody>
      </p:sp>
      <p:sp>
        <p:nvSpPr>
          <p:cNvPr id="11" name="">
            <a:extLst xmlns:a="http://schemas.openxmlformats.org/drawingml/2006/main">
              <a:ext uri="{FF2B5EF4-FFF2-40B4-BE49-F238E27FC236}">
                <a16:creationId xmlns:a16="http://schemas.microsoft.com/office/drawing/2014/main" id="{A5413AF5-6CBD-43EE-966C-F4F98995E0E1}"/>
              </a:ext>
            </a:extLst>
          </p:cNvPr>
          <p:cNvSpPr>
            <a:spLocks xmlns:a="http://schemas.openxmlformats.org/drawingml/2006/main" noGrp="1"/>
          </p:cNvSpPr>
          <p:nvPr/>
        </p:nvSpPr>
        <p:spPr>
          <a:xfrm xmlns:a="http://schemas.openxmlformats.org/drawingml/2006/main">
            <a:off x="6553200" y="5257800"/>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55C18"/>
                </a:solidFill>
                <a:latin typeface="Arial"/>
                <a:ea typeface="Arial"/>
                <a:cs typeface="Arial"/>
              </a:defRPr>
            </a:pPr>
            <a:r>
              <a:rPr sz="1875" b="0">
                <a:solidFill>
                  <a:srgbClr val="A55C18"/>
                </a:solidFill>
                <a:latin typeface="Arial"/>
                <a:ea typeface="Arial"/>
                <a:cs typeface="Arial"/>
              </a:rPr>
              <a:t>Los módulos se despliegan juntos.</a:t>
            </a:r>
          </a:p>
        </p:txBody>
      </p:sp>
    </p:spTree>
    <p:extLst>
      <p:ext uri="{BB962C8B-B14F-4D97-AF65-F5344CB8AC3E}">
        <p14:creationId xmlns:p14="http://schemas.microsoft.com/office/powerpoint/2010/main" val="567697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1A7F92-73F3-4C3C-82B6-29AAFCABFA04}"/>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ADR-002 Y ADR-003</a:t>
            </a:r>
          </a:p>
        </p:txBody>
      </p:sp>
      <p:sp>
        <p:nvSpPr>
          <p:cNvPr id="2" name="">
            <a:extLst xmlns:a="http://schemas.openxmlformats.org/drawingml/2006/main">
              <a:ext uri="{FF2B5EF4-FFF2-40B4-BE49-F238E27FC236}">
                <a16:creationId xmlns:a16="http://schemas.microsoft.com/office/drawing/2014/main" id="{9D059C8E-BA9C-4C6D-B371-7C3BC27D5980}"/>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Autenticación, persistencia y acceso a datos</a:t>
            </a:r>
          </a:p>
        </p:txBody>
      </p:sp>
      <p:sp>
        <p:nvSpPr>
          <p:cNvPr id="3" name="">
            <a:extLst xmlns:a="http://schemas.openxmlformats.org/drawingml/2006/main">
              <a:ext uri="{FF2B5EF4-FFF2-40B4-BE49-F238E27FC236}">
                <a16:creationId xmlns:a16="http://schemas.microsoft.com/office/drawing/2014/main" id="{C73E2685-066A-4804-B92D-75D4FDF4800C}"/>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D0914F8-C109-4F40-B4EA-4E041A2A7019}"/>
              </a:ext>
            </a:extLst>
          </p:cNvPr>
          <p:cNvSpPr>
            <a:spLocks xmlns:a="http://schemas.openxmlformats.org/drawingml/2006/main" noGrp="1"/>
          </p:cNvSpPr>
          <p:nvPr/>
        </p:nvSpPr>
        <p:spPr>
          <a:xfrm xmlns:a="http://schemas.openxmlformats.org/drawingml/2006/main">
            <a:off x="609600" y="20478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Supabase</a:t>
            </a:r>
          </a:p>
        </p:txBody>
      </p:sp>
      <p:sp>
        <p:nvSpPr>
          <p:cNvPr id="5" name="">
            <a:extLst xmlns:a="http://schemas.openxmlformats.org/drawingml/2006/main">
              <a:ext uri="{FF2B5EF4-FFF2-40B4-BE49-F238E27FC236}">
                <a16:creationId xmlns:a16="http://schemas.microsoft.com/office/drawing/2014/main" id="{BB691DBC-0C4D-4D43-AF92-A242363091FE}"/>
              </a:ext>
            </a:extLst>
          </p:cNvPr>
          <p:cNvSpPr>
            <a:spLocks xmlns:a="http://schemas.openxmlformats.org/drawingml/2006/main" noGrp="1"/>
          </p:cNvSpPr>
          <p:nvPr/>
        </p:nvSpPr>
        <p:spPr>
          <a:xfrm xmlns:a="http://schemas.openxmlformats.org/drawingml/2006/main">
            <a:off x="609600" y="2828925"/>
            <a:ext cx="5095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Integra Auth y PostgreSQL.</a:t>
            </a:r>
          </a:p>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Reduce trabajo de infraestructura.</a:t>
            </a:r>
          </a:p>
        </p:txBody>
      </p:sp>
      <p:sp>
        <p:nvSpPr>
          <p:cNvPr id="6" name="">
            <a:extLst xmlns:a="http://schemas.openxmlformats.org/drawingml/2006/main">
              <a:ext uri="{FF2B5EF4-FFF2-40B4-BE49-F238E27FC236}">
                <a16:creationId xmlns:a16="http://schemas.microsoft.com/office/drawing/2014/main" id="{B45C0E1D-672D-4A6C-8C78-D89E499F954B}"/>
              </a:ext>
            </a:extLst>
          </p:cNvPr>
          <p:cNvSpPr>
            <a:spLocks xmlns:a="http://schemas.openxmlformats.org/drawingml/2006/main" noGrp="1"/>
          </p:cNvSpPr>
          <p:nvPr/>
        </p:nvSpPr>
        <p:spPr>
          <a:xfrm xmlns:a="http://schemas.openxmlformats.org/drawingml/2006/main">
            <a:off x="609600" y="4238625"/>
            <a:ext cx="5095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Trade-off</a:t>
            </a:r>
          </a:p>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Dependencia del proveedor</a:t>
            </a:r>
          </a:p>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y de su configuración.</a:t>
            </a:r>
          </a:p>
        </p:txBody>
      </p:sp>
      <p:sp>
        <p:nvSpPr>
          <p:cNvPr id="7" name="">
            <a:extLst xmlns:a="http://schemas.openxmlformats.org/drawingml/2006/main">
              <a:ext uri="{FF2B5EF4-FFF2-40B4-BE49-F238E27FC236}">
                <a16:creationId xmlns:a16="http://schemas.microsoft.com/office/drawing/2014/main" id="{8D1BC646-7B1A-4791-B421-F37C9A1BDEE8}"/>
              </a:ext>
            </a:extLst>
          </p:cNvPr>
          <p:cNvSpPr>
            <a:spLocks xmlns:a="http://schemas.openxmlformats.org/drawingml/2006/main" noGrp="1"/>
          </p:cNvSpPr>
          <p:nvPr/>
        </p:nvSpPr>
        <p:spPr>
          <a:xfrm xmlns:a="http://schemas.openxmlformats.org/drawingml/2006/main">
            <a:off x="6553200" y="20478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Row Level Security</a:t>
            </a:r>
          </a:p>
        </p:txBody>
      </p:sp>
      <p:sp>
        <p:nvSpPr>
          <p:cNvPr id="8" name="">
            <a:extLst xmlns:a="http://schemas.openxmlformats.org/drawingml/2006/main">
              <a:ext uri="{FF2B5EF4-FFF2-40B4-BE49-F238E27FC236}">
                <a16:creationId xmlns:a16="http://schemas.microsoft.com/office/drawing/2014/main" id="{921B53B0-CF71-46A0-8062-FCABF90F7296}"/>
              </a:ext>
            </a:extLst>
          </p:cNvPr>
          <p:cNvSpPr>
            <a:spLocks xmlns:a="http://schemas.openxmlformats.org/drawingml/2006/main" noGrp="1"/>
          </p:cNvSpPr>
          <p:nvPr/>
        </p:nvSpPr>
        <p:spPr>
          <a:xfrm xmlns:a="http://schemas.openxmlformats.org/drawingml/2006/main">
            <a:off x="6553200" y="2828925"/>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Controla el acceso a filas</a:t>
            </a:r>
          </a:p>
          <a:p xmlns:a="http://schemas.openxmlformats.org/drawingml/2006/main">
            <a:pPr>
              <a:defRPr sz="2175" b="0">
                <a:solidFill>
                  <a:srgbClr val="193144"/>
                </a:solidFill>
                <a:latin typeface="Arial"/>
                <a:ea typeface="Arial"/>
                <a:cs typeface="Arial"/>
              </a:defRPr>
            </a:pPr>
            <a:r>
              <a:rPr sz="2175" b="0">
                <a:solidFill>
                  <a:srgbClr val="193144"/>
                </a:solidFill>
                <a:latin typeface="Arial"/>
                <a:ea typeface="Arial"/>
                <a:cs typeface="Arial"/>
              </a:rPr>
              <a:t>desde la base de datos.</a:t>
            </a:r>
          </a:p>
        </p:txBody>
      </p:sp>
      <p:sp>
        <p:nvSpPr>
          <p:cNvPr id="9" name="">
            <a:extLst xmlns:a="http://schemas.openxmlformats.org/drawingml/2006/main">
              <a:ext uri="{FF2B5EF4-FFF2-40B4-BE49-F238E27FC236}">
                <a16:creationId xmlns:a16="http://schemas.microsoft.com/office/drawing/2014/main" id="{737C856C-32B0-4C81-8226-3D6C6EB4C23E}"/>
              </a:ext>
            </a:extLst>
          </p:cNvPr>
          <p:cNvSpPr>
            <a:spLocks xmlns:a="http://schemas.openxmlformats.org/drawingml/2006/main" noGrp="1"/>
          </p:cNvSpPr>
          <p:nvPr/>
        </p:nvSpPr>
        <p:spPr>
          <a:xfrm xmlns:a="http://schemas.openxmlformats.org/drawingml/2006/main">
            <a:off x="6553200" y="4238625"/>
            <a:ext cx="5000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Trade-off</a:t>
            </a:r>
          </a:p>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Las políticas requieren</a:t>
            </a:r>
          </a:p>
          <a:p xmlns:a="http://schemas.openxmlformats.org/drawingml/2006/main">
            <a:pPr>
              <a:defRPr sz="2025" b="0">
                <a:solidFill>
                  <a:srgbClr val="A55C18"/>
                </a:solidFill>
                <a:latin typeface="Arial"/>
                <a:ea typeface="Arial"/>
                <a:cs typeface="Arial"/>
              </a:defRPr>
            </a:pPr>
            <a:r>
              <a:rPr sz="2025" b="0">
                <a:solidFill>
                  <a:srgbClr val="A55C18"/>
                </a:solidFill>
                <a:latin typeface="Arial"/>
                <a:ea typeface="Arial"/>
                <a:cs typeface="Arial"/>
              </a:rPr>
              <a:t>revisión y pruebas.</a:t>
            </a:r>
          </a:p>
        </p:txBody>
      </p:sp>
      <p:sp>
        <p:nvSpPr>
          <p:cNvPr id="10" name="">
            <a:extLst xmlns:a="http://schemas.openxmlformats.org/drawingml/2006/main">
              <a:ext uri="{FF2B5EF4-FFF2-40B4-BE49-F238E27FC236}">
                <a16:creationId xmlns:a16="http://schemas.microsoft.com/office/drawing/2014/main" id="{B78C76BC-21A6-4BCA-AD5B-40AFD09054E5}"/>
              </a:ext>
            </a:extLst>
          </p:cNvPr>
          <p:cNvSpPr>
            <a:spLocks xmlns:a="http://schemas.openxmlformats.org/drawingml/2006/main" noGrp="1"/>
          </p:cNvSpPr>
          <p:nvPr/>
        </p:nvSpPr>
        <p:spPr>
          <a:xfrm xmlns:a="http://schemas.openxmlformats.org/drawingml/2006/main">
            <a:off x="609600" y="60388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97A"/>
                </a:solidFill>
                <a:latin typeface="Arial"/>
                <a:ea typeface="Arial"/>
                <a:cs typeface="Arial"/>
              </a:defRPr>
            </a:pPr>
            <a:r>
              <a:rPr sz="1725" b="0">
                <a:solidFill>
                  <a:srgbClr val="53697A"/>
                </a:solidFill>
                <a:latin typeface="Arial"/>
                <a:ea typeface="Arial"/>
                <a:cs typeface="Arial"/>
              </a:rPr>
              <a:t>La prueba de aislamiento cubre un caso. Queda pendiente auditar todas las políticas.</a:t>
            </a:r>
          </a:p>
        </p:txBody>
      </p:sp>
    </p:spTree>
    <p:extLst>
      <p:ext uri="{BB962C8B-B14F-4D97-AF65-F5344CB8AC3E}">
        <p14:creationId xmlns:p14="http://schemas.microsoft.com/office/powerpoint/2010/main" val="5927822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F6D841-513B-48F8-A78B-276515A1ABD3}"/>
              </a:ext>
            </a:extLst>
          </p:cNvPr>
          <p:cNvSpPr>
            <a:spLocks xmlns:a="http://schemas.openxmlformats.org/drawingml/2006/main" noGrp="1"/>
          </p:cNvSpPr>
          <p:nvPr/>
        </p:nvSpPr>
        <p:spPr>
          <a:xfrm xmlns:a="http://schemas.openxmlformats.org/drawingml/2006/main">
            <a:off x="609600" y="342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8C"/>
                </a:solidFill>
                <a:latin typeface="Arial"/>
                <a:ea typeface="Arial"/>
                <a:cs typeface="Arial"/>
              </a:defRPr>
            </a:pPr>
            <a:r>
              <a:rPr sz="1350" b="1">
                <a:solidFill>
                  <a:srgbClr val="087F8C"/>
                </a:solidFill>
                <a:latin typeface="Arial"/>
                <a:ea typeface="Arial"/>
                <a:cs typeface="Arial"/>
              </a:rPr>
              <a:t>MATRIZ DE TRADE-OFFS</a:t>
            </a:r>
          </a:p>
        </p:txBody>
      </p:sp>
      <p:sp>
        <p:nvSpPr>
          <p:cNvPr id="2" name="">
            <a:extLst xmlns:a="http://schemas.openxmlformats.org/drawingml/2006/main">
              <a:ext uri="{FF2B5EF4-FFF2-40B4-BE49-F238E27FC236}">
                <a16:creationId xmlns:a16="http://schemas.microsoft.com/office/drawing/2014/main" id="{F1B718FB-711A-42DF-A1DB-44CBD9BB5340}"/>
              </a:ext>
            </a:extLst>
          </p:cNvPr>
          <p:cNvSpPr>
            <a:spLocks xmlns:a="http://schemas.openxmlformats.org/drawingml/2006/main" noGrp="1"/>
          </p:cNvSpPr>
          <p:nvPr/>
        </p:nvSpPr>
        <p:spPr>
          <a:xfrm xmlns:a="http://schemas.openxmlformats.org/drawingml/2006/main">
            <a:off x="609600" y="7620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B40"/>
                </a:solidFill>
                <a:latin typeface="Arial"/>
                <a:ea typeface="Arial"/>
                <a:cs typeface="Arial"/>
              </a:defRPr>
            </a:pPr>
            <a:r>
              <a:rPr sz="3300" b="1">
                <a:solidFill>
                  <a:srgbClr val="132B40"/>
                </a:solidFill>
                <a:latin typeface="Arial"/>
                <a:ea typeface="Arial"/>
                <a:cs typeface="Arial"/>
              </a:rPr>
              <a:t>Balance de las decisiones</a:t>
            </a:r>
          </a:p>
        </p:txBody>
      </p:sp>
      <p:sp>
        <p:nvSpPr>
          <p:cNvPr id="3" name="">
            <a:extLst xmlns:a="http://schemas.openxmlformats.org/drawingml/2006/main">
              <a:ext uri="{FF2B5EF4-FFF2-40B4-BE49-F238E27FC236}">
                <a16:creationId xmlns:a16="http://schemas.microsoft.com/office/drawing/2014/main" id="{43335413-5ACC-43B0-A029-608D00B30651}"/>
              </a:ext>
            </a:extLst>
          </p:cNvPr>
          <p:cNvSpPr>
            <a:spLocks xmlns:a="http://schemas.openxmlformats.org/drawingml/2006/main" noGrp="1"/>
          </p:cNvSpPr>
          <p:nvPr/>
        </p:nvSpPr>
        <p:spPr>
          <a:xfrm xmlns:a="http://schemas.openxmlformats.org/drawingml/2006/main">
            <a:off x="11049000" y="633412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97A"/>
                </a:solidFill>
                <a:latin typeface="Arial"/>
                <a:ea typeface="Arial"/>
                <a:cs typeface="Arial"/>
              </a:defRPr>
            </a:pPr>
            <a:r>
              <a:rPr sz="1200" b="0">
                <a:solidFill>
                  <a:srgbClr val="53697A"/>
                </a:solidFill>
                <a:latin typeface="Arial"/>
                <a:ea typeface="Arial"/>
                <a:cs typeface="Arial"/>
              </a:rPr>
              <a:t>08</a:t>
            </a:r>
          </a:p>
        </p:txBody>
      </p:sp>
      <p:graphicFrame>
        <p:nvGraphicFramePr>
          <p:cNvPr id="10" name=""/>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a:tblGrid>
                <a:gridCol w="2095500"/>
                <a:gridCol w="4143375"/>
                <a:gridCol w="4733925"/>
              </a:tblGrid>
              <a:tr h="590550">
                <a:tc>
                  <a:txBody>
                    <a:bodyPr/>
                    <a:lstStyle/>
                    <a:p>
                      <a:r>
                        <a:rPr sz="1650" b="1">
                          <a:solidFill>
                            <a:srgbClr val="FFFFFF"/>
                          </a:solidFill>
                          <a:latin typeface="Arial"/>
                          <a:ea typeface="Arial"/>
                          <a:cs typeface="Arial"/>
                        </a:rPr>
                        <a:t>Decisión</a:t>
                      </a:r>
                    </a:p>
                  </a:txBody>
                  <a:tcPr marL="142875" marR="142875" marT="142875" marB="142875" anchor="ctr">
                    <a:solidFill>
                      <a:srgbClr val="132B40"/>
                    </a:solidFill>
                  </a:tcPr>
                </a:tc>
                <a:tc>
                  <a:txBody>
                    <a:bodyPr/>
                    <a:lstStyle/>
                    <a:p>
                      <a:r>
                        <a:rPr sz="1650" b="1">
                          <a:solidFill>
                            <a:srgbClr val="FFFFFF"/>
                          </a:solidFill>
                          <a:latin typeface="Arial"/>
                          <a:ea typeface="Arial"/>
                          <a:cs typeface="Arial"/>
                        </a:rPr>
                        <a:t>Beneficio</a:t>
                      </a:r>
                    </a:p>
                  </a:txBody>
                  <a:tcPr marL="142875" marR="142875" marT="142875" marB="142875" anchor="ctr">
                    <a:solidFill>
                      <a:srgbClr val="132B40"/>
                    </a:solidFill>
                  </a:tcPr>
                </a:tc>
                <a:tc>
                  <a:txBody>
                    <a:bodyPr/>
                    <a:lstStyle/>
                    <a:p>
                      <a:r>
                        <a:rPr sz="1650" b="1">
                          <a:solidFill>
                            <a:srgbClr val="FFFFFF"/>
                          </a:solidFill>
                          <a:latin typeface="Arial"/>
                          <a:ea typeface="Arial"/>
                          <a:cs typeface="Arial"/>
                        </a:rPr>
                        <a:t>Costo o riesgo</a:t>
                      </a:r>
                    </a:p>
                  </a:txBody>
                  <a:tcPr marL="142875" marR="142875" marT="142875" marB="142875" anchor="ctr">
                    <a:solidFill>
                      <a:srgbClr val="132B40"/>
                    </a:solidFill>
                  </a:tcPr>
                </a:tc>
              </a:tr>
              <a:tr h="733425">
                <a:tc>
                  <a:txBody>
                    <a:bodyPr/>
                    <a:lstStyle/>
                    <a:p>
                      <a:r>
                        <a:rPr sz="1875" b="1">
                          <a:solidFill>
                            <a:srgbClr val="193144"/>
                          </a:solidFill>
                          <a:latin typeface="Arial"/>
                          <a:ea typeface="Arial"/>
                          <a:cs typeface="Arial"/>
                        </a:rPr>
                        <a:t>Capas</a:t>
                      </a:r>
                    </a:p>
                  </a:txBody>
                  <a:tcPr marL="142875" marR="142875" marT="142875" marB="142875" anchor="ctr">
                    <a:solidFill>
                      <a:srgbClr val="F3F6F8"/>
                    </a:solidFill>
                  </a:tcPr>
                </a:tc>
                <a:tc>
                  <a:txBody>
                    <a:bodyPr/>
                    <a:lstStyle/>
                    <a:p>
                      <a:r>
                        <a:rPr sz="1875" b="0">
                          <a:solidFill>
                            <a:srgbClr val="193144"/>
                          </a:solidFill>
                          <a:latin typeface="Arial"/>
                          <a:ea typeface="Arial"/>
                          <a:cs typeface="Arial"/>
                        </a:rPr>
                        <a:t>Comprensión y mantenimiento</a:t>
                      </a:r>
                    </a:p>
                  </a:txBody>
                  <a:tcPr marL="142875" marR="142875" marT="142875" marB="142875" anchor="ctr">
                    <a:solidFill>
                      <a:srgbClr val="F3F6F8"/>
                    </a:solidFill>
                  </a:tcPr>
                </a:tc>
                <a:tc>
                  <a:txBody>
                    <a:bodyPr/>
                    <a:lstStyle/>
                    <a:p>
                      <a:r>
                        <a:rPr sz="1875" b="0">
                          <a:solidFill>
                            <a:srgbClr val="193144"/>
                          </a:solidFill>
                          <a:latin typeface="Arial"/>
                          <a:ea typeface="Arial"/>
                          <a:cs typeface="Arial"/>
                        </a:rPr>
                        <a:t>Conservar la separación</a:t>
                      </a:r>
                    </a:p>
                  </a:txBody>
                  <a:tcPr marL="142875" marR="142875" marT="142875" marB="142875" anchor="ctr">
                    <a:solidFill>
                      <a:srgbClr val="F3F6F8"/>
                    </a:solidFill>
                  </a:tcPr>
                </a:tc>
              </a:tr>
              <a:tr h="733425">
                <a:tc>
                  <a:txBody>
                    <a:bodyPr/>
                    <a:lstStyle/>
                    <a:p>
                      <a:r>
                        <a:rPr sz="1875" b="1">
                          <a:solidFill>
                            <a:srgbClr val="193144"/>
                          </a:solidFill>
                          <a:latin typeface="Arial"/>
                          <a:ea typeface="Arial"/>
                          <a:cs typeface="Arial"/>
                        </a:rPr>
                        <a:t>Supabase</a:t>
                      </a:r>
                    </a:p>
                  </a:txBody>
                  <a:tcPr marL="142875" marR="142875" marT="142875" marB="142875" anchor="ctr">
                    <a:solidFill>
                      <a:srgbClr val="E9F4F3"/>
                    </a:solidFill>
                  </a:tcPr>
                </a:tc>
                <a:tc>
                  <a:txBody>
                    <a:bodyPr/>
                    <a:lstStyle/>
                    <a:p>
                      <a:r>
                        <a:rPr sz="1875" b="0">
                          <a:solidFill>
                            <a:srgbClr val="193144"/>
                          </a:solidFill>
                          <a:latin typeface="Arial"/>
                          <a:ea typeface="Arial"/>
                          <a:cs typeface="Arial"/>
                        </a:rPr>
                        <a:t>Menor trabajo de desarrollo</a:t>
                      </a:r>
                    </a:p>
                  </a:txBody>
                  <a:tcPr marL="142875" marR="142875" marT="142875" marB="142875" anchor="ctr">
                    <a:solidFill>
                      <a:srgbClr val="E9F4F3"/>
                    </a:solidFill>
                  </a:tcPr>
                </a:tc>
                <a:tc>
                  <a:txBody>
                    <a:bodyPr/>
                    <a:lstStyle/>
                    <a:p>
                      <a:r>
                        <a:rPr sz="1875" b="0">
                          <a:solidFill>
                            <a:srgbClr val="193144"/>
                          </a:solidFill>
                          <a:latin typeface="Arial"/>
                          <a:ea typeface="Arial"/>
                          <a:cs typeface="Arial"/>
                        </a:rPr>
                        <a:t>Dependencia externa</a:t>
                      </a:r>
                    </a:p>
                  </a:txBody>
                  <a:tcPr marL="142875" marR="142875" marT="142875" marB="142875" anchor="ctr">
                    <a:solidFill>
                      <a:srgbClr val="E9F4F3"/>
                    </a:solidFill>
                  </a:tcPr>
                </a:tc>
              </a:tr>
              <a:tr h="733425">
                <a:tc>
                  <a:txBody>
                    <a:bodyPr/>
                    <a:lstStyle/>
                    <a:p>
                      <a:r>
                        <a:rPr sz="1875" b="1">
                          <a:solidFill>
                            <a:srgbClr val="193144"/>
                          </a:solidFill>
                          <a:latin typeface="Arial"/>
                          <a:ea typeface="Arial"/>
                          <a:cs typeface="Arial"/>
                        </a:rPr>
                        <a:t>RLS</a:t>
                      </a:r>
                    </a:p>
                  </a:txBody>
                  <a:tcPr marL="142875" marR="142875" marT="142875" marB="142875" anchor="ctr">
                    <a:solidFill>
                      <a:srgbClr val="F3F6F8"/>
                    </a:solidFill>
                  </a:tcPr>
                </a:tc>
                <a:tc>
                  <a:txBody>
                    <a:bodyPr/>
                    <a:lstStyle/>
                    <a:p>
                      <a:r>
                        <a:rPr sz="1875" b="0">
                          <a:solidFill>
                            <a:srgbClr val="193144"/>
                          </a:solidFill>
                          <a:latin typeface="Arial"/>
                          <a:ea typeface="Arial"/>
                          <a:cs typeface="Arial"/>
                        </a:rPr>
                        <a:t>Control de acceso en la base</a:t>
                      </a:r>
                    </a:p>
                  </a:txBody>
                  <a:tcPr marL="142875" marR="142875" marT="142875" marB="142875" anchor="ctr">
                    <a:solidFill>
                      <a:srgbClr val="F3F6F8"/>
                    </a:solidFill>
                  </a:tcPr>
                </a:tc>
                <a:tc>
                  <a:txBody>
                    <a:bodyPr/>
                    <a:lstStyle/>
                    <a:p>
                      <a:r>
                        <a:rPr sz="1875" b="0">
                          <a:solidFill>
                            <a:srgbClr val="193144"/>
                          </a:solidFill>
                          <a:latin typeface="Arial"/>
                          <a:ea typeface="Arial"/>
                          <a:cs typeface="Arial"/>
                        </a:rPr>
                        <a:t>Políticas mal configuradas</a:t>
                      </a:r>
                    </a:p>
                  </a:txBody>
                  <a:tcPr marL="142875" marR="142875" marT="142875" marB="142875" anchor="ctr">
                    <a:solidFill>
                      <a:srgbClr val="F3F6F8"/>
                    </a:solidFill>
                  </a:tcPr>
                </a:tc>
              </a:tr>
              <a:tr h="733425">
                <a:tc>
                  <a:txBody>
                    <a:bodyPr/>
                    <a:lstStyle/>
                    <a:p>
                      <a:r>
                        <a:rPr sz="1875" b="1">
                          <a:solidFill>
                            <a:srgbClr val="193144"/>
                          </a:solidFill>
                          <a:latin typeface="Arial"/>
                          <a:ea typeface="Arial"/>
                          <a:cs typeface="Arial"/>
                        </a:rPr>
                        <a:t>Monolito</a:t>
                      </a:r>
                    </a:p>
                  </a:txBody>
                  <a:tcPr marL="142875" marR="142875" marT="142875" marB="142875" anchor="ctr">
                    <a:solidFill>
                      <a:srgbClr val="E9F4F3"/>
                    </a:solidFill>
                  </a:tcPr>
                </a:tc>
                <a:tc>
                  <a:txBody>
                    <a:bodyPr/>
                    <a:lstStyle/>
                    <a:p>
                      <a:r>
                        <a:rPr sz="1875" b="0">
                          <a:solidFill>
                            <a:srgbClr val="193144"/>
                          </a:solidFill>
                          <a:latin typeface="Arial"/>
                          <a:ea typeface="Arial"/>
                          <a:cs typeface="Arial"/>
                        </a:rPr>
                        <a:t>Menor complejidad operativa</a:t>
                      </a:r>
                    </a:p>
                  </a:txBody>
                  <a:tcPr marL="142875" marR="142875" marT="142875" marB="142875" anchor="ctr">
                    <a:solidFill>
                      <a:srgbClr val="E9F4F3"/>
                    </a:solidFill>
                  </a:tcPr>
                </a:tc>
                <a:tc>
                  <a:txBody>
                    <a:bodyPr/>
                    <a:lstStyle/>
                    <a:p>
                      <a:r>
                        <a:rPr sz="1875" b="0">
                          <a:solidFill>
                            <a:srgbClr val="193144"/>
                          </a:solidFill>
                          <a:latin typeface="Arial"/>
                          <a:ea typeface="Arial"/>
                          <a:cs typeface="Arial"/>
                        </a:rPr>
                        <a:t>Despliegue conjunto</a:t>
                      </a:r>
                    </a:p>
                  </a:txBody>
                  <a:tcPr marL="142875" marR="142875" marT="142875" marB="142875" anchor="ctr">
                    <a:solidFill>
                      <a:srgbClr val="E9F4F3"/>
                    </a:solidFill>
                  </a:tcPr>
                </a:tc>
              </a:tr>
            </a:tbl>
          </a:graphicData>
        </a:graphic>
      </p:graphicFrame>
      <p:sp>
        <p:nvSpPr>
          <p:cNvPr id="5" name="">
            <a:extLst xmlns:a="http://schemas.openxmlformats.org/drawingml/2006/main">
              <a:ext uri="{FF2B5EF4-FFF2-40B4-BE49-F238E27FC236}">
                <a16:creationId xmlns:a16="http://schemas.microsoft.com/office/drawing/2014/main" id="{C60B0C84-A7A3-422A-B57E-AB4090574382}"/>
              </a:ext>
            </a:extLst>
          </p:cNvPr>
          <p:cNvSpPr>
            <a:spLocks xmlns:a="http://schemas.openxmlformats.org/drawingml/2006/main" noGrp="1"/>
          </p:cNvSpPr>
          <p:nvPr/>
        </p:nvSpPr>
        <p:spPr>
          <a:xfrm xmlns:a="http://schemas.openxmlformats.org/drawingml/2006/main">
            <a:off x="609600" y="55530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El equipo confirmó las cuatro decisiones para el alcance actual.</a:t>
            </a:r>
          </a:p>
        </p:txBody>
      </p:sp>
      <p:sp>
        <p:nvSpPr>
          <p:cNvPr id="6" name="">
            <a:extLst xmlns:a="http://schemas.openxmlformats.org/drawingml/2006/main">
              <a:ext uri="{FF2B5EF4-FFF2-40B4-BE49-F238E27FC236}">
                <a16:creationId xmlns:a16="http://schemas.microsoft.com/office/drawing/2014/main" id="{9FF1B5AB-0C3F-4B88-AE12-E73E5252A1A6}"/>
              </a:ext>
            </a:extLst>
          </p:cNvPr>
          <p:cNvSpPr>
            <a:spLocks xmlns:a="http://schemas.openxmlformats.org/drawingml/2006/main" noGrp="1"/>
          </p:cNvSpPr>
          <p:nvPr/>
        </p:nvSpPr>
        <p:spPr>
          <a:xfrm xmlns:a="http://schemas.openxmlformats.org/drawingml/2006/main">
            <a:off x="609600" y="61150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97A"/>
                </a:solidFill>
                <a:latin typeface="Arial"/>
                <a:ea typeface="Arial"/>
                <a:cs typeface="Arial"/>
              </a:defRPr>
            </a:pPr>
            <a:r>
              <a:rPr sz="1875" b="0">
                <a:solidFill>
                  <a:srgbClr val="53697A"/>
                </a:solidFill>
                <a:latin typeface="Arial"/>
                <a:ea typeface="Arial"/>
                <a:cs typeface="Arial"/>
              </a:rPr>
              <a:t>Siguiente parte: pruebas, resultados y límites de la evidencia.</a:t>
            </a:r>
          </a:p>
        </p:txBody>
      </p:sp>
    </p:spTree>
    <p:extLst>
      <p:ext uri="{BB962C8B-B14F-4D97-AF65-F5344CB8AC3E}">
        <p14:creationId xmlns:p14="http://schemas.microsoft.com/office/powerpoint/2010/main" val="908591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2026-09-19T00:36:32.5440000Z</dcterms:created>
  <dcterms:modified xsi:type="dcterms:W3CDTF">2026-09-19T00:36:32.5440000Z</dcterms:modified>
</coreProperties>
</file>