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28f54a0a2764a81" /><Relationship Type="http://schemas.openxmlformats.org/officeDocument/2006/relationships/extended-properties" Target="/docProps/app.xml" Id="Re8dd3ecf16da480d" /><Relationship Type="http://schemas.openxmlformats.org/officeDocument/2006/relationships/officeDocument" Target="/ppt/presentation.xml" Id="R52c4c5f34303487d" /></Relationships>
</file>

<file path=ppt/presentation.xml><?xml version="1.0" encoding="utf-8"?>
<p:presentation xmlns:p="http://schemas.openxmlformats.org/presentationml/2006/main">
  <p:sldMasterIdLst>
    <p:sldMasterId xmlns:r="http://schemas.openxmlformats.org/officeDocument/2006/relationships" id="2147483648" r:id="R078b4a2d40ef48fd"/>
  </p:sldMasterIdLst>
  <p:notesMasterIdLst>
    <p:notesMasterId xmlns:r="http://schemas.openxmlformats.org/officeDocument/2006/relationships" r:id="R9ba8d6e3ffd34bd1"/>
  </p:notesMasterIdLst>
  <p:sldIdLst>
    <p:sldId xmlns:r="http://schemas.openxmlformats.org/officeDocument/2006/relationships" id="256" r:id="Rac86296c6d254a06"/>
    <p:sldId xmlns:r="http://schemas.openxmlformats.org/officeDocument/2006/relationships" id="257" r:id="R786c1962dd1b43fa"/>
    <p:sldId xmlns:r="http://schemas.openxmlformats.org/officeDocument/2006/relationships" id="258" r:id="R36fba1fc7cb14f0a"/>
    <p:sldId xmlns:r="http://schemas.openxmlformats.org/officeDocument/2006/relationships" id="259" r:id="R786b6630a98243f6"/>
    <p:sldId xmlns:r="http://schemas.openxmlformats.org/officeDocument/2006/relationships" id="260" r:id="R077f1f2989fb42f5"/>
    <p:sldId xmlns:r="http://schemas.openxmlformats.org/officeDocument/2006/relationships" id="261" r:id="Rbaae6f1109b945df"/>
    <p:sldId xmlns:r="http://schemas.openxmlformats.org/officeDocument/2006/relationships" id="262" r:id="R75978dd9eb2a4e37"/>
    <p:sldId xmlns:r="http://schemas.openxmlformats.org/officeDocument/2006/relationships" id="263" r:id="Rda9dad8fe9314255"/>
    <p:sldId xmlns:r="http://schemas.openxmlformats.org/officeDocument/2006/relationships" id="264" r:id="R58ecbb9627064abb"/>
    <p:sldId xmlns:r="http://schemas.openxmlformats.org/officeDocument/2006/relationships" id="265" r:id="Rcc849f0455674d54"/>
    <p:sldId xmlns:r="http://schemas.openxmlformats.org/officeDocument/2006/relationships" id="266" r:id="Re5fc24c2a19e4cbc"/>
    <p:sldId xmlns:r="http://schemas.openxmlformats.org/officeDocument/2006/relationships" id="267" r:id="R9d750dcb56374a36"/>
    <p:sldId xmlns:r="http://schemas.openxmlformats.org/officeDocument/2006/relationships" id="268" r:id="R535f71637d81442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2d3af83f46446e9" /><Relationship Type="http://schemas.openxmlformats.org/officeDocument/2006/relationships/slideMaster" Target="/ppt/slideMasters/slideMaster1.xml" Id="R078b4a2d40ef48fd" /><Relationship Type="http://schemas.openxmlformats.org/officeDocument/2006/relationships/notesMaster" Target="/ppt/notesMasters/notesMaster1.xml" Id="R9ba8d6e3ffd34bd1" /><Relationship Type="http://schemas.openxmlformats.org/officeDocument/2006/relationships/presProps" Target="/ppt/presProps.xml" Id="R656bba5cf9db46eb" /><Relationship Type="http://schemas.openxmlformats.org/officeDocument/2006/relationships/tableStyles" Target="/ppt/tableStyles.xml" Id="Rc45d6829d7e9418e" /><Relationship Type="http://schemas.openxmlformats.org/officeDocument/2006/relationships/slide" Target="/ppt/slides/slide1.xml" Id="Rac86296c6d254a06" /><Relationship Type="http://schemas.openxmlformats.org/officeDocument/2006/relationships/slide" Target="/ppt/slides/slide2.xml" Id="R786c1962dd1b43fa" /><Relationship Type="http://schemas.openxmlformats.org/officeDocument/2006/relationships/slide" Target="/ppt/slides/slide3.xml" Id="R36fba1fc7cb14f0a" /><Relationship Type="http://schemas.openxmlformats.org/officeDocument/2006/relationships/slide" Target="/ppt/slides/slide4.xml" Id="R786b6630a98243f6" /><Relationship Type="http://schemas.openxmlformats.org/officeDocument/2006/relationships/slide" Target="/ppt/slides/slide5.xml" Id="R077f1f2989fb42f5" /><Relationship Type="http://schemas.openxmlformats.org/officeDocument/2006/relationships/slide" Target="/ppt/slides/slide6.xml" Id="Rbaae6f1109b945df" /><Relationship Type="http://schemas.openxmlformats.org/officeDocument/2006/relationships/slide" Target="/ppt/slides/slide7.xml" Id="R75978dd9eb2a4e37" /><Relationship Type="http://schemas.openxmlformats.org/officeDocument/2006/relationships/slide" Target="/ppt/slides/slide8.xml" Id="Rda9dad8fe9314255" /><Relationship Type="http://schemas.openxmlformats.org/officeDocument/2006/relationships/slide" Target="/ppt/slides/slide9.xml" Id="R58ecbb9627064abb" /><Relationship Type="http://schemas.openxmlformats.org/officeDocument/2006/relationships/slide" Target="/ppt/slides/slide10.xml" Id="Rcc849f0455674d54" /><Relationship Type="http://schemas.openxmlformats.org/officeDocument/2006/relationships/slide" Target="/ppt/slides/slide11.xml" Id="Re5fc24c2a19e4cbc" /><Relationship Type="http://schemas.openxmlformats.org/officeDocument/2006/relationships/slide" Target="/ppt/slides/slide12.xml" Id="R9d750dcb56374a36" /><Relationship Type="http://schemas.openxmlformats.org/officeDocument/2006/relationships/slide" Target="/ppt/slides/slide13.xml" Id="R535f71637d81442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8ac469ff6bd408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7c317897e7a4430" /><Relationship Type="http://schemas.openxmlformats.org/officeDocument/2006/relationships/notesMaster" Target="/ppt/notesMasters/notesMaster1.xml" Id="R4db5a746a6cd468a" /></Relationships>
</file>

<file path=ppt/notesSlides/_rels/notesSlide2.xml.rels>&#65279;<?xml version="1.0" encoding="utf-8"?><Relationships xmlns="http://schemas.openxmlformats.org/package/2006/relationships"><Relationship Type="http://schemas.openxmlformats.org/officeDocument/2006/relationships/slide" Target="/ppt/slides/slide2.xml" Id="R63cb53a167284558" /><Relationship Type="http://schemas.openxmlformats.org/officeDocument/2006/relationships/notesMaster" Target="/ppt/notesMasters/notesMaster1.xml" Id="R5a268600a3504bf9" /></Relationships>
</file>

<file path=ppt/notesSlides/_rels/notesSlide3.xml.rels>&#65279;<?xml version="1.0" encoding="utf-8"?><Relationships xmlns="http://schemas.openxmlformats.org/package/2006/relationships"><Relationship Type="http://schemas.openxmlformats.org/officeDocument/2006/relationships/slide" Target="/ppt/slides/slide3.xml" Id="R0c2d9e7af3074403" /><Relationship Type="http://schemas.openxmlformats.org/officeDocument/2006/relationships/notesMaster" Target="/ppt/notesMasters/notesMaster1.xml" Id="R87180c3194b9494f" /></Relationships>
</file>

<file path=ppt/notesSlides/_rels/notesSlide4.xml.rels>&#65279;<?xml version="1.0" encoding="utf-8"?><Relationships xmlns="http://schemas.openxmlformats.org/package/2006/relationships"><Relationship Type="http://schemas.openxmlformats.org/officeDocument/2006/relationships/slide" Target="/ppt/slides/slide4.xml" Id="Rc544475121d64174" /><Relationship Type="http://schemas.openxmlformats.org/officeDocument/2006/relationships/notesMaster" Target="/ppt/notesMasters/notesMaster1.xml" Id="R196cc2d8321f484f" /></Relationships>
</file>

<file path=ppt/notesSlides/_rels/notesSlide5.xml.rels>&#65279;<?xml version="1.0" encoding="utf-8"?><Relationships xmlns="http://schemas.openxmlformats.org/package/2006/relationships"><Relationship Type="http://schemas.openxmlformats.org/officeDocument/2006/relationships/slide" Target="/ppt/slides/slide5.xml" Id="Rec8a392e440a43fe" /><Relationship Type="http://schemas.openxmlformats.org/officeDocument/2006/relationships/notesMaster" Target="/ppt/notesMasters/notesMaster1.xml" Id="R8f35f7e6bf7c4d5c" /></Relationships>
</file>

<file path=ppt/notesSlides/_rels/notesSlide6.xml.rels>&#65279;<?xml version="1.0" encoding="utf-8"?><Relationships xmlns="http://schemas.openxmlformats.org/package/2006/relationships"><Relationship Type="http://schemas.openxmlformats.org/officeDocument/2006/relationships/slide" Target="/ppt/slides/slide6.xml" Id="R5a157652119f4a8a" /><Relationship Type="http://schemas.openxmlformats.org/officeDocument/2006/relationships/notesMaster" Target="/ppt/notesMasters/notesMaster1.xml" Id="Ra14c828cef0b43c0" /></Relationships>
</file>

<file path=ppt/notesSlides/_rels/notesSlide7.xml.rels>&#65279;<?xml version="1.0" encoding="utf-8"?><Relationships xmlns="http://schemas.openxmlformats.org/package/2006/relationships"><Relationship Type="http://schemas.openxmlformats.org/officeDocument/2006/relationships/slide" Target="/ppt/slides/slide7.xml" Id="R11b8be1b82714efa" /><Relationship Type="http://schemas.openxmlformats.org/officeDocument/2006/relationships/notesMaster" Target="/ppt/notesMasters/notesMaster1.xml" Id="Rdb7f1c555caf41cd" /></Relationships>
</file>

<file path=ppt/notesSlides/_rels/notesSlide8.xml.rels>&#65279;<?xml version="1.0" encoding="utf-8"?><Relationships xmlns="http://schemas.openxmlformats.org/package/2006/relationships"><Relationship Type="http://schemas.openxmlformats.org/officeDocument/2006/relationships/slide" Target="/ppt/slides/slide8.xml" Id="R0f1aa95dafef4862" /><Relationship Type="http://schemas.openxmlformats.org/officeDocument/2006/relationships/notesMaster" Target="/ppt/notesMasters/notesMaster1.xml" Id="Rcb97703a2ad64995" /></Relationships>
</file>

<file path=ppt/notesSlides/_rels/notesSlide9.xml.rels>&#65279;<?xml version="1.0" encoding="utf-8"?><Relationships xmlns="http://schemas.openxmlformats.org/package/2006/relationships"><Relationship Type="http://schemas.openxmlformats.org/officeDocument/2006/relationships/slide" Target="/ppt/slides/slide9.xml" Id="R0f3dc1a9b9ed4b2c" /><Relationship Type="http://schemas.openxmlformats.org/officeDocument/2006/relationships/notesMaster" Target="/ppt/notesMasters/notesMaster1.xml" Id="Rf393f1ff60c3459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57593bc945c4bd6" /><Relationship Type="http://schemas.openxmlformats.org/officeDocument/2006/relationships/notesMaster" Target="/ppt/notesMasters/notesMaster1.xml" Id="R2fb2d008a47c4de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939577940ab400d" /><Relationship Type="http://schemas.openxmlformats.org/officeDocument/2006/relationships/notesMaster" Target="/ppt/notesMasters/notesMaster1.xml" Id="Rdcac9b087f1941e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50a9de35fc942e8" /><Relationship Type="http://schemas.openxmlformats.org/officeDocument/2006/relationships/notesMaster" Target="/ppt/notesMasters/notesMaster1.xml" Id="Rc30fa4ba0f1e471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ef187bb621d4ff2" /><Relationship Type="http://schemas.openxmlformats.org/officeDocument/2006/relationships/notesMaster" Target="/ppt/notesMasters/notesMaster1.xml" Id="R026790c0b8c94af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EXPOSICIÓN PRINCIPAL</a:t>
            </a:r>
          </a:p>
          <a:p xmlns:a="http://schemas.openxmlformats.org/drawingml/2006/main">
            <a:r>
              <a:t>Tiempo sugerido: 15 segundos</a:t>
            </a:r>
          </a:p>
          <a:p xmlns:a="http://schemas.openxmlformats.org/drawingml/2006/main">
            <a:r>
              <a:t/>
            </a:r>
          </a:p>
          <a:p xmlns:a="http://schemas.openxmlformats.org/drawingml/2006/main">
            <a:r>
              <a:t>QUÉ DECIR</a:t>
            </a:r>
          </a:p>
          <a:p xmlns:a="http://schemas.openxmlformats.org/drawingml/2006/main">
            <a:r>
              <a:t>Buenos días. Soy Carlos Correa. Voy a explicar qué resuelve Nexo CRM y cómo lo construimos. Para hacerlo concreto, seguiremos una oportunidad de venta y veremos qué decisiones arquitectónicas permiten gestionarla.</a:t>
            </a:r>
          </a:p>
          <a:p xmlns:a="http://schemas.openxmlformats.org/drawingml/2006/main">
            <a:r>
              <a:t/>
            </a:r>
          </a:p>
          <a:p xmlns:a="http://schemas.openxmlformats.org/drawingml/2006/main">
            <a:r>
              <a:t>SI TE PREGUNTAN</a:t>
            </a:r>
          </a:p>
          <a:p xmlns:a="http://schemas.openxmlformats.org/drawingml/2006/main">
            <a:r>
              <a:t>Las diapositivas 1 a 10 componen el recorrido principal, de aproximadamente 6 minutos y 25 segundos. Las tres últimas son apoyo opcional. Los nombres y la negociación del ejemplo son ficticios.</a:t>
            </a:r>
          </a:p>
          <a:p xmlns:a="http://schemas.openxmlformats.org/drawingml/2006/main">
            <a:r>
              <a:t/>
            </a:r>
          </a:p>
          <a:p xmlns:a="http://schemas.openxmlformats.org/drawingml/2006/main">
            <a:r>
              <a:t>FUENTES</a:t>
            </a:r>
          </a:p>
          <a:p xmlns:a="http://schemas.openxmlformats.org/drawingml/2006/main">
            <a:r>
              <a:t>https://github.com/Felipe7774/NEXUS/blob/b46acb2/dossier/17-preparacion-defensa.md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EXPOSICIÓN PRINCIPAL</a:t>
            </a:r>
          </a:p>
          <a:p xmlns:a="http://schemas.openxmlformats.org/drawingml/2006/main">
            <a:r>
              <a:t>Tiempo sugerido: 45 segundos</a:t>
            </a:r>
          </a:p>
          <a:p xmlns:a="http://schemas.openxmlformats.org/drawingml/2006/main">
            <a:r>
              <a:t/>
            </a:r>
          </a:p>
          <a:p xmlns:a="http://schemas.openxmlformats.org/drawingml/2006/main">
            <a:r>
              <a:t>QUÉ DECIR</a:t>
            </a:r>
          </a:p>
          <a:p xmlns:a="http://schemas.openxmlformats.org/drawingml/2006/main">
            <a:r>
              <a:t>Imaginemos que Diana vende veinte licencias a Distribuidora Andina. Laura es la persona de compras, la propuesta ya fue enviada y Diana necesita llamar el viernes para conocer la decisión. Empresa, contacto, oportunidad y actividad son registros distintos, pero están relacionados. Si esa información queda repartida entre notas y archivos separados, cuesta saber quién atiende al cliente, en qué etapa va la venta y qué sigue. Nexo CRM permite consultar esos elementos desde la misma aplicación. El pipeline organiza las oportunidades por etapas, y las actividades registran el seguimiento. Es un ejemplo ficticio que representa funcionalidades existentes.</a:t>
            </a:r>
          </a:p>
          <a:p xmlns:a="http://schemas.openxmlformats.org/drawingml/2006/main">
            <a:r>
              <a:t/>
            </a:r>
          </a:p>
          <a:p xmlns:a="http://schemas.openxmlformats.org/drawingml/2006/main">
            <a:r>
              <a:t>SI TE PREGUNTAN</a:t>
            </a:r>
          </a:p>
          <a:p xmlns:a="http://schemas.openxmlformats.org/drawingml/2006/main">
            <a:r>
              <a:t>Una oportunidad es una negociación concreta. Un contacto es una persona. Una empresa puede tener varias personas y varias oportunidades. Registrar una actividad tipo correo no demuestra que el sistema envíe emails automáticamente.</a:t>
            </a:r>
          </a:p>
          <a:p xmlns:a="http://schemas.openxmlformats.org/drawingml/2006/main">
            <a:r>
              <a:t/>
            </a:r>
          </a:p>
          <a:p xmlns:a="http://schemas.openxmlformats.org/drawingml/2006/main">
            <a:r>
              <a:t>FUENTES</a:t>
            </a:r>
          </a:p>
          <a:p xmlns:a="http://schemas.openxmlformats.org/drawingml/2006/main">
            <a:r>
              <a:t>https://github.com/Felipe7774/NEXUS/blob/b46acb2/src/lib/crm.ts</a:t>
            </a:r>
          </a:p>
          <a:p xmlns:a="http://schemas.openxmlformats.org/drawingml/2006/main">
            <a:r>
              <a:t>https://github.com/Felipe7774/NEXUS/blob/b46acb2/src/components/crm/deal-dialog.tsx</a:t>
            </a:r>
          </a:p>
          <a:p xmlns:a="http://schemas.openxmlformats.org/drawingml/2006/main">
            <a:r>
              <a:t>https://github.com/Felipe7774/NEXUS/blob/b46acb2/src/components/crm/activity-dialog.tsx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EXPOSICIÓN PRINCIPAL</a:t>
            </a:r>
          </a:p>
          <a:p xmlns:a="http://schemas.openxmlformats.org/drawingml/2006/main">
            <a:r>
              <a:t>Tiempo sugerido: 35 segundos</a:t>
            </a:r>
          </a:p>
          <a:p xmlns:a="http://schemas.openxmlformats.org/drawingml/2006/main">
            <a:r>
              <a:t/>
            </a:r>
          </a:p>
          <a:p xmlns:a="http://schemas.openxmlformats.org/drawingml/2006/main">
            <a:r>
              <a:t>QUÉ DECIR</a:t>
            </a:r>
          </a:p>
          <a:p xmlns:a="http://schemas.openxmlformats.org/drawingml/2006/main">
            <a:r>
              <a:t>La vista de contexto muestra quién utiliza Nexo y de qué servicios depende. Diana, como vendedora, registra la información y sus seguimientos. El gerente consulta el pipeline y los reportes. El administrador accede a la configuración. Supabase aparece como dependencia externa porque proporciona autenticación y almacenamiento. Las responsabilidades de los roles no significan que toda persona vea todos los datos. Las políticas determinan el acceso efectivo. Esta vista ayuda al docente a entender el alcance antes de discutir detalles internos.</a:t>
            </a:r>
          </a:p>
          <a:p xmlns:a="http://schemas.openxmlformats.org/drawingml/2006/main">
            <a:r>
              <a:t/>
            </a:r>
          </a:p>
          <a:p xmlns:a="http://schemas.openxmlformats.org/drawingml/2006/main">
            <a:r>
              <a:t>SI TE PREGUNTAN</a:t>
            </a:r>
          </a:p>
          <a:p xmlns:a="http://schemas.openxmlformats.org/drawingml/2006/main">
            <a:r>
              <a:t>La pantalla actual de configuración muestra usuarios y etapas. No presento como implementados formularios administrativos que no aparecen en ese código. El alojamiento se muestra en el Nivel 2.</a:t>
            </a:r>
          </a:p>
          <a:p xmlns:a="http://schemas.openxmlformats.org/drawingml/2006/main">
            <a:r>
              <a:t/>
            </a:r>
          </a:p>
          <a:p xmlns:a="http://schemas.openxmlformats.org/drawingml/2006/main">
            <a:r>
              <a:t>FUENTES</a:t>
            </a:r>
          </a:p>
          <a:p xmlns:a="http://schemas.openxmlformats.org/drawingml/2006/main">
            <a:r>
              <a:t>https://github.com/Felipe7774/NEXUS/blob/b46acb2/dossier/modeloc4-nivel.md</a:t>
            </a:r>
          </a:p>
          <a:p xmlns:a="http://schemas.openxmlformats.org/drawingml/2006/main">
            <a:r>
              <a:t>https://github.com/Felipe7774/NEXUS/blob/b46acb2/src/hooks/use-auth.ts</a:t>
            </a:r>
          </a:p>
          <a:p xmlns:a="http://schemas.openxmlformats.org/drawingml/2006/main">
            <a:r>
              <a:t>https://github.com/Felipe7774/NEXUS/blob/b46acb2/src/routes/_authenticated/settings.tsx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EXPOSICIÓN PRINCIPAL</a:t>
            </a:r>
          </a:p>
          <a:p xmlns:a="http://schemas.openxmlformats.org/drawingml/2006/main">
            <a:r>
              <a:t>Tiempo sugerido: 45 segundos</a:t>
            </a:r>
          </a:p>
          <a:p xmlns:a="http://schemas.openxmlformats.org/drawingml/2006/main">
            <a:r>
              <a:t/>
            </a:r>
          </a:p>
          <a:p xmlns:a="http://schemas.openxmlformats.org/drawingml/2006/main">
            <a:r>
              <a:t>QUÉ DECIR</a:t>
            </a:r>
          </a:p>
          <a:p xmlns:a="http://schemas.openxmlformats.org/drawingml/2006/main">
            <a:r>
              <a:t>La aplicación propia usa React y TypeScript, junto con TanStack Start y Nitro para las capacidades de servidor. La documentación consolidada registra Vercel como alojamiento. El proyecto Supabase proporciona Auth, PostgreSQL y políticas RLS. Aquí agrupamos Supabase como plataforma administrada al nivel de detalle del proyecto. RLS forma parte de PostgreSQL, no es otra aplicación desplegable. La interfaz y la lógica de servidor propia se publican juntas. No mantenemos un backend Node independiente. También es importante que varias operaciones del CRM usan el cliente Supabase desde el navegador. La existencia de SSR no significa que todas las consultas pasen por un servidor propio.</a:t>
            </a:r>
          </a:p>
          <a:p xmlns:a="http://schemas.openxmlformats.org/drawingml/2006/main">
            <a:r>
              <a:t/>
            </a:r>
          </a:p>
          <a:p xmlns:a="http://schemas.openxmlformats.org/drawingml/2006/main">
            <a:r>
              <a:t>SI TE PREGUNTAN</a:t>
            </a:r>
          </a:p>
          <a:p xmlns:a="http://schemas.openxmlformats.org/drawingml/2006/main">
            <a:r>
              <a:t>Contenedor C4 significa aplicación o almacén de datos en ejecución. No implica necesariamente Docker. Un servicio externo no contradice que la aplicación propia sea monolítica.</a:t>
            </a:r>
          </a:p>
          <a:p xmlns:a="http://schemas.openxmlformats.org/drawingml/2006/main">
            <a:r>
              <a:t/>
            </a:r>
          </a:p>
          <a:p xmlns:a="http://schemas.openxmlformats.org/drawingml/2006/main">
            <a:r>
              <a:t>FUENTES</a:t>
            </a:r>
          </a:p>
          <a:p xmlns:a="http://schemas.openxmlformats.org/drawingml/2006/main">
            <a:r>
              <a:t>https://github.com/Felipe7774/NEXUS/blob/b46acb2/dossier/modeloc4-nivel.md</a:t>
            </a:r>
          </a:p>
          <a:p xmlns:a="http://schemas.openxmlformats.org/drawingml/2006/main">
            <a:r>
              <a:t>https://github.com/Felipe7774/NEXUS/blob/b46acb2/dossier/adrs/ADR-004-arquitectura-monolitica.md</a:t>
            </a:r>
          </a:p>
          <a:p xmlns:a="http://schemas.openxmlformats.org/drawingml/2006/main">
            <a:r>
              <a:t>https://github.com/Felipe7774/NEXUS/blob/b46acb2/src/lib/crm.ts</a:t>
            </a:r>
          </a:p>
          <a:p xmlns:a="http://schemas.openxmlformats.org/drawingml/2006/main">
            <a:r>
              <a:t>https://github.com/Felipe7774/NEXUS/blob/b46acb2/dossier/15-evidencia-ejecutable-consolidada.md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EXPOSICIÓN PRINCIPAL</a:t>
            </a:r>
          </a:p>
          <a:p xmlns:a="http://schemas.openxmlformats.org/drawingml/2006/main">
            <a:r>
              <a:t>Tiempo sugerido: 50 segundos</a:t>
            </a:r>
          </a:p>
          <a:p xmlns:a="http://schemas.openxmlformats.org/drawingml/2006/main">
            <a:r>
              <a:t/>
            </a:r>
          </a:p>
          <a:p xmlns:a="http://schemas.openxmlformats.org/drawingml/2006/main">
            <a:r>
              <a:t>QUÉ DECIR</a:t>
            </a:r>
          </a:p>
          <a:p xmlns:a="http://schemas.openxmlformats.org/drawingml/2006/main">
            <a:r>
              <a:t>Este ejemplo muestra componentes en acción. Diana arrastra la oportunidad de Propuesta enviada a Negociación. La pantalla pipeline.tsx captura el movimiento y llama a useMoveDeal. Ese hook vive en crm.ts y recibe el identificador de la oportunidad y el de la nueva etapa. El cliente Supabase envía una actualización de stage_id a la tabla deals. PostgreSQL aplica las políticas RLS con la identidad del usuario. Si la operación termina correctamente, React Query invalida la consulta de oportunidades y la pantalla actualiza los datos. Si falla, el código presenta un mensaje de error. Podemos señalar archivos concretos para cada responsabilidad.</a:t>
            </a:r>
          </a:p>
          <a:p xmlns:a="http://schemas.openxmlformats.org/drawingml/2006/main">
            <a:r>
              <a:t/>
            </a:r>
          </a:p>
          <a:p xmlns:a="http://schemas.openxmlformats.org/drawingml/2006/main">
            <a:r>
              <a:t>SI TE PREGUNTAN</a:t>
            </a:r>
          </a:p>
          <a:p xmlns:a="http://schemas.openxmlformats.org/drawingml/2006/main">
            <a:r>
              <a:t>Este recorrido es específico de mover una oportunidad. No representa todas las solicitudes de la aplicación. No es una actualización optimista ni una suscripción Realtime: el código invalida la consulta después del éxito.</a:t>
            </a:r>
          </a:p>
          <a:p xmlns:a="http://schemas.openxmlformats.org/drawingml/2006/main">
            <a:r>
              <a:t/>
            </a:r>
          </a:p>
          <a:p xmlns:a="http://schemas.openxmlformats.org/drawingml/2006/main">
            <a:r>
              <a:t>FUENTES</a:t>
            </a:r>
          </a:p>
          <a:p xmlns:a="http://schemas.openxmlformats.org/drawingml/2006/main">
            <a:r>
              <a:t>https://github.com/Felipe7774/NEXUS/blob/b46acb2/src/routes/_authenticated/pipeline.tsx</a:t>
            </a:r>
          </a:p>
          <a:p xmlns:a="http://schemas.openxmlformats.org/drawingml/2006/main">
            <a:r>
              <a:t>https://github.com/Felipe7774/NEXUS/blob/b46acb2/src/lib/crm.ts</a:t>
            </a:r>
          </a:p>
          <a:p xmlns:a="http://schemas.openxmlformats.org/drawingml/2006/main">
            <a:r>
              <a:t>https://github.com/Felipe7774/NEXUS/blob/b46acb2/src/integrations/supabase/client.ts</a:t>
            </a:r>
          </a:p>
          <a:p xmlns:a="http://schemas.openxmlformats.org/drawingml/2006/main">
            <a:r>
              <a:t>https://github.com/Felipe7774/NEXUS/blob/b46acb2/supabase/migrations/20260805035001_05269e6f-a1a0-41ee-9053-ba7d49685ade.sql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EXPOSICIÓN PRINCIPAL</a:t>
            </a:r>
          </a:p>
          <a:p xmlns:a="http://schemas.openxmlformats.org/drawingml/2006/main">
            <a:r>
              <a:t>Tiempo sugerido: 45 segundos</a:t>
            </a:r>
          </a:p>
          <a:p xmlns:a="http://schemas.openxmlformats.org/drawingml/2006/main">
            <a:r>
              <a:t/>
            </a:r>
          </a:p>
          <a:p xmlns:a="http://schemas.openxmlformats.org/drawingml/2006/main">
            <a:r>
              <a:t>QUÉ DECIR</a:t>
            </a:r>
          </a:p>
          <a:p xmlns:a="http://schemas.openxmlformats.org/drawingml/2006/main">
            <a:r>
              <a:t>Un ADR es el registro de una decisión arquitectónica. ADR-001 confirma la organización en capas. Por ejemplo, si cambia la longitud permitida para el título de una oportunidad, sabemos dónde empezar: el esquema de validación del formulario en deal-dialog.tsx. Esto ayuda a localizar responsabilidades, aunque hay que revisar también las restricciones de persistencia y las pruebas. ADR-004 confirma una aplicación monolítica. Una mejora del pipeline se publica junto con el resto de la aplicación. Para tres integrantes, esa unidad simplifica la operación. Las capas explican cómo organizamos el código y el monolito cómo lo desplegamos. Ambos enfoques son compatibles.</a:t>
            </a:r>
          </a:p>
          <a:p xmlns:a="http://schemas.openxmlformats.org/drawingml/2006/main">
            <a:r>
              <a:t/>
            </a:r>
          </a:p>
          <a:p xmlns:a="http://schemas.openxmlformats.org/drawingml/2006/main">
            <a:r>
              <a:t>SI TE PREGUNTAN</a:t>
            </a:r>
          </a:p>
          <a:p xmlns:a="http://schemas.openxmlformats.org/drawingml/2006/main">
            <a:r>
              <a:t>El beneficio de mantenibilidad es una valoración del equipo, no una mejora porcentual medida. No afirmamos aislamiento perfecto entre capas: crm.ts depende directamente del cliente Supabase.</a:t>
            </a:r>
          </a:p>
          <a:p xmlns:a="http://schemas.openxmlformats.org/drawingml/2006/main">
            <a:r>
              <a:t/>
            </a:r>
          </a:p>
          <a:p xmlns:a="http://schemas.openxmlformats.org/drawingml/2006/main">
            <a:r>
              <a:t>FUENTES</a:t>
            </a:r>
          </a:p>
          <a:p xmlns:a="http://schemas.openxmlformats.org/drawingml/2006/main">
            <a:r>
              <a:t>https://github.com/Felipe7774/NEXUS/blob/b46acb2/dossier/adrs/ADR-001-estilo-en-capas.md</a:t>
            </a:r>
          </a:p>
          <a:p xmlns:a="http://schemas.openxmlformats.org/drawingml/2006/main">
            <a:r>
              <a:t>https://github.com/Felipe7774/NEXUS/blob/b46acb2/dossier/adrs/ADR-004-arquitectura-monolitica.md</a:t>
            </a:r>
          </a:p>
          <a:p xmlns:a="http://schemas.openxmlformats.org/drawingml/2006/main">
            <a:r>
              <a:t>https://github.com/Felipe7774/NEXUS/blob/b46acb2/src/components/crm/deal-dialog.tsx</a:t>
            </a:r>
          </a:p>
          <a:p xmlns:a="http://schemas.openxmlformats.org/drawingml/2006/main">
            <a:r>
              <a:t>https://github.com/Felipe7774/NEXUS/blob/b46acb2/src/lib/crm.ts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EXPOSICIÓN PRINCIPAL</a:t>
            </a:r>
          </a:p>
          <a:p xmlns:a="http://schemas.openxmlformats.org/drawingml/2006/main">
            <a:r>
              <a:t>Tiempo sugerido: 40 segundos</a:t>
            </a:r>
          </a:p>
          <a:p xmlns:a="http://schemas.openxmlformats.org/drawingml/2006/main">
            <a:r>
              <a:t/>
            </a:r>
          </a:p>
          <a:p xmlns:a="http://schemas.openxmlformats.org/drawingml/2006/main">
            <a:r>
              <a:t>QUÉ DECIR</a:t>
            </a:r>
          </a:p>
          <a:p xmlns:a="http://schemas.openxmlformats.org/drawingml/2006/main">
            <a:r>
              <a:t>La segunda decisión es utilizar Supabase para autenticación y persistencia. Diana inicia sesión con correo y contraseña. Auth valida sus credenciales. Al crear una empresa, useSaveCompany obtiene el usuario y asigna su identificador como owner_id. Después envía la operación a PostgreSQL a través de la API. Utilizar capacidades existentes reduce el trabajo de construir autenticación y acceso a datos desde cero. El compromiso es depender del proveedor, de sus límites y de una configuración correcta. El incidente de cambio de proyecto Supabase mostró por qué debemos gestionar esa dependencia. Mi compañero explicará la recuperación y su alcance.</a:t>
            </a:r>
          </a:p>
          <a:p xmlns:a="http://schemas.openxmlformats.org/drawingml/2006/main">
            <a:r>
              <a:t/>
            </a:r>
          </a:p>
          <a:p xmlns:a="http://schemas.openxmlformats.org/drawingml/2006/main">
            <a:r>
              <a:t>SI TE PREGUNTAN</a:t>
            </a:r>
          </a:p>
          <a:p xmlns:a="http://schemas.openxmlformats.org/drawingml/2006/main">
            <a:r>
              <a:t>Autenticación identifica a la persona. Autorización determina qué puede hacer. Son responsabilidades relacionadas, pero una sesión válida no concede acceso a todos los registros.</a:t>
            </a:r>
          </a:p>
          <a:p xmlns:a="http://schemas.openxmlformats.org/drawingml/2006/main">
            <a:r>
              <a:t/>
            </a:r>
          </a:p>
          <a:p xmlns:a="http://schemas.openxmlformats.org/drawingml/2006/main">
            <a:r>
              <a:t>FUENTES</a:t>
            </a:r>
          </a:p>
          <a:p xmlns:a="http://schemas.openxmlformats.org/drawingml/2006/main">
            <a:r>
              <a:t>https://github.com/Felipe7774/NEXUS/blob/b46acb2/dossier/adrs/ADR-002-supabase-autenticacion-y-persistencia.md</a:t>
            </a:r>
          </a:p>
          <a:p xmlns:a="http://schemas.openxmlformats.org/drawingml/2006/main">
            <a:r>
              <a:t>https://github.com/Felipe7774/NEXUS/blob/b46acb2/src/routes/auth.tsx</a:t>
            </a:r>
          </a:p>
          <a:p xmlns:a="http://schemas.openxmlformats.org/drawingml/2006/main">
            <a:r>
              <a:t>https://github.com/Felipe7774/NEXUS/blob/b46acb2/src/lib/crm.ts</a:t>
            </a:r>
          </a:p>
          <a:p xmlns:a="http://schemas.openxmlformats.org/drawingml/2006/main">
            <a:r>
              <a:t>https://github.com/Felipe7774/NEXUS/blob/b46acb2/dossier/experimentos/EXP-003-recuperacion/README.md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EXPOSICIÓN PRINCIPAL</a:t>
            </a:r>
          </a:p>
          <a:p xmlns:a="http://schemas.openxmlformats.org/drawingml/2006/main">
            <a:r>
              <a:t>Tiempo sugerido: 50 segundos</a:t>
            </a:r>
          </a:p>
          <a:p xmlns:a="http://schemas.openxmlformats.org/drawingml/2006/main">
            <a:r>
              <a:t/>
            </a:r>
          </a:p>
          <a:p xmlns:a="http://schemas.openxmlformats.org/drawingml/2006/main">
            <a:r>
              <a:t>QUÉ DECIR</a:t>
            </a:r>
          </a:p>
          <a:p xmlns:a="http://schemas.openxmlformats.org/drawingml/2006/main">
            <a:r>
              <a:t>Supongamos que Diana y Mateo son vendedores y que Diana es propietaria de Distribuidora Andina. Cuando Diana consulta su empresa, recibe el registro. Cuando Mateo consulta el mismo identificador con su propia sesión, RLS filtra esa fila. La prueba existente verifica precisamente que otro usuario recibe una lista vacía, no necesariamente un error. La regla se aplica en PostgreSQL incluso si alguien hace la solicitud fuera de la interfaz. Hay excepciones autorizadas: un gerente puede acceder a propietarios de su equipo y un administrador tiene reglas más amplias. Este ejemplo explica el aislamiento, pero no demuestra que todas las políticas sean correctas. Una configuración incorrecta sigue siendo un riesgo.</a:t>
            </a:r>
          </a:p>
          <a:p xmlns:a="http://schemas.openxmlformats.org/drawingml/2006/main">
            <a:r>
              <a:t/>
            </a:r>
          </a:p>
          <a:p xmlns:a="http://schemas.openxmlformats.org/drawingml/2006/main">
            <a:r>
              <a:t>SI TE PREGUNTAN</a:t>
            </a:r>
          </a:p>
          <a:p xmlns:a="http://schemas.openxmlformats.org/drawingml/2006/main">
            <a:r>
              <a:t>La función can_access_owner permite propietario, administrador o gerente del equipo. El test automatizado comprueba dueño y otro usuario, no todas las combinaciones de roles. service_role puede omitir RLS y requiere protección.</a:t>
            </a:r>
          </a:p>
          <a:p xmlns:a="http://schemas.openxmlformats.org/drawingml/2006/main">
            <a:r>
              <a:t/>
            </a:r>
          </a:p>
          <a:p xmlns:a="http://schemas.openxmlformats.org/drawingml/2006/main">
            <a:r>
              <a:t>FUENTES</a:t>
            </a:r>
          </a:p>
          <a:p xmlns:a="http://schemas.openxmlformats.org/drawingml/2006/main">
            <a:r>
              <a:t>https://github.com/Felipe7774/NEXUS/blob/b46acb2/dossier/adrs/ADR-003-aislamiento-de-datos-con-rls.md</a:t>
            </a:r>
          </a:p>
          <a:p xmlns:a="http://schemas.openxmlformats.org/drawingml/2006/main">
            <a:r>
              <a:t>https://github.com/Felipe7774/NEXUS/blob/b46acb2/supabase/migrations/20260805035001_05269e6f-a1a0-41ee-9053-ba7d49685ade.sql</a:t>
            </a:r>
          </a:p>
          <a:p xmlns:a="http://schemas.openxmlformats.org/drawingml/2006/main">
            <a:r>
              <a:t>https://github.com/Felipe7774/NEXUS/blob/b46acb2/src/integrations/supabase/rls-isolation.integration.test.ts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EXPOSICIÓN PRINCIPAL</a:t>
            </a:r>
          </a:p>
          <a:p xmlns:a="http://schemas.openxmlformats.org/drawingml/2006/main">
            <a:r>
              <a:t>Tiempo sugerido: 40 segundos</a:t>
            </a:r>
          </a:p>
          <a:p xmlns:a="http://schemas.openxmlformats.org/drawingml/2006/main">
            <a:r>
              <a:t/>
            </a:r>
          </a:p>
          <a:p xmlns:a="http://schemas.openxmlformats.org/drawingml/2006/main">
            <a:r>
              <a:t>QUÉ DECIR</a:t>
            </a:r>
          </a:p>
          <a:p xmlns:a="http://schemas.openxmlformats.org/drawingml/2006/main">
            <a:r>
              <a:t>La matriz compara valor, costo, riesgo residual e impacto en calidad. Las cuatro decisiones quedaron confirmadas para el alcance actual. En esta adaptación, favorable traduce el indicador verde del documento y riesgo bajo traduce su exposición residual favorable. Por ejemplo, Supabase tiene alto valor y costo favorable porque reduce trabajo de desarrollo, pero mantiene riesgo moderado por la dependencia externa. La matriz no significa que hayamos medido costos en dinero ni comparado experimentalmente distintas arquitecturas. Es la evaluación cualitativa aprobada por el equipo, acompañada de evidencia y límites. Si cambia el contexto, debemos revisar el ADR y la matriz.</a:t>
            </a:r>
          </a:p>
          <a:p xmlns:a="http://schemas.openxmlformats.org/drawingml/2006/main">
            <a:r>
              <a:t/>
            </a:r>
          </a:p>
          <a:p xmlns:a="http://schemas.openxmlformats.org/drawingml/2006/main">
            <a:r>
              <a:t>SI TE PREGUNTAN</a:t>
            </a:r>
          </a:p>
          <a:p xmlns:a="http://schemas.openxmlformats.org/drawingml/2006/main">
            <a:r>
              <a:t>Las alternativas históricas no están documentadas en estos ADR. No afirmar que el equipo ejecutó una comparación formal de microservicios, Firebase u otros proveedores. Fuente: dossier/12-matriz-trade-offs.md.</a:t>
            </a:r>
          </a:p>
          <a:p xmlns:a="http://schemas.openxmlformats.org/drawingml/2006/main">
            <a:r>
              <a:t/>
            </a:r>
          </a:p>
          <a:p xmlns:a="http://schemas.openxmlformats.org/drawingml/2006/main">
            <a:r>
              <a:t>FUENTES</a:t>
            </a:r>
          </a:p>
          <a:p xmlns:a="http://schemas.openxmlformats.org/drawingml/2006/main">
            <a:r>
              <a:t>https://github.com/Felipe7774/NEXUS/blob/b46acb2/dossier/12-matriz-trade-offs.md</a:t>
            </a:r>
          </a:p>
          <a:p xmlns:a="http://schemas.openxmlformats.org/drawingml/2006/main">
            <a:r>
              <a:t>https://github.com/Felipe7774/NEXUS/blob/b46acb2/dossier/adrs/ADR-001-estilo-en-capas.md</a:t>
            </a:r>
          </a:p>
          <a:p xmlns:a="http://schemas.openxmlformats.org/drawingml/2006/main">
            <a:r>
              <a:t>https://github.com/Felipe7774/NEXUS/blob/b46acb2/dossier/adrs/ADR-002-supabase-autenticacion-y-persistencia.md</a:t>
            </a:r>
          </a:p>
          <a:p xmlns:a="http://schemas.openxmlformats.org/drawingml/2006/main">
            <a:r>
              <a:t>https://github.com/Felipe7774/NEXUS/blob/b46acb2/dossier/adrs/ADR-003-aislamiento-de-datos-con-rls.md</a:t>
            </a:r>
          </a:p>
          <a:p xmlns:a="http://schemas.openxmlformats.org/drawingml/2006/main">
            <a:r>
              <a:t>https://github.com/Felipe7774/NEXUS/blob/b46acb2/dossier/adrs/ADR-004-arquitectura-monolitica.md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EXPOSICIÓN PRINCIPAL</a:t>
            </a:r>
          </a:p>
          <a:p xmlns:a="http://schemas.openxmlformats.org/drawingml/2006/main">
            <a:r>
              <a:t>Tiempo sugerido: 20 segundos</a:t>
            </a:r>
          </a:p>
          <a:p xmlns:a="http://schemas.openxmlformats.org/drawingml/2006/main">
            <a:r>
              <a:t/>
            </a:r>
          </a:p>
          <a:p xmlns:a="http://schemas.openxmlformats.org/drawingml/2006/main">
            <a:r>
              <a:t>QUÉ DECIR</a:t>
            </a:r>
          </a:p>
          <a:p xmlns:a="http://schemas.openxmlformats.org/drawingml/2006/main">
            <a:r>
              <a:t>Volviendo a Diana, Nexo relaciona la información, permite actualizar la negociación y aplica permisos sobre los datos. Elegimos una organización en capas y una aplicación propia monolítica, apoyada en Supabase. Ahora mi compañero explicará qué pruebas y experimentos respaldan estas decisiones, cómo verificamos la recuperación y qué limitaciones siguen abiertas.</a:t>
            </a:r>
          </a:p>
          <a:p xmlns:a="http://schemas.openxmlformats.org/drawingml/2006/main">
            <a:r>
              <a:t/>
            </a:r>
          </a:p>
          <a:p xmlns:a="http://schemas.openxmlformats.org/drawingml/2006/main">
            <a:r>
              <a:t>SI TE PREGUNTAN</a:t>
            </a:r>
          </a:p>
          <a:p xmlns:a="http://schemas.openxmlformats.org/drawingml/2006/main">
            <a:r>
              <a:t>Detener aquí el recorrido principal. Las diapositivas siguientes son apoyo para preguntas y no necesitan exponerse de corrido.</a:t>
            </a:r>
          </a:p>
          <a:p xmlns:a="http://schemas.openxmlformats.org/drawingml/2006/main">
            <a:r>
              <a:t/>
            </a:r>
          </a:p>
          <a:p xmlns:a="http://schemas.openxmlformats.org/drawingml/2006/main">
            <a:r>
              <a:t>FUENTES</a:t>
            </a:r>
          </a:p>
          <a:p xmlns:a="http://schemas.openxmlformats.org/drawingml/2006/main">
            <a:r>
              <a:t>https://github.com/Felipe7774/NEXUS/blob/b46acb2/dossier/17-preparacion-defensa.md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APOYO PARA PREGUNTAS</a:t>
            </a:r>
          </a:p>
          <a:p xmlns:a="http://schemas.openxmlformats.org/drawingml/2006/main">
            <a:r>
              <a:t>Tiempo sugerido: Solo si preguntan</a:t>
            </a:r>
          </a:p>
          <a:p xmlns:a="http://schemas.openxmlformats.org/drawingml/2006/main">
            <a:r>
              <a:t/>
            </a:r>
          </a:p>
          <a:p xmlns:a="http://schemas.openxmlformats.org/drawingml/2006/main">
            <a:r>
              <a:t>QUÉ DECIR</a:t>
            </a:r>
          </a:p>
          <a:p xmlns:a="http://schemas.openxmlformats.org/drawingml/2006/main">
            <a:r>
              <a:t>Responder una pregunta por vez, usando un ejemplo de las diapositivas principales. Para monolito, mencionar la publicación conjunta del pipeline y contactos. Para RLS, volver al ejemplo Diana y Mateo.</a:t>
            </a:r>
          </a:p>
          <a:p xmlns:a="http://schemas.openxmlformats.org/drawingml/2006/main">
            <a:r>
              <a:t/>
            </a:r>
          </a:p>
          <a:p xmlns:a="http://schemas.openxmlformats.org/drawingml/2006/main">
            <a:r>
              <a:t>SI TE PREGUNTAN</a:t>
            </a:r>
          </a:p>
          <a:p xmlns:a="http://schemas.openxmlformats.org/drawingml/2006/main">
            <a:r>
              <a:t>No afirmar que microservicios siempre son peores. Si surgen necesidades de despliegue o escala independientes, el equipo debe medir y revisar su decisión.</a:t>
            </a:r>
          </a:p>
          <a:p xmlns:a="http://schemas.openxmlformats.org/drawingml/2006/main">
            <a:r>
              <a:t/>
            </a:r>
          </a:p>
          <a:p xmlns:a="http://schemas.openxmlformats.org/drawingml/2006/main">
            <a:r>
              <a:t>FUENTES</a:t>
            </a:r>
          </a:p>
          <a:p xmlns:a="http://schemas.openxmlformats.org/drawingml/2006/main">
            <a:r>
              <a:t>https://github.com/Felipe7774/NEXUS/blob/b46acb2/dossier/adrs/ADR-004-arquitectura-monolitica.md</a:t>
            </a:r>
          </a:p>
          <a:p xmlns:a="http://schemas.openxmlformats.org/drawingml/2006/main">
            <a:r>
              <a:t>https://github.com/Felipe7774/NEXUS/blob/b46acb2/dossier/adrs/ADR-002-supabase-autenticacion-y-persistencia.md</a:t>
            </a:r>
          </a:p>
          <a:p xmlns:a="http://schemas.openxmlformats.org/drawingml/2006/main">
            <a:r>
              <a:t>https://github.com/Felipe7774/NEXUS/blob/b46acb2/dossier/adrs/ADR-003-aislamiento-de-datos-con-rls.md</a:t>
            </a:r>
          </a:p>
          <a:p xmlns:a="http://schemas.openxmlformats.org/drawingml/2006/main">
            <a:r>
              <a:t>https://github.com/Felipe7774/NEXUS/blob/b46acb2/dossier/17-preparacion-defensa.md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APOYO PARA PREGUNTAS</a:t>
            </a:r>
          </a:p>
          <a:p xmlns:a="http://schemas.openxmlformats.org/drawingml/2006/main">
            <a:r>
              <a:t>Tiempo sugerido: Solo si preguntan</a:t>
            </a:r>
          </a:p>
          <a:p xmlns:a="http://schemas.openxmlformats.org/drawingml/2006/main">
            <a:r>
              <a:t/>
            </a:r>
          </a:p>
          <a:p xmlns:a="http://schemas.openxmlformats.org/drawingml/2006/main">
            <a:r>
              <a:t>QUÉ DECIR</a:t>
            </a:r>
          </a:p>
          <a:p xmlns:a="http://schemas.openxmlformats.org/drawingml/2006/main">
            <a:r>
              <a:t>Si el docente pide evidencia, abrir el archivo correspondiente. En crm.ts buscar useSaveCompany y useMoveDeal. En el test buscar el caso de otro usuario y observar que espera una lista vacía. Las migraciones contienen can_access_owner y las políticas CREATE POLICY.</a:t>
            </a:r>
          </a:p>
          <a:p xmlns:a="http://schemas.openxmlformats.org/drawingml/2006/main">
            <a:r>
              <a:t/>
            </a:r>
          </a:p>
          <a:p xmlns:a="http://schemas.openxmlformats.org/drawingml/2006/main">
            <a:r>
              <a:t>SI TE PREGUNTAN</a:t>
            </a:r>
          </a:p>
          <a:p xmlns:a="http://schemas.openxmlformats.org/drawingml/2006/main">
            <a:r>
              <a:t>El cliente administrativo utiliza service_role y omite RLS. Su presencia en el código exige señalarlo, aunque no tenga consumidores en src en la revisión documentada. No proyectar variables de entorno ni credenciales.</a:t>
            </a:r>
          </a:p>
          <a:p xmlns:a="http://schemas.openxmlformats.org/drawingml/2006/main">
            <a:r>
              <a:t/>
            </a:r>
          </a:p>
          <a:p xmlns:a="http://schemas.openxmlformats.org/drawingml/2006/main">
            <a:r>
              <a:t>FUENTES</a:t>
            </a:r>
          </a:p>
          <a:p xmlns:a="http://schemas.openxmlformats.org/drawingml/2006/main">
            <a:r>
              <a:t>https://github.com/Felipe7774/NEXUS/blob/b46acb2/src/lib/crm.ts</a:t>
            </a:r>
          </a:p>
          <a:p xmlns:a="http://schemas.openxmlformats.org/drawingml/2006/main">
            <a:r>
              <a:t>https://github.com/Felipe7774/NEXUS/blob/b46acb2/src/components/crm/deal-dialog.tsx</a:t>
            </a:r>
          </a:p>
          <a:p xmlns:a="http://schemas.openxmlformats.org/drawingml/2006/main">
            <a:r>
              <a:t>https://github.com/Felipe7774/NEXUS/blob/b46acb2/src/routes/auth.tsx</a:t>
            </a:r>
          </a:p>
          <a:p xmlns:a="http://schemas.openxmlformats.org/drawingml/2006/main">
            <a:r>
              <a:t>https://github.com/Felipe7774/NEXUS/blob/b46acb2/src/integrations/supabase/rls-isolation.integration.test.ts</a:t>
            </a:r>
          </a:p>
          <a:p xmlns:a="http://schemas.openxmlformats.org/drawingml/2006/main">
            <a:r>
              <a:t>https://github.com/Felipe7774/NEXUS/blob/b46acb2/dossier/modeloc4-nivel.md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APOYO PARA PREGUNTAS</a:t>
            </a:r>
          </a:p>
          <a:p xmlns:a="http://schemas.openxmlformats.org/drawingml/2006/main">
            <a:r>
              <a:t>Tiempo sugerido: Solo si preguntan</a:t>
            </a:r>
          </a:p>
          <a:p xmlns:a="http://schemas.openxmlformats.org/drawingml/2006/main">
            <a:r>
              <a:t/>
            </a:r>
          </a:p>
          <a:p xmlns:a="http://schemas.openxmlformats.org/drawingml/2006/main">
            <a:r>
              <a:t>QUÉ DECIR</a:t>
            </a:r>
          </a:p>
          <a:p xmlns:a="http://schemas.openxmlformats.org/drawingml/2006/main">
            <a:r>
              <a:t>Usar las definiciones como apoyo para responder con palabras propias. Pipeline se puede ilustrar con pasar de Propuesta enviada a Negociación. Trade-off se puede ilustrar con la dependencia de Supabase a cambio de reducir trabajo.</a:t>
            </a:r>
          </a:p>
          <a:p xmlns:a="http://schemas.openxmlformats.org/drawingml/2006/main">
            <a:r>
              <a:t/>
            </a:r>
          </a:p>
          <a:p xmlns:a="http://schemas.openxmlformats.org/drawingml/2006/main">
            <a:r>
              <a:t>SI TE PREGUNTAN</a:t>
            </a:r>
          </a:p>
          <a:p xmlns:a="http://schemas.openxmlformats.org/drawingml/2006/main">
            <a:r>
              <a:t>Capas responde cómo se organiza el código. Monolito responde cómo agrupamos el despliegue. Auth identifica quién eres. RLS contribuye a determinar a qué filas accedes.</a:t>
            </a:r>
          </a:p>
          <a:p xmlns:a="http://schemas.openxmlformats.org/drawingml/2006/main">
            <a:r>
              <a:t/>
            </a:r>
          </a:p>
          <a:p xmlns:a="http://schemas.openxmlformats.org/drawingml/2006/main">
            <a:r>
              <a:t>FUENTES</a:t>
            </a:r>
          </a:p>
          <a:p xmlns:a="http://schemas.openxmlformats.org/drawingml/2006/main">
            <a:r>
              <a:t>https://github.com/Felipe7774/NEXUS/blob/b46acb2/dossier/modeloc4-nivel.md</a:t>
            </a:r>
          </a:p>
          <a:p xmlns:a="http://schemas.openxmlformats.org/drawingml/2006/main">
            <a:r>
              <a:t>https://github.com/Felipe7774/NEXUS/blob/b46acb2/dossier/adrs/ADR-001-estilo-en-capas.md</a:t>
            </a:r>
          </a:p>
          <a:p xmlns:a="http://schemas.openxmlformats.org/drawingml/2006/main">
            <a:r>
              <a:t>https://github.com/Felipe7774/NEXUS/blob/b46acb2/dossier/adrs/ADR-002-supabase-autenticacion-y-persistencia.md</a:t>
            </a:r>
          </a:p>
          <a:p xmlns:a="http://schemas.openxmlformats.org/drawingml/2006/main">
            <a:r>
              <a:t>https://github.com/Felipe7774/NEXUS/blob/b46acb2/dossier/adrs/ADR-003-aislamiento-de-datos-con-rls.md</a:t>
            </a:r>
          </a:p>
          <a:p xmlns:a="http://schemas.openxmlformats.org/drawingml/2006/main">
            <a:r>
              <a:t>https://github.com/Felipe7774/NEXUS/blob/b46acb2/dossier/adrs/ADR-004-arquitectura-monolitica.md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4e65e5c403e43f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40a04871acf4ca0" /><Relationship Type="http://schemas.openxmlformats.org/officeDocument/2006/relationships/slideLayout" Target="/ppt/slideLayouts/slideLayout1.xml" Id="R5d87386ec1bb4a3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d87386ec1bb4a3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c53bf794aaa45d5" /><Relationship Type="http://schemas.openxmlformats.org/officeDocument/2006/relationships/notesSlide" Target="/ppt/notesSlides/notesSlide1.xml" Id="R4addd157b49a4d8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ac571468aba462a" /><Relationship Type="http://schemas.openxmlformats.org/officeDocument/2006/relationships/notesSlide" Target="/ppt/notesSlides/notesSlide2.xml" Id="Rdd402f9421df463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46adf76e4ff4b9e" /><Relationship Type="http://schemas.openxmlformats.org/officeDocument/2006/relationships/notesSlide" Target="/ppt/notesSlides/notesSlide3.xml" Id="R7e9c0109d6194db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a8c31a226ea49d4" /><Relationship Type="http://schemas.openxmlformats.org/officeDocument/2006/relationships/notesSlide" Target="/ppt/notesSlides/notesSlide4.xml" Id="R1e9a202aae5442b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a72ccefb7ae434f" /><Relationship Type="http://schemas.openxmlformats.org/officeDocument/2006/relationships/notesSlide" Target="/ppt/notesSlides/notesSlide5.xml" Id="R45f21927ad8b477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f5dfaebd35d4cc0" /><Relationship Type="http://schemas.openxmlformats.org/officeDocument/2006/relationships/notesSlide" Target="/ppt/notesSlides/notesSlide6.xml" Id="R3678785a5ce8488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2cbb45d6094425e" /><Relationship Type="http://schemas.openxmlformats.org/officeDocument/2006/relationships/notesSlide" Target="/ppt/notesSlides/notesSlide7.xml" Id="Rea0ba8983e47490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83a5391b8834996" /><Relationship Type="http://schemas.openxmlformats.org/officeDocument/2006/relationships/notesSlide" Target="/ppt/notesSlides/notesSlide8.xml" Id="Rd6bf01470712459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981b7ec1b004c4b" /><Relationship Type="http://schemas.openxmlformats.org/officeDocument/2006/relationships/notesSlide" Target="/ppt/notesSlides/notesSlide9.xml" Id="R9d1f9bb3c59c4f1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7652d6b6c5b48ae" /><Relationship Type="http://schemas.openxmlformats.org/officeDocument/2006/relationships/notesSlide" Target="/ppt/notesSlides/notesSlide10.xml" Id="Rd7e10f1f80cd456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07b0b5c0a714161" /><Relationship Type="http://schemas.openxmlformats.org/officeDocument/2006/relationships/notesSlide" Target="/ppt/notesSlides/notesSlide11.xml" Id="R73bcd6fc668a46c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a1349eee45f4977" /><Relationship Type="http://schemas.openxmlformats.org/officeDocument/2006/relationships/notesSlide" Target="/ppt/notesSlides/notesSlide12.xml" Id="R4edb0ab894a144e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b33e89573894ef8" /><Relationship Type="http://schemas.openxmlformats.org/officeDocument/2006/relationships/notesSlide" Target="/ppt/notesSlides/notesSlide13.xml" Id="Rf85569d5178e4456" /></Relationships>
</file>

<file path=ppt/slides/slide1.xml><?xml version="1.0" encoding="utf-8"?>
<p:sld xmlns:p="http://schemas.openxmlformats.org/presentationml/2006/main">
  <p:cSld>
    <p:bg>
      <p:bgPr>
        <a:solidFill xmlns:a="http://schemas.openxmlformats.org/drawingml/2006/main">
          <a:srgbClr val="112E4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C24405A-4746-4B4F-A3C4-F9BA2688EEEE}"/>
              </a:ext>
            </a:extLst>
          </p:cNvPr>
          <p:cNvSpPr>
            <a:spLocks xmlns:a="http://schemas.openxmlformats.org/drawingml/2006/main" noGrp="1"/>
          </p:cNvSpPr>
          <p:nvPr/>
        </p:nvSpPr>
        <p:spPr>
          <a:xfrm xmlns:a="http://schemas.openxmlformats.org/drawingml/2006/main">
            <a:off x="685800" y="1381125"/>
            <a:ext cx="107632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750" b="1">
                <a:solidFill>
                  <a:srgbClr val="FFFFFF"/>
                </a:solidFill>
                <a:latin typeface="Arial"/>
                <a:ea typeface="Arial"/>
                <a:cs typeface="Arial"/>
              </a:defRPr>
            </a:pPr>
            <a:r>
              <a:rPr sz="6750" b="1">
                <a:solidFill>
                  <a:srgbClr val="FFFFFF"/>
                </a:solidFill>
                <a:latin typeface="Arial"/>
                <a:ea typeface="Arial"/>
                <a:cs typeface="Arial"/>
              </a:rPr>
              <a:t>Nexo CRM</a:t>
            </a:r>
          </a:p>
        </p:txBody>
      </p:sp>
      <p:sp>
        <p:nvSpPr>
          <p:cNvPr id="2" name="">
            <a:extLst xmlns:a="http://schemas.openxmlformats.org/drawingml/2006/main">
              <a:ext uri="{FF2B5EF4-FFF2-40B4-BE49-F238E27FC236}">
                <a16:creationId xmlns:a16="http://schemas.microsoft.com/office/drawing/2014/main" id="{38F20FCF-4027-4CD6-900F-01B9DBC5A416}"/>
              </a:ext>
            </a:extLst>
          </p:cNvPr>
          <p:cNvSpPr>
            <a:spLocks xmlns:a="http://schemas.openxmlformats.org/drawingml/2006/main" noGrp="1"/>
          </p:cNvSpPr>
          <p:nvPr/>
        </p:nvSpPr>
        <p:spPr>
          <a:xfrm xmlns:a="http://schemas.openxmlformats.org/drawingml/2006/main">
            <a:off x="742950" y="2905125"/>
            <a:ext cx="10668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0">
                <a:solidFill>
                  <a:srgbClr val="88DDD0"/>
                </a:solidFill>
                <a:latin typeface="Arial"/>
                <a:ea typeface="Arial"/>
                <a:cs typeface="Arial"/>
              </a:defRPr>
            </a:pPr>
            <a:r>
              <a:rPr sz="3450" b="0">
                <a:solidFill>
                  <a:srgbClr val="88DDD0"/>
                </a:solidFill>
                <a:latin typeface="Arial"/>
                <a:ea typeface="Arial"/>
                <a:cs typeface="Arial"/>
              </a:rPr>
              <a:t>La arquitectura detrás</a:t>
            </a:r>
          </a:p>
          <a:p xmlns:a="http://schemas.openxmlformats.org/drawingml/2006/main">
            <a:pPr>
              <a:defRPr sz="3450" b="0">
                <a:solidFill>
                  <a:srgbClr val="88DDD0"/>
                </a:solidFill>
                <a:latin typeface="Arial"/>
                <a:ea typeface="Arial"/>
                <a:cs typeface="Arial"/>
              </a:defRPr>
            </a:pPr>
            <a:r>
              <a:rPr sz="3450" b="0">
                <a:solidFill>
                  <a:srgbClr val="88DDD0"/>
                </a:solidFill>
                <a:latin typeface="Arial"/>
                <a:ea typeface="Arial"/>
                <a:cs typeface="Arial"/>
              </a:rPr>
              <a:t>de una oportunidad de venta</a:t>
            </a:r>
          </a:p>
        </p:txBody>
      </p:sp>
      <p:sp>
        <p:nvSpPr>
          <p:cNvPr id="3" name="">
            <a:extLst xmlns:a="http://schemas.openxmlformats.org/drawingml/2006/main">
              <a:ext uri="{FF2B5EF4-FFF2-40B4-BE49-F238E27FC236}">
                <a16:creationId xmlns:a16="http://schemas.microsoft.com/office/drawing/2014/main" id="{38E65164-6CAF-4132-9012-2CA55F133745}"/>
              </a:ext>
            </a:extLst>
          </p:cNvPr>
          <p:cNvSpPr>
            <a:spLocks xmlns:a="http://schemas.openxmlformats.org/drawingml/2006/main" noGrp="1"/>
          </p:cNvSpPr>
          <p:nvPr/>
        </p:nvSpPr>
        <p:spPr>
          <a:xfrm xmlns:a="http://schemas.openxmlformats.org/drawingml/2006/main">
            <a:off x="742950" y="5467350"/>
            <a:ext cx="9525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FFFFFF"/>
                </a:solidFill>
                <a:latin typeface="Arial"/>
                <a:ea typeface="Arial"/>
                <a:cs typeface="Arial"/>
              </a:defRPr>
            </a:pPr>
            <a:r>
              <a:rPr sz="2175" b="1">
                <a:solidFill>
                  <a:srgbClr val="FFFFFF"/>
                </a:solidFill>
                <a:latin typeface="Arial"/>
                <a:ea typeface="Arial"/>
                <a:cs typeface="Arial"/>
              </a:rPr>
              <a:t>Carlos Correa</a:t>
            </a:r>
          </a:p>
        </p:txBody>
      </p:sp>
      <p:sp>
        <p:nvSpPr>
          <p:cNvPr id="4" name="">
            <a:extLst xmlns:a="http://schemas.openxmlformats.org/drawingml/2006/main">
              <a:ext uri="{FF2B5EF4-FFF2-40B4-BE49-F238E27FC236}">
                <a16:creationId xmlns:a16="http://schemas.microsoft.com/office/drawing/2014/main" id="{6F6342BE-0588-46A8-903C-7CB507618012}"/>
              </a:ext>
            </a:extLst>
          </p:cNvPr>
          <p:cNvSpPr>
            <a:spLocks xmlns:a="http://schemas.openxmlformats.org/drawingml/2006/main" noGrp="1"/>
          </p:cNvSpPr>
          <p:nvPr/>
        </p:nvSpPr>
        <p:spPr>
          <a:xfrm xmlns:a="http://schemas.openxmlformats.org/drawingml/2006/main">
            <a:off x="742950" y="597217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C8D8E1"/>
                </a:solidFill>
                <a:latin typeface="Arial"/>
                <a:ea typeface="Arial"/>
                <a:cs typeface="Arial"/>
              </a:defRPr>
            </a:pPr>
            <a:r>
              <a:rPr sz="1800" b="0">
                <a:solidFill>
                  <a:srgbClr val="C8D8E1"/>
                </a:solidFill>
                <a:latin typeface="Arial"/>
                <a:ea typeface="Arial"/>
                <a:cs typeface="Arial"/>
              </a:rPr>
              <a:t>Integrante 1 · El sistema y sus decisiones arquitectónicas</a:t>
            </a:r>
          </a:p>
        </p:txBody>
      </p:sp>
    </p:spTree>
    <p:extLst>
      <p:ext uri="{BB962C8B-B14F-4D97-AF65-F5344CB8AC3E}">
        <p14:creationId xmlns:p14="http://schemas.microsoft.com/office/powerpoint/2010/main" val="171674636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7C2761A9-3B73-4343-B74C-172B358839DB}"/>
              </a:ext>
            </a:extLst>
          </p:cNvPr>
          <p:cNvSpPr>
            <a:spLocks xmlns:a="http://schemas.openxmlformats.org/drawingml/2006/main" noGrp="1"/>
          </p:cNvSpPr>
          <p:nvPr/>
        </p:nvSpPr>
        <p:spPr>
          <a:xfrm xmlns:a="http://schemas.openxmlformats.org/drawingml/2006/main">
            <a:off x="609600" y="304800"/>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87F8C"/>
                </a:solidFill>
                <a:latin typeface="Arial"/>
                <a:ea typeface="Arial"/>
                <a:cs typeface="Arial"/>
              </a:defRPr>
            </a:pPr>
            <a:r>
              <a:rPr sz="1350" b="1">
                <a:solidFill>
                  <a:srgbClr val="087F8C"/>
                </a:solidFill>
                <a:latin typeface="Arial"/>
                <a:ea typeface="Arial"/>
                <a:cs typeface="Arial"/>
              </a:rPr>
              <a:t>CASO ILUSTRATIVO CON DATOS FICTICIOS</a:t>
            </a:r>
          </a:p>
        </p:txBody>
      </p:sp>
      <p:sp>
        <p:nvSpPr>
          <p:cNvPr id="2" name="">
            <a:extLst xmlns:a="http://schemas.openxmlformats.org/drawingml/2006/main">
              <a:ext uri="{FF2B5EF4-FFF2-40B4-BE49-F238E27FC236}">
                <a16:creationId xmlns:a16="http://schemas.microsoft.com/office/drawing/2014/main" id="{FF1697BA-D205-494B-9C08-D0AF8CA0F6D2}"/>
              </a:ext>
            </a:extLst>
          </p:cNvPr>
          <p:cNvSpPr>
            <a:spLocks xmlns:a="http://schemas.openxmlformats.org/drawingml/2006/main" noGrp="1"/>
          </p:cNvSpPr>
          <p:nvPr/>
        </p:nvSpPr>
        <p:spPr>
          <a:xfrm xmlns:a="http://schemas.openxmlformats.org/drawingml/2006/main">
            <a:off x="609600" y="752475"/>
            <a:ext cx="109537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12E43"/>
                </a:solidFill>
                <a:latin typeface="Arial"/>
                <a:ea typeface="Arial"/>
                <a:cs typeface="Arial"/>
              </a:defRPr>
            </a:pPr>
            <a:r>
              <a:rPr sz="3300" b="1">
                <a:solidFill>
                  <a:srgbClr val="112E43"/>
                </a:solidFill>
                <a:latin typeface="Arial"/>
                <a:ea typeface="Arial"/>
                <a:cs typeface="Arial"/>
              </a:rPr>
              <a:t>Una negociación con información conectada</a:t>
            </a:r>
          </a:p>
        </p:txBody>
      </p:sp>
      <p:sp>
        <p:nvSpPr>
          <p:cNvPr id="3" name="">
            <a:extLst xmlns:a="http://schemas.openxmlformats.org/drawingml/2006/main">
              <a:ext uri="{FF2B5EF4-FFF2-40B4-BE49-F238E27FC236}">
                <a16:creationId xmlns:a16="http://schemas.microsoft.com/office/drawing/2014/main" id="{D34F86FF-76DE-427F-9E15-F5F28213F314}"/>
              </a:ext>
            </a:extLst>
          </p:cNvPr>
          <p:cNvSpPr>
            <a:spLocks xmlns:a="http://schemas.openxmlformats.org/drawingml/2006/main" noGrp="1"/>
          </p:cNvSpPr>
          <p:nvPr/>
        </p:nvSpPr>
        <p:spPr>
          <a:xfrm xmlns:a="http://schemas.openxmlformats.org/drawingml/2006/main">
            <a:off x="11049000" y="638175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46E7D"/>
                </a:solidFill>
                <a:latin typeface="Arial"/>
                <a:ea typeface="Arial"/>
                <a:cs typeface="Arial"/>
              </a:defRPr>
            </a:pPr>
            <a:r>
              <a:rPr sz="1200" b="0">
                <a:solidFill>
                  <a:srgbClr val="546E7D"/>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72DB5976-E3D4-4862-8CF4-CFCF1B7BAA90}"/>
              </a:ext>
            </a:extLst>
          </p:cNvPr>
          <p:cNvSpPr>
            <a:spLocks xmlns:a="http://schemas.openxmlformats.org/drawingml/2006/main" noGrp="1"/>
          </p:cNvSpPr>
          <p:nvPr/>
        </p:nvSpPr>
        <p:spPr>
          <a:xfrm xmlns:a="http://schemas.openxmlformats.org/drawingml/2006/main">
            <a:off x="609600" y="180975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87F8C"/>
                </a:solidFill>
                <a:latin typeface="Arial"/>
                <a:ea typeface="Arial"/>
                <a:cs typeface="Arial"/>
              </a:defRPr>
            </a:pPr>
            <a:r>
              <a:rPr sz="2325" b="1">
                <a:solidFill>
                  <a:srgbClr val="087F8C"/>
                </a:solidFill>
                <a:latin typeface="Arial"/>
                <a:ea typeface="Arial"/>
                <a:cs typeface="Arial"/>
              </a:rPr>
              <a:t>Diana vende 20 licencias a Distribuidora Andina.</a:t>
            </a:r>
          </a:p>
        </p:txBody>
      </p:sp>
      <p:sp>
        <p:nvSpPr>
          <p:cNvPr id="5" name="">
            <a:extLst xmlns:a="http://schemas.openxmlformats.org/drawingml/2006/main">
              <a:ext uri="{FF2B5EF4-FFF2-40B4-BE49-F238E27FC236}">
                <a16:creationId xmlns:a16="http://schemas.microsoft.com/office/drawing/2014/main" id="{6EA30B16-736D-48E1-8130-3023141BA403}"/>
              </a:ext>
            </a:extLst>
          </p:cNvPr>
          <p:cNvSpPr>
            <a:spLocks xmlns:a="http://schemas.openxmlformats.org/drawingml/2006/main" noGrp="1"/>
          </p:cNvSpPr>
          <p:nvPr/>
        </p:nvSpPr>
        <p:spPr>
          <a:xfrm xmlns:a="http://schemas.openxmlformats.org/drawingml/2006/main">
            <a:off x="609600" y="2667000"/>
            <a:ext cx="2514600" cy="1828800"/>
          </a:xfrm>
          <a:prstGeom xmlns:a="http://schemas.openxmlformats.org/drawingml/2006/main" prst="rect">
            <a:avLst/>
          </a:prstGeom>
          <a:solidFill xmlns:a="http://schemas.openxmlformats.org/drawingml/2006/main">
            <a:srgbClr val="E8F5F2"/>
          </a:solidFill>
          <a:ln xmlns:a="http://schemas.openxmlformats.org/drawingml/2006/main" w="9525">
            <a:solidFill>
              <a:srgbClr val="C7DADF"/>
            </a:solidFill>
          </a:ln>
        </p:spPr>
      </p:sp>
      <p:sp>
        <p:nvSpPr>
          <p:cNvPr id="6" name="">
            <a:extLst xmlns:a="http://schemas.openxmlformats.org/drawingml/2006/main">
              <a:ext uri="{FF2B5EF4-FFF2-40B4-BE49-F238E27FC236}">
                <a16:creationId xmlns:a16="http://schemas.microsoft.com/office/drawing/2014/main" id="{5019E270-1CCB-489B-B937-AB33DCCF30C8}"/>
              </a:ext>
            </a:extLst>
          </p:cNvPr>
          <p:cNvSpPr>
            <a:spLocks xmlns:a="http://schemas.openxmlformats.org/drawingml/2006/main" noGrp="1"/>
          </p:cNvSpPr>
          <p:nvPr/>
        </p:nvSpPr>
        <p:spPr>
          <a:xfrm xmlns:a="http://schemas.openxmlformats.org/drawingml/2006/main">
            <a:off x="781050" y="2828925"/>
            <a:ext cx="2171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12E43"/>
                </a:solidFill>
                <a:latin typeface="Arial"/>
                <a:ea typeface="Arial"/>
                <a:cs typeface="Arial"/>
              </a:defRPr>
            </a:pPr>
            <a:r>
              <a:rPr sz="1950" b="1">
                <a:solidFill>
                  <a:srgbClr val="112E43"/>
                </a:solidFill>
                <a:latin typeface="Arial"/>
                <a:ea typeface="Arial"/>
                <a:cs typeface="Arial"/>
              </a:rPr>
              <a:t>Empresa</a:t>
            </a:r>
          </a:p>
        </p:txBody>
      </p:sp>
      <p:sp>
        <p:nvSpPr>
          <p:cNvPr id="7" name="">
            <a:extLst xmlns:a="http://schemas.openxmlformats.org/drawingml/2006/main">
              <a:ext uri="{FF2B5EF4-FFF2-40B4-BE49-F238E27FC236}">
                <a16:creationId xmlns:a16="http://schemas.microsoft.com/office/drawing/2014/main" id="{B82DBABF-3FE3-47CE-B91C-65374CCB3CB2}"/>
              </a:ext>
            </a:extLst>
          </p:cNvPr>
          <p:cNvSpPr>
            <a:spLocks xmlns:a="http://schemas.openxmlformats.org/drawingml/2006/main" noGrp="1"/>
          </p:cNvSpPr>
          <p:nvPr/>
        </p:nvSpPr>
        <p:spPr>
          <a:xfrm xmlns:a="http://schemas.openxmlformats.org/drawingml/2006/main">
            <a:off x="781050" y="3390900"/>
            <a:ext cx="21717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74A"/>
                </a:solidFill>
                <a:latin typeface="Arial"/>
                <a:ea typeface="Arial"/>
                <a:cs typeface="Arial"/>
              </a:defRPr>
            </a:pPr>
            <a:r>
              <a:rPr sz="1875" b="0">
                <a:solidFill>
                  <a:srgbClr val="17374A"/>
                </a:solidFill>
                <a:latin typeface="Arial"/>
                <a:ea typeface="Arial"/>
                <a:cs typeface="Arial"/>
              </a:rPr>
              <a:t>Distribuidora</a:t>
            </a:r>
          </a:p>
          <a:p xmlns:a="http://schemas.openxmlformats.org/drawingml/2006/main">
            <a:pPr>
              <a:defRPr sz="1875" b="0">
                <a:solidFill>
                  <a:srgbClr val="17374A"/>
                </a:solidFill>
                <a:latin typeface="Arial"/>
                <a:ea typeface="Arial"/>
                <a:cs typeface="Arial"/>
              </a:defRPr>
            </a:pPr>
            <a:r>
              <a:rPr sz="1875" b="0">
                <a:solidFill>
                  <a:srgbClr val="17374A"/>
                </a:solidFill>
                <a:latin typeface="Arial"/>
                <a:ea typeface="Arial"/>
                <a:cs typeface="Arial"/>
              </a:rPr>
              <a:t>Andina</a:t>
            </a:r>
          </a:p>
        </p:txBody>
      </p:sp>
      <p:sp>
        <p:nvSpPr>
          <p:cNvPr id="8" name="">
            <a:extLst xmlns:a="http://schemas.openxmlformats.org/drawingml/2006/main">
              <a:ext uri="{FF2B5EF4-FFF2-40B4-BE49-F238E27FC236}">
                <a16:creationId xmlns:a16="http://schemas.microsoft.com/office/drawing/2014/main" id="{AC81FE44-2609-476D-96B7-04B88CBD29CC}"/>
              </a:ext>
            </a:extLst>
          </p:cNvPr>
          <p:cNvSpPr>
            <a:spLocks xmlns:a="http://schemas.openxmlformats.org/drawingml/2006/main" noGrp="1"/>
          </p:cNvSpPr>
          <p:nvPr/>
        </p:nvSpPr>
        <p:spPr>
          <a:xfrm xmlns:a="http://schemas.openxmlformats.org/drawingml/2006/main">
            <a:off x="3429000" y="2667000"/>
            <a:ext cx="2514600" cy="1828800"/>
          </a:xfrm>
          <a:prstGeom xmlns:a="http://schemas.openxmlformats.org/drawingml/2006/main" prst="rect">
            <a:avLst/>
          </a:prstGeom>
          <a:solidFill xmlns:a="http://schemas.openxmlformats.org/drawingml/2006/main">
            <a:srgbClr val="E8F5F2"/>
          </a:solidFill>
          <a:ln xmlns:a="http://schemas.openxmlformats.org/drawingml/2006/main" w="9525">
            <a:solidFill>
              <a:srgbClr val="C7DADF"/>
            </a:solidFill>
          </a:ln>
        </p:spPr>
      </p:sp>
      <p:sp>
        <p:nvSpPr>
          <p:cNvPr id="9" name="">
            <a:extLst xmlns:a="http://schemas.openxmlformats.org/drawingml/2006/main">
              <a:ext uri="{FF2B5EF4-FFF2-40B4-BE49-F238E27FC236}">
                <a16:creationId xmlns:a16="http://schemas.microsoft.com/office/drawing/2014/main" id="{53254FA5-2E3B-4728-883E-CA28F215594E}"/>
              </a:ext>
            </a:extLst>
          </p:cNvPr>
          <p:cNvSpPr>
            <a:spLocks xmlns:a="http://schemas.openxmlformats.org/drawingml/2006/main" noGrp="1"/>
          </p:cNvSpPr>
          <p:nvPr/>
        </p:nvSpPr>
        <p:spPr>
          <a:xfrm xmlns:a="http://schemas.openxmlformats.org/drawingml/2006/main">
            <a:off x="3600450" y="2828925"/>
            <a:ext cx="2171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12E43"/>
                </a:solidFill>
                <a:latin typeface="Arial"/>
                <a:ea typeface="Arial"/>
                <a:cs typeface="Arial"/>
              </a:defRPr>
            </a:pPr>
            <a:r>
              <a:rPr sz="1950" b="1">
                <a:solidFill>
                  <a:srgbClr val="112E43"/>
                </a:solidFill>
                <a:latin typeface="Arial"/>
                <a:ea typeface="Arial"/>
                <a:cs typeface="Arial"/>
              </a:rPr>
              <a:t>Contacto</a:t>
            </a:r>
          </a:p>
        </p:txBody>
      </p:sp>
      <p:sp>
        <p:nvSpPr>
          <p:cNvPr id="10" name="">
            <a:extLst xmlns:a="http://schemas.openxmlformats.org/drawingml/2006/main">
              <a:ext uri="{FF2B5EF4-FFF2-40B4-BE49-F238E27FC236}">
                <a16:creationId xmlns:a16="http://schemas.microsoft.com/office/drawing/2014/main" id="{53854826-E721-4AE5-A7C8-431D1923CECD}"/>
              </a:ext>
            </a:extLst>
          </p:cNvPr>
          <p:cNvSpPr>
            <a:spLocks xmlns:a="http://schemas.openxmlformats.org/drawingml/2006/main" noGrp="1"/>
          </p:cNvSpPr>
          <p:nvPr/>
        </p:nvSpPr>
        <p:spPr>
          <a:xfrm xmlns:a="http://schemas.openxmlformats.org/drawingml/2006/main">
            <a:off x="3600450" y="3390900"/>
            <a:ext cx="21717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74A"/>
                </a:solidFill>
                <a:latin typeface="Arial"/>
                <a:ea typeface="Arial"/>
                <a:cs typeface="Arial"/>
              </a:defRPr>
            </a:pPr>
            <a:r>
              <a:rPr sz="1875" b="0">
                <a:solidFill>
                  <a:srgbClr val="17374A"/>
                </a:solidFill>
                <a:latin typeface="Arial"/>
                <a:ea typeface="Arial"/>
                <a:cs typeface="Arial"/>
              </a:rPr>
              <a:t>Laura Gómez</a:t>
            </a:r>
          </a:p>
          <a:p xmlns:a="http://schemas.openxmlformats.org/drawingml/2006/main">
            <a:pPr>
              <a:defRPr sz="1875" b="0">
                <a:solidFill>
                  <a:srgbClr val="17374A"/>
                </a:solidFill>
                <a:latin typeface="Arial"/>
                <a:ea typeface="Arial"/>
                <a:cs typeface="Arial"/>
              </a:defRPr>
            </a:pPr>
            <a:r>
              <a:rPr sz="1875" b="0">
                <a:solidFill>
                  <a:srgbClr val="17374A"/>
                </a:solidFill>
                <a:latin typeface="Arial"/>
                <a:ea typeface="Arial"/>
                <a:cs typeface="Arial"/>
              </a:rPr>
              <a:t>Compras</a:t>
            </a:r>
          </a:p>
        </p:txBody>
      </p:sp>
      <p:sp>
        <p:nvSpPr>
          <p:cNvPr id="11" name="">
            <a:extLst xmlns:a="http://schemas.openxmlformats.org/drawingml/2006/main">
              <a:ext uri="{FF2B5EF4-FFF2-40B4-BE49-F238E27FC236}">
                <a16:creationId xmlns:a16="http://schemas.microsoft.com/office/drawing/2014/main" id="{F7EF29ED-FA7B-4AA6-9D50-F134F82C9D54}"/>
              </a:ext>
            </a:extLst>
          </p:cNvPr>
          <p:cNvSpPr>
            <a:spLocks xmlns:a="http://schemas.openxmlformats.org/drawingml/2006/main" noGrp="1"/>
          </p:cNvSpPr>
          <p:nvPr/>
        </p:nvSpPr>
        <p:spPr>
          <a:xfrm xmlns:a="http://schemas.openxmlformats.org/drawingml/2006/main">
            <a:off x="6248400" y="2667000"/>
            <a:ext cx="2514600" cy="1828800"/>
          </a:xfrm>
          <a:prstGeom xmlns:a="http://schemas.openxmlformats.org/drawingml/2006/main" prst="rect">
            <a:avLst/>
          </a:prstGeom>
          <a:solidFill xmlns:a="http://schemas.openxmlformats.org/drawingml/2006/main">
            <a:srgbClr val="E8F5F2"/>
          </a:solidFill>
          <a:ln xmlns:a="http://schemas.openxmlformats.org/drawingml/2006/main" w="9525">
            <a:solidFill>
              <a:srgbClr val="C7DADF"/>
            </a:solidFill>
          </a:ln>
        </p:spPr>
      </p:sp>
      <p:sp>
        <p:nvSpPr>
          <p:cNvPr id="12" name="">
            <a:extLst xmlns:a="http://schemas.openxmlformats.org/drawingml/2006/main">
              <a:ext uri="{FF2B5EF4-FFF2-40B4-BE49-F238E27FC236}">
                <a16:creationId xmlns:a16="http://schemas.microsoft.com/office/drawing/2014/main" id="{A7F053EE-CE94-45FE-BC0E-7DB12DB7D806}"/>
              </a:ext>
            </a:extLst>
          </p:cNvPr>
          <p:cNvSpPr>
            <a:spLocks xmlns:a="http://schemas.openxmlformats.org/drawingml/2006/main" noGrp="1"/>
          </p:cNvSpPr>
          <p:nvPr/>
        </p:nvSpPr>
        <p:spPr>
          <a:xfrm xmlns:a="http://schemas.openxmlformats.org/drawingml/2006/main">
            <a:off x="6419850" y="2828925"/>
            <a:ext cx="2171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12E43"/>
                </a:solidFill>
                <a:latin typeface="Arial"/>
                <a:ea typeface="Arial"/>
                <a:cs typeface="Arial"/>
              </a:defRPr>
            </a:pPr>
            <a:r>
              <a:rPr sz="1950" b="1">
                <a:solidFill>
                  <a:srgbClr val="112E43"/>
                </a:solidFill>
                <a:latin typeface="Arial"/>
                <a:ea typeface="Arial"/>
                <a:cs typeface="Arial"/>
              </a:rPr>
              <a:t>Oportunidad</a:t>
            </a:r>
          </a:p>
        </p:txBody>
      </p:sp>
      <p:sp>
        <p:nvSpPr>
          <p:cNvPr id="13" name="">
            <a:extLst xmlns:a="http://schemas.openxmlformats.org/drawingml/2006/main">
              <a:ext uri="{FF2B5EF4-FFF2-40B4-BE49-F238E27FC236}">
                <a16:creationId xmlns:a16="http://schemas.microsoft.com/office/drawing/2014/main" id="{D40BA7B5-40DA-4250-B319-4DA943E3F5C2}"/>
              </a:ext>
            </a:extLst>
          </p:cNvPr>
          <p:cNvSpPr>
            <a:spLocks xmlns:a="http://schemas.openxmlformats.org/drawingml/2006/main" noGrp="1"/>
          </p:cNvSpPr>
          <p:nvPr/>
        </p:nvSpPr>
        <p:spPr>
          <a:xfrm xmlns:a="http://schemas.openxmlformats.org/drawingml/2006/main">
            <a:off x="6419850" y="3390900"/>
            <a:ext cx="21717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74A"/>
                </a:solidFill>
                <a:latin typeface="Arial"/>
                <a:ea typeface="Arial"/>
                <a:cs typeface="Arial"/>
              </a:defRPr>
            </a:pPr>
            <a:r>
              <a:rPr sz="1875" b="0">
                <a:solidFill>
                  <a:srgbClr val="17374A"/>
                </a:solidFill>
                <a:latin typeface="Arial"/>
                <a:ea typeface="Arial"/>
                <a:cs typeface="Arial"/>
              </a:rPr>
              <a:t>20 licencias</a:t>
            </a:r>
          </a:p>
          <a:p xmlns:a="http://schemas.openxmlformats.org/drawingml/2006/main">
            <a:pPr>
              <a:defRPr sz="1875" b="0">
                <a:solidFill>
                  <a:srgbClr val="17374A"/>
                </a:solidFill>
                <a:latin typeface="Arial"/>
                <a:ea typeface="Arial"/>
                <a:cs typeface="Arial"/>
              </a:defRPr>
            </a:pPr>
            <a:r>
              <a:rPr sz="1875" b="0">
                <a:solidFill>
                  <a:srgbClr val="17374A"/>
                </a:solidFill>
                <a:latin typeface="Arial"/>
                <a:ea typeface="Arial"/>
                <a:cs typeface="Arial"/>
              </a:rPr>
              <a:t>Propuesta enviada</a:t>
            </a:r>
          </a:p>
        </p:txBody>
      </p:sp>
      <p:sp>
        <p:nvSpPr>
          <p:cNvPr id="14" name="">
            <a:extLst xmlns:a="http://schemas.openxmlformats.org/drawingml/2006/main">
              <a:ext uri="{FF2B5EF4-FFF2-40B4-BE49-F238E27FC236}">
                <a16:creationId xmlns:a16="http://schemas.microsoft.com/office/drawing/2014/main" id="{040BF469-D0FA-499E-92C0-17B65A4322E9}"/>
              </a:ext>
            </a:extLst>
          </p:cNvPr>
          <p:cNvSpPr>
            <a:spLocks xmlns:a="http://schemas.openxmlformats.org/drawingml/2006/main" noGrp="1"/>
          </p:cNvSpPr>
          <p:nvPr/>
        </p:nvSpPr>
        <p:spPr>
          <a:xfrm xmlns:a="http://schemas.openxmlformats.org/drawingml/2006/main">
            <a:off x="9067800" y="2667000"/>
            <a:ext cx="2514600" cy="1828800"/>
          </a:xfrm>
          <a:prstGeom xmlns:a="http://schemas.openxmlformats.org/drawingml/2006/main" prst="rect">
            <a:avLst/>
          </a:prstGeom>
          <a:solidFill xmlns:a="http://schemas.openxmlformats.org/drawingml/2006/main">
            <a:srgbClr val="E8F5F2"/>
          </a:solidFill>
          <a:ln xmlns:a="http://schemas.openxmlformats.org/drawingml/2006/main" w="9525">
            <a:solidFill>
              <a:srgbClr val="C7DADF"/>
            </a:solidFill>
          </a:ln>
        </p:spPr>
      </p:sp>
      <p:sp>
        <p:nvSpPr>
          <p:cNvPr id="15" name="">
            <a:extLst xmlns:a="http://schemas.openxmlformats.org/drawingml/2006/main">
              <a:ext uri="{FF2B5EF4-FFF2-40B4-BE49-F238E27FC236}">
                <a16:creationId xmlns:a16="http://schemas.microsoft.com/office/drawing/2014/main" id="{4751FF0E-BE91-437C-AD66-A0ABB49F1C35}"/>
              </a:ext>
            </a:extLst>
          </p:cNvPr>
          <p:cNvSpPr>
            <a:spLocks xmlns:a="http://schemas.openxmlformats.org/drawingml/2006/main" noGrp="1"/>
          </p:cNvSpPr>
          <p:nvPr/>
        </p:nvSpPr>
        <p:spPr>
          <a:xfrm xmlns:a="http://schemas.openxmlformats.org/drawingml/2006/main">
            <a:off x="9239250" y="2828925"/>
            <a:ext cx="2171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12E43"/>
                </a:solidFill>
                <a:latin typeface="Arial"/>
                <a:ea typeface="Arial"/>
                <a:cs typeface="Arial"/>
              </a:defRPr>
            </a:pPr>
            <a:r>
              <a:rPr sz="1950" b="1">
                <a:solidFill>
                  <a:srgbClr val="112E43"/>
                </a:solidFill>
                <a:latin typeface="Arial"/>
                <a:ea typeface="Arial"/>
                <a:cs typeface="Arial"/>
              </a:rPr>
              <a:t>Actividad</a:t>
            </a:r>
          </a:p>
        </p:txBody>
      </p:sp>
      <p:sp>
        <p:nvSpPr>
          <p:cNvPr id="16" name="">
            <a:extLst xmlns:a="http://schemas.openxmlformats.org/drawingml/2006/main">
              <a:ext uri="{FF2B5EF4-FFF2-40B4-BE49-F238E27FC236}">
                <a16:creationId xmlns:a16="http://schemas.microsoft.com/office/drawing/2014/main" id="{D293B568-7955-4F01-B86A-730FF84F70C0}"/>
              </a:ext>
            </a:extLst>
          </p:cNvPr>
          <p:cNvSpPr>
            <a:spLocks xmlns:a="http://schemas.openxmlformats.org/drawingml/2006/main" noGrp="1"/>
          </p:cNvSpPr>
          <p:nvPr/>
        </p:nvSpPr>
        <p:spPr>
          <a:xfrm xmlns:a="http://schemas.openxmlformats.org/drawingml/2006/main">
            <a:off x="9239250" y="3390900"/>
            <a:ext cx="21717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74A"/>
                </a:solidFill>
                <a:latin typeface="Arial"/>
                <a:ea typeface="Arial"/>
                <a:cs typeface="Arial"/>
              </a:defRPr>
            </a:pPr>
            <a:r>
              <a:rPr sz="1875" b="0">
                <a:solidFill>
                  <a:srgbClr val="17374A"/>
                </a:solidFill>
                <a:latin typeface="Arial"/>
                <a:ea typeface="Arial"/>
                <a:cs typeface="Arial"/>
              </a:rPr>
              <a:t>Llamar el viernes</a:t>
            </a:r>
          </a:p>
          <a:p xmlns:a="http://schemas.openxmlformats.org/drawingml/2006/main">
            <a:pPr>
              <a:defRPr sz="1875" b="0">
                <a:solidFill>
                  <a:srgbClr val="17374A"/>
                </a:solidFill>
                <a:latin typeface="Arial"/>
                <a:ea typeface="Arial"/>
                <a:cs typeface="Arial"/>
              </a:defRPr>
            </a:pPr>
            <a:r>
              <a:rPr sz="1875" b="0">
                <a:solidFill>
                  <a:srgbClr val="17374A"/>
                </a:solidFill>
                <a:latin typeface="Arial"/>
                <a:ea typeface="Arial"/>
                <a:cs typeface="Arial"/>
              </a:rPr>
              <a:t>Confirmar decisión</a:t>
            </a:r>
          </a:p>
        </p:txBody>
      </p:sp>
      <p:cxnSp>
        <p:nvCxnSpPr>
          <p:cNvPr id="39" name=""/>
          <p:cNvCxnSpPr>
            <a:stCxn xmlns:a="http://schemas.openxmlformats.org/drawingml/2006/main" id="5" idx="3"/>
            <a:endCxn xmlns:a="http://schemas.openxmlformats.org/drawingml/2006/main" id="8" idx="1"/>
          </p:cNvCxnSpPr>
          <p:nvPr/>
        </p:nvCxnSpPr>
        <p:spPr>
          <a:xfrm xmlns:a="http://schemas.openxmlformats.org/drawingml/2006/main">
            <a:off x="3124200" y="3581400"/>
            <a:ext cx="304800" cy="0"/>
          </a:xfrm>
          <a:prstGeom xmlns:a="http://schemas.openxmlformats.org/drawingml/2006/main" prst="straightConnector1">
            <a:avLst/>
          </a:prstGeom>
          <a:ln xmlns:a="http://schemas.openxmlformats.org/drawingml/2006/main" w="23813">
            <a:solidFill>
              <a:srgbClr val="087F8C"/>
            </a:solidFill>
            <a:tailEnd type="triangle" w="med" len="med"/>
          </a:ln>
        </p:spPr>
      </p:cxnSp>
      <p:cxnSp>
        <p:nvCxnSpPr>
          <p:cNvPr id="40" name=""/>
          <p:cNvCxnSpPr>
            <a:stCxn xmlns:a="http://schemas.openxmlformats.org/drawingml/2006/main" id="8" idx="3"/>
            <a:endCxn xmlns:a="http://schemas.openxmlformats.org/drawingml/2006/main" id="11" idx="1"/>
          </p:cNvCxnSpPr>
          <p:nvPr/>
        </p:nvCxnSpPr>
        <p:spPr>
          <a:xfrm xmlns:a="http://schemas.openxmlformats.org/drawingml/2006/main">
            <a:off x="5943600" y="3581400"/>
            <a:ext cx="304800" cy="0"/>
          </a:xfrm>
          <a:prstGeom xmlns:a="http://schemas.openxmlformats.org/drawingml/2006/main" prst="straightConnector1">
            <a:avLst/>
          </a:prstGeom>
          <a:ln xmlns:a="http://schemas.openxmlformats.org/drawingml/2006/main" w="23813">
            <a:solidFill>
              <a:srgbClr val="087F8C"/>
            </a:solidFill>
            <a:tailEnd type="triangle" w="med" len="med"/>
          </a:ln>
        </p:spPr>
      </p:cxnSp>
      <p:cxnSp>
        <p:nvCxnSpPr>
          <p:cNvPr id="41" name=""/>
          <p:cNvCxnSpPr>
            <a:stCxn xmlns:a="http://schemas.openxmlformats.org/drawingml/2006/main" id="11" idx="3"/>
            <a:endCxn xmlns:a="http://schemas.openxmlformats.org/drawingml/2006/main" id="14" idx="1"/>
          </p:cNvCxnSpPr>
          <p:nvPr/>
        </p:nvCxnSpPr>
        <p:spPr>
          <a:xfrm xmlns:a="http://schemas.openxmlformats.org/drawingml/2006/main">
            <a:off x="8763000" y="3581400"/>
            <a:ext cx="304800" cy="0"/>
          </a:xfrm>
          <a:prstGeom xmlns:a="http://schemas.openxmlformats.org/drawingml/2006/main" prst="straightConnector1">
            <a:avLst/>
          </a:prstGeom>
          <a:ln xmlns:a="http://schemas.openxmlformats.org/drawingml/2006/main" w="23813">
            <a:solidFill>
              <a:srgbClr val="087F8C"/>
            </a:solidFill>
            <a:tailEnd type="triangle" w="med" len="med"/>
          </a:ln>
        </p:spPr>
      </p:cxnSp>
      <p:sp>
        <p:nvSpPr>
          <p:cNvPr id="20" name="">
            <a:extLst xmlns:a="http://schemas.openxmlformats.org/drawingml/2006/main">
              <a:ext uri="{FF2B5EF4-FFF2-40B4-BE49-F238E27FC236}">
                <a16:creationId xmlns:a16="http://schemas.microsoft.com/office/drawing/2014/main" id="{8AC91EBF-EA87-4475-B2A9-BA41593F8198}"/>
              </a:ext>
            </a:extLst>
          </p:cNvPr>
          <p:cNvSpPr>
            <a:spLocks xmlns:a="http://schemas.openxmlformats.org/drawingml/2006/main" noGrp="1"/>
          </p:cNvSpPr>
          <p:nvPr/>
        </p:nvSpPr>
        <p:spPr>
          <a:xfrm xmlns:a="http://schemas.openxmlformats.org/drawingml/2006/main">
            <a:off x="609600" y="5000625"/>
            <a:ext cx="257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12E43"/>
                </a:solidFill>
                <a:latin typeface="Arial"/>
                <a:ea typeface="Arial"/>
                <a:cs typeface="Arial"/>
              </a:defRPr>
            </a:pPr>
            <a:r>
              <a:rPr sz="2175" b="1">
                <a:solidFill>
                  <a:srgbClr val="112E43"/>
                </a:solidFill>
                <a:latin typeface="Arial"/>
                <a:ea typeface="Arial"/>
                <a:cs typeface="Arial"/>
              </a:rPr>
              <a:t>Problema</a:t>
            </a:r>
          </a:p>
        </p:txBody>
      </p:sp>
      <p:sp>
        <p:nvSpPr>
          <p:cNvPr id="21" name="">
            <a:extLst xmlns:a="http://schemas.openxmlformats.org/drawingml/2006/main">
              <a:ext uri="{FF2B5EF4-FFF2-40B4-BE49-F238E27FC236}">
                <a16:creationId xmlns:a16="http://schemas.microsoft.com/office/drawing/2014/main" id="{250E5273-C75A-4AD5-BBC8-201007434B14}"/>
              </a:ext>
            </a:extLst>
          </p:cNvPr>
          <p:cNvSpPr>
            <a:spLocks xmlns:a="http://schemas.openxmlformats.org/drawingml/2006/main" noGrp="1"/>
          </p:cNvSpPr>
          <p:nvPr/>
        </p:nvSpPr>
        <p:spPr>
          <a:xfrm xmlns:a="http://schemas.openxmlformats.org/drawingml/2006/main">
            <a:off x="3238500" y="4981575"/>
            <a:ext cx="8096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74A"/>
                </a:solidFill>
                <a:latin typeface="Arial"/>
                <a:ea typeface="Arial"/>
                <a:cs typeface="Arial"/>
              </a:defRPr>
            </a:pPr>
            <a:r>
              <a:rPr sz="2175" b="0">
                <a:solidFill>
                  <a:srgbClr val="17374A"/>
                </a:solidFill>
                <a:latin typeface="Arial"/>
                <a:ea typeface="Arial"/>
                <a:cs typeface="Arial"/>
              </a:rPr>
              <a:t>Si estos datos están separados, cuesta saber qué sigue en la negociación.</a:t>
            </a:r>
          </a:p>
        </p:txBody>
      </p:sp>
      <p:sp>
        <p:nvSpPr>
          <p:cNvPr id="22" name="">
            <a:extLst xmlns:a="http://schemas.openxmlformats.org/drawingml/2006/main">
              <a:ext uri="{FF2B5EF4-FFF2-40B4-BE49-F238E27FC236}">
                <a16:creationId xmlns:a16="http://schemas.microsoft.com/office/drawing/2014/main" id="{420712CC-0825-49B9-A09B-14A5AC99C24A}"/>
              </a:ext>
            </a:extLst>
          </p:cNvPr>
          <p:cNvSpPr>
            <a:spLocks xmlns:a="http://schemas.openxmlformats.org/drawingml/2006/main" noGrp="1"/>
          </p:cNvSpPr>
          <p:nvPr/>
        </p:nvSpPr>
        <p:spPr>
          <a:xfrm xmlns:a="http://schemas.openxmlformats.org/drawingml/2006/main">
            <a:off x="609600" y="59817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87F8C"/>
                </a:solidFill>
                <a:latin typeface="Arial"/>
                <a:ea typeface="Arial"/>
                <a:cs typeface="Arial"/>
              </a:defRPr>
            </a:pPr>
            <a:r>
              <a:rPr sz="1950" b="1">
                <a:solidFill>
                  <a:srgbClr val="087F8C"/>
                </a:solidFill>
                <a:latin typeface="Arial"/>
                <a:ea typeface="Arial"/>
                <a:cs typeface="Arial"/>
              </a:rPr>
              <a:t>Nexo relaciona los registros y permite consultar la etapa y el seguimiento.</a:t>
            </a:r>
          </a:p>
        </p:txBody>
      </p:sp>
    </p:spTree>
    <p:extLst>
      <p:ext uri="{BB962C8B-B14F-4D97-AF65-F5344CB8AC3E}">
        <p14:creationId xmlns:p14="http://schemas.microsoft.com/office/powerpoint/2010/main" val="92287197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97812903-4322-426A-9381-E88E47512334}"/>
              </a:ext>
            </a:extLst>
          </p:cNvPr>
          <p:cNvSpPr>
            <a:spLocks xmlns:a="http://schemas.openxmlformats.org/drawingml/2006/main" noGrp="1"/>
          </p:cNvSpPr>
          <p:nvPr/>
        </p:nvSpPr>
        <p:spPr>
          <a:xfrm xmlns:a="http://schemas.openxmlformats.org/drawingml/2006/main">
            <a:off x="609600" y="304800"/>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87F8C"/>
                </a:solidFill>
                <a:latin typeface="Arial"/>
                <a:ea typeface="Arial"/>
                <a:cs typeface="Arial"/>
              </a:defRPr>
            </a:pPr>
            <a:r>
              <a:rPr sz="1350" b="1">
                <a:solidFill>
                  <a:srgbClr val="087F8C"/>
                </a:solidFill>
                <a:latin typeface="Arial"/>
                <a:ea typeface="Arial"/>
                <a:cs typeface="Arial"/>
              </a:rPr>
              <a:t>C4: ALCANCE DEL SISTEMA</a:t>
            </a:r>
          </a:p>
        </p:txBody>
      </p:sp>
      <p:sp>
        <p:nvSpPr>
          <p:cNvPr id="2" name="">
            <a:extLst xmlns:a="http://schemas.openxmlformats.org/drawingml/2006/main">
              <a:ext uri="{FF2B5EF4-FFF2-40B4-BE49-F238E27FC236}">
                <a16:creationId xmlns:a16="http://schemas.microsoft.com/office/drawing/2014/main" id="{DB746A9A-6431-450D-ACC4-5368CAD896BD}"/>
              </a:ext>
            </a:extLst>
          </p:cNvPr>
          <p:cNvSpPr>
            <a:spLocks xmlns:a="http://schemas.openxmlformats.org/drawingml/2006/main" noGrp="1"/>
          </p:cNvSpPr>
          <p:nvPr/>
        </p:nvSpPr>
        <p:spPr>
          <a:xfrm xmlns:a="http://schemas.openxmlformats.org/drawingml/2006/main">
            <a:off x="609600" y="752475"/>
            <a:ext cx="109537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12E43"/>
                </a:solidFill>
                <a:latin typeface="Arial"/>
                <a:ea typeface="Arial"/>
                <a:cs typeface="Arial"/>
              </a:defRPr>
            </a:pPr>
            <a:r>
              <a:rPr sz="3300" b="1">
                <a:solidFill>
                  <a:srgbClr val="112E43"/>
                </a:solidFill>
                <a:latin typeface="Arial"/>
                <a:ea typeface="Arial"/>
                <a:cs typeface="Arial"/>
              </a:rPr>
              <a:t>Nivel 1 · Personas y dependencias</a:t>
            </a:r>
          </a:p>
        </p:txBody>
      </p:sp>
      <p:sp>
        <p:nvSpPr>
          <p:cNvPr id="3" name="">
            <a:extLst xmlns:a="http://schemas.openxmlformats.org/drawingml/2006/main">
              <a:ext uri="{FF2B5EF4-FFF2-40B4-BE49-F238E27FC236}">
                <a16:creationId xmlns:a16="http://schemas.microsoft.com/office/drawing/2014/main" id="{DB72C4D2-BFCB-468E-9AE4-C05483380729}"/>
              </a:ext>
            </a:extLst>
          </p:cNvPr>
          <p:cNvSpPr>
            <a:spLocks xmlns:a="http://schemas.openxmlformats.org/drawingml/2006/main" noGrp="1"/>
          </p:cNvSpPr>
          <p:nvPr/>
        </p:nvSpPr>
        <p:spPr>
          <a:xfrm xmlns:a="http://schemas.openxmlformats.org/drawingml/2006/main">
            <a:off x="11049000" y="638175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46E7D"/>
                </a:solidFill>
                <a:latin typeface="Arial"/>
                <a:ea typeface="Arial"/>
                <a:cs typeface="Arial"/>
              </a:defRPr>
            </a:pPr>
            <a:r>
              <a:rPr sz="1200" b="0">
                <a:solidFill>
                  <a:srgbClr val="546E7D"/>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E63FBB77-0A1B-4FEC-B09D-7F9ED891045A}"/>
              </a:ext>
            </a:extLst>
          </p:cNvPr>
          <p:cNvSpPr>
            <a:spLocks xmlns:a="http://schemas.openxmlformats.org/drawingml/2006/main" noGrp="1"/>
          </p:cNvSpPr>
          <p:nvPr/>
        </p:nvSpPr>
        <p:spPr>
          <a:xfrm xmlns:a="http://schemas.openxmlformats.org/drawingml/2006/main">
            <a:off x="609600" y="2552700"/>
            <a:ext cx="2905125" cy="2857500"/>
          </a:xfrm>
          <a:prstGeom xmlns:a="http://schemas.openxmlformats.org/drawingml/2006/main" prst="rect">
            <a:avLst/>
          </a:prstGeom>
          <a:solidFill xmlns:a="http://schemas.openxmlformats.org/drawingml/2006/main">
            <a:srgbClr val="F1F5F7"/>
          </a:solidFill>
          <a:ln xmlns:a="http://schemas.openxmlformats.org/drawingml/2006/main" w="9525">
            <a:solidFill>
              <a:srgbClr val="C7DADF"/>
            </a:solidFill>
          </a:ln>
        </p:spPr>
      </p:sp>
      <p:sp>
        <p:nvSpPr>
          <p:cNvPr id="5" name="">
            <a:extLst xmlns:a="http://schemas.openxmlformats.org/drawingml/2006/main">
              <a:ext uri="{FF2B5EF4-FFF2-40B4-BE49-F238E27FC236}">
                <a16:creationId xmlns:a16="http://schemas.microsoft.com/office/drawing/2014/main" id="{7672BDC7-F783-4476-9F3A-93194F4BF031}"/>
              </a:ext>
            </a:extLst>
          </p:cNvPr>
          <p:cNvSpPr>
            <a:spLocks xmlns:a="http://schemas.openxmlformats.org/drawingml/2006/main" noGrp="1"/>
          </p:cNvSpPr>
          <p:nvPr/>
        </p:nvSpPr>
        <p:spPr>
          <a:xfrm xmlns:a="http://schemas.openxmlformats.org/drawingml/2006/main">
            <a:off x="781050" y="2714625"/>
            <a:ext cx="25622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12E43"/>
                </a:solidFill>
                <a:latin typeface="Arial"/>
                <a:ea typeface="Arial"/>
                <a:cs typeface="Arial"/>
              </a:defRPr>
            </a:pPr>
            <a:r>
              <a:rPr sz="1950" b="1">
                <a:solidFill>
                  <a:srgbClr val="112E43"/>
                </a:solidFill>
                <a:latin typeface="Arial"/>
                <a:ea typeface="Arial"/>
                <a:cs typeface="Arial"/>
              </a:rPr>
              <a:t>Usuarios</a:t>
            </a:r>
          </a:p>
        </p:txBody>
      </p:sp>
      <p:sp>
        <p:nvSpPr>
          <p:cNvPr id="6" name="">
            <a:extLst xmlns:a="http://schemas.openxmlformats.org/drawingml/2006/main">
              <a:ext uri="{FF2B5EF4-FFF2-40B4-BE49-F238E27FC236}">
                <a16:creationId xmlns:a16="http://schemas.microsoft.com/office/drawing/2014/main" id="{766C02CE-8061-4B23-B50C-374B78714396}"/>
              </a:ext>
            </a:extLst>
          </p:cNvPr>
          <p:cNvSpPr>
            <a:spLocks xmlns:a="http://schemas.openxmlformats.org/drawingml/2006/main" noGrp="1"/>
          </p:cNvSpPr>
          <p:nvPr/>
        </p:nvSpPr>
        <p:spPr>
          <a:xfrm xmlns:a="http://schemas.openxmlformats.org/drawingml/2006/main">
            <a:off x="781050" y="3276600"/>
            <a:ext cx="2562225" cy="2038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7374A"/>
                </a:solidFill>
                <a:latin typeface="Arial"/>
                <a:ea typeface="Arial"/>
                <a:cs typeface="Arial"/>
              </a:defRPr>
            </a:pPr>
            <a:r>
              <a:rPr sz="1800" b="0">
                <a:solidFill>
                  <a:srgbClr val="17374A"/>
                </a:solidFill>
                <a:latin typeface="Arial"/>
                <a:ea typeface="Arial"/>
                <a:cs typeface="Arial"/>
              </a:rPr>
              <a:t>Diana: ventas y</a:t>
            </a:r>
          </a:p>
          <a:p xmlns:a="http://schemas.openxmlformats.org/drawingml/2006/main">
            <a:pPr>
              <a:defRPr sz="1800" b="0">
                <a:solidFill>
                  <a:srgbClr val="17374A"/>
                </a:solidFill>
                <a:latin typeface="Arial"/>
                <a:ea typeface="Arial"/>
                <a:cs typeface="Arial"/>
              </a:defRPr>
            </a:pPr>
            <a:r>
              <a:rPr sz="1800" b="0">
                <a:solidFill>
                  <a:srgbClr val="17374A"/>
                </a:solidFill>
                <a:latin typeface="Arial"/>
                <a:ea typeface="Arial"/>
                <a:cs typeface="Arial"/>
              </a:rPr>
              <a:t>seguimiento.</a:t>
            </a:r>
          </a:p>
          <a:p xmlns:a="http://schemas.openxmlformats.org/drawingml/2006/main">
            <a:pPr>
              <a:defRPr sz="1800" b="0">
                <a:solidFill>
                  <a:srgbClr val="17374A"/>
                </a:solidFill>
                <a:latin typeface="Arial"/>
                <a:ea typeface="Arial"/>
                <a:cs typeface="Arial"/>
              </a:defRPr>
            </a:pPr>
            <a:r>
              <a:rPr sz="1800" b="0">
                <a:solidFill>
                  <a:srgbClr val="17374A"/>
                </a:solidFill>
                <a:latin typeface="Arial"/>
                <a:ea typeface="Arial"/>
                <a:cs typeface="Arial"/>
              </a:rPr>
              <a:t>Gerente: pipeline</a:t>
            </a:r>
          </a:p>
          <a:p xmlns:a="http://schemas.openxmlformats.org/drawingml/2006/main">
            <a:pPr>
              <a:defRPr sz="1800" b="0">
                <a:solidFill>
                  <a:srgbClr val="17374A"/>
                </a:solidFill>
                <a:latin typeface="Arial"/>
                <a:ea typeface="Arial"/>
                <a:cs typeface="Arial"/>
              </a:defRPr>
            </a:pPr>
            <a:r>
              <a:rPr sz="1800" b="0">
                <a:solidFill>
                  <a:srgbClr val="17374A"/>
                </a:solidFill>
                <a:latin typeface="Arial"/>
                <a:ea typeface="Arial"/>
                <a:cs typeface="Arial"/>
              </a:rPr>
              <a:t>y reportes.</a:t>
            </a:r>
          </a:p>
          <a:p xmlns:a="http://schemas.openxmlformats.org/drawingml/2006/main">
            <a:pPr>
              <a:defRPr sz="1800" b="0">
                <a:solidFill>
                  <a:srgbClr val="17374A"/>
                </a:solidFill>
                <a:latin typeface="Arial"/>
                <a:ea typeface="Arial"/>
                <a:cs typeface="Arial"/>
              </a:defRPr>
            </a:pPr>
            <a:r>
              <a:rPr sz="1800" b="0">
                <a:solidFill>
                  <a:srgbClr val="17374A"/>
                </a:solidFill>
                <a:latin typeface="Arial"/>
                <a:ea typeface="Arial"/>
                <a:cs typeface="Arial"/>
              </a:rPr>
              <a:t>Admin: configuración.</a:t>
            </a:r>
          </a:p>
        </p:txBody>
      </p:sp>
      <p:sp>
        <p:nvSpPr>
          <p:cNvPr id="7" name="">
            <a:extLst xmlns:a="http://schemas.openxmlformats.org/drawingml/2006/main">
              <a:ext uri="{FF2B5EF4-FFF2-40B4-BE49-F238E27FC236}">
                <a16:creationId xmlns:a16="http://schemas.microsoft.com/office/drawing/2014/main" id="{D15E67E7-456B-4460-A4F0-BF776BE6D729}"/>
              </a:ext>
            </a:extLst>
          </p:cNvPr>
          <p:cNvSpPr>
            <a:spLocks xmlns:a="http://schemas.openxmlformats.org/drawingml/2006/main" noGrp="1"/>
          </p:cNvSpPr>
          <p:nvPr/>
        </p:nvSpPr>
        <p:spPr>
          <a:xfrm xmlns:a="http://schemas.openxmlformats.org/drawingml/2006/main">
            <a:off x="4714875" y="3076575"/>
            <a:ext cx="2905125" cy="1809750"/>
          </a:xfrm>
          <a:prstGeom xmlns:a="http://schemas.openxmlformats.org/drawingml/2006/main" prst="rect">
            <a:avLst/>
          </a:prstGeom>
          <a:solidFill xmlns:a="http://schemas.openxmlformats.org/drawingml/2006/main">
            <a:srgbClr val="E8F5F2"/>
          </a:solidFill>
          <a:ln xmlns:a="http://schemas.openxmlformats.org/drawingml/2006/main" w="9525">
            <a:solidFill>
              <a:srgbClr val="C7DADF"/>
            </a:solidFill>
          </a:ln>
        </p:spPr>
      </p:sp>
      <p:sp>
        <p:nvSpPr>
          <p:cNvPr id="8" name="">
            <a:extLst xmlns:a="http://schemas.openxmlformats.org/drawingml/2006/main">
              <a:ext uri="{FF2B5EF4-FFF2-40B4-BE49-F238E27FC236}">
                <a16:creationId xmlns:a16="http://schemas.microsoft.com/office/drawing/2014/main" id="{2BEA6A81-A13C-4F66-91B2-61A7697F72FB}"/>
              </a:ext>
            </a:extLst>
          </p:cNvPr>
          <p:cNvSpPr>
            <a:spLocks xmlns:a="http://schemas.openxmlformats.org/drawingml/2006/main" noGrp="1"/>
          </p:cNvSpPr>
          <p:nvPr/>
        </p:nvSpPr>
        <p:spPr>
          <a:xfrm xmlns:a="http://schemas.openxmlformats.org/drawingml/2006/main">
            <a:off x="4886325" y="3238500"/>
            <a:ext cx="25622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12E43"/>
                </a:solidFill>
                <a:latin typeface="Arial"/>
                <a:ea typeface="Arial"/>
                <a:cs typeface="Arial"/>
              </a:defRPr>
            </a:pPr>
            <a:r>
              <a:rPr sz="1950" b="1">
                <a:solidFill>
                  <a:srgbClr val="112E43"/>
                </a:solidFill>
                <a:latin typeface="Arial"/>
                <a:ea typeface="Arial"/>
                <a:cs typeface="Arial"/>
              </a:rPr>
              <a:t>Nexo CRM</a:t>
            </a:r>
          </a:p>
        </p:txBody>
      </p:sp>
      <p:sp>
        <p:nvSpPr>
          <p:cNvPr id="9" name="">
            <a:extLst xmlns:a="http://schemas.openxmlformats.org/drawingml/2006/main">
              <a:ext uri="{FF2B5EF4-FFF2-40B4-BE49-F238E27FC236}">
                <a16:creationId xmlns:a16="http://schemas.microsoft.com/office/drawing/2014/main" id="{FEFBEA16-EDF2-4381-9E14-47C4DBDE2AA4}"/>
              </a:ext>
            </a:extLst>
          </p:cNvPr>
          <p:cNvSpPr>
            <a:spLocks xmlns:a="http://schemas.openxmlformats.org/drawingml/2006/main" noGrp="1"/>
          </p:cNvSpPr>
          <p:nvPr/>
        </p:nvSpPr>
        <p:spPr>
          <a:xfrm xmlns:a="http://schemas.openxmlformats.org/drawingml/2006/main">
            <a:off x="4886325" y="3800475"/>
            <a:ext cx="25622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74A"/>
                </a:solidFill>
                <a:latin typeface="Arial"/>
                <a:ea typeface="Arial"/>
                <a:cs typeface="Arial"/>
              </a:defRPr>
            </a:pPr>
            <a:r>
              <a:rPr sz="1875" b="0">
                <a:solidFill>
                  <a:srgbClr val="17374A"/>
                </a:solidFill>
                <a:latin typeface="Arial"/>
                <a:ea typeface="Arial"/>
                <a:cs typeface="Arial"/>
              </a:rPr>
              <a:t>Centraliza la gestión</a:t>
            </a:r>
          </a:p>
          <a:p xmlns:a="http://schemas.openxmlformats.org/drawingml/2006/main">
            <a:pPr>
              <a:defRPr sz="1875" b="0">
                <a:solidFill>
                  <a:srgbClr val="17374A"/>
                </a:solidFill>
                <a:latin typeface="Arial"/>
                <a:ea typeface="Arial"/>
                <a:cs typeface="Arial"/>
              </a:defRPr>
            </a:pPr>
            <a:r>
              <a:rPr sz="1875" b="0">
                <a:solidFill>
                  <a:srgbClr val="17374A"/>
                </a:solidFill>
                <a:latin typeface="Arial"/>
                <a:ea typeface="Arial"/>
                <a:cs typeface="Arial"/>
              </a:rPr>
              <a:t>comercial B2B.</a:t>
            </a:r>
          </a:p>
        </p:txBody>
      </p:sp>
      <p:sp>
        <p:nvSpPr>
          <p:cNvPr id="10" name="">
            <a:extLst xmlns:a="http://schemas.openxmlformats.org/drawingml/2006/main">
              <a:ext uri="{FF2B5EF4-FFF2-40B4-BE49-F238E27FC236}">
                <a16:creationId xmlns:a16="http://schemas.microsoft.com/office/drawing/2014/main" id="{1F366233-8506-436C-A909-EA8392B5A50C}"/>
              </a:ext>
            </a:extLst>
          </p:cNvPr>
          <p:cNvSpPr>
            <a:spLocks xmlns:a="http://schemas.openxmlformats.org/drawingml/2006/main" noGrp="1"/>
          </p:cNvSpPr>
          <p:nvPr/>
        </p:nvSpPr>
        <p:spPr>
          <a:xfrm xmlns:a="http://schemas.openxmlformats.org/drawingml/2006/main">
            <a:off x="8696325" y="3076575"/>
            <a:ext cx="2886075" cy="1809750"/>
          </a:xfrm>
          <a:prstGeom xmlns:a="http://schemas.openxmlformats.org/drawingml/2006/main" prst="rect">
            <a:avLst/>
          </a:prstGeom>
          <a:solidFill xmlns:a="http://schemas.openxmlformats.org/drawingml/2006/main">
            <a:srgbClr val="F1F5F7"/>
          </a:solidFill>
          <a:ln xmlns:a="http://schemas.openxmlformats.org/drawingml/2006/main" w="9525">
            <a:solidFill>
              <a:srgbClr val="C7DADF"/>
            </a:solidFill>
          </a:ln>
        </p:spPr>
      </p:sp>
      <p:sp>
        <p:nvSpPr>
          <p:cNvPr id="11" name="">
            <a:extLst xmlns:a="http://schemas.openxmlformats.org/drawingml/2006/main">
              <a:ext uri="{FF2B5EF4-FFF2-40B4-BE49-F238E27FC236}">
                <a16:creationId xmlns:a16="http://schemas.microsoft.com/office/drawing/2014/main" id="{CBBC9A53-CBAE-4545-AFA2-159E0EF8B291}"/>
              </a:ext>
            </a:extLst>
          </p:cNvPr>
          <p:cNvSpPr>
            <a:spLocks xmlns:a="http://schemas.openxmlformats.org/drawingml/2006/main" noGrp="1"/>
          </p:cNvSpPr>
          <p:nvPr/>
        </p:nvSpPr>
        <p:spPr>
          <a:xfrm xmlns:a="http://schemas.openxmlformats.org/drawingml/2006/main">
            <a:off x="8867775" y="3238500"/>
            <a:ext cx="25431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12E43"/>
                </a:solidFill>
                <a:latin typeface="Arial"/>
                <a:ea typeface="Arial"/>
                <a:cs typeface="Arial"/>
              </a:defRPr>
            </a:pPr>
            <a:r>
              <a:rPr sz="1950" b="1">
                <a:solidFill>
                  <a:srgbClr val="112E43"/>
                </a:solidFill>
                <a:latin typeface="Arial"/>
                <a:ea typeface="Arial"/>
                <a:cs typeface="Arial"/>
              </a:rPr>
              <a:t>Supabase</a:t>
            </a:r>
          </a:p>
        </p:txBody>
      </p:sp>
      <p:sp>
        <p:nvSpPr>
          <p:cNvPr id="12" name="">
            <a:extLst xmlns:a="http://schemas.openxmlformats.org/drawingml/2006/main">
              <a:ext uri="{FF2B5EF4-FFF2-40B4-BE49-F238E27FC236}">
                <a16:creationId xmlns:a16="http://schemas.microsoft.com/office/drawing/2014/main" id="{BE1BC756-83D4-446A-A37C-08029533016B}"/>
              </a:ext>
            </a:extLst>
          </p:cNvPr>
          <p:cNvSpPr>
            <a:spLocks xmlns:a="http://schemas.openxmlformats.org/drawingml/2006/main" noGrp="1"/>
          </p:cNvSpPr>
          <p:nvPr/>
        </p:nvSpPr>
        <p:spPr>
          <a:xfrm xmlns:a="http://schemas.openxmlformats.org/drawingml/2006/main">
            <a:off x="8867775" y="3800475"/>
            <a:ext cx="25431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74A"/>
                </a:solidFill>
                <a:latin typeface="Arial"/>
                <a:ea typeface="Arial"/>
                <a:cs typeface="Arial"/>
              </a:defRPr>
            </a:pPr>
            <a:r>
              <a:rPr sz="1875" b="0">
                <a:solidFill>
                  <a:srgbClr val="17374A"/>
                </a:solidFill>
                <a:latin typeface="Arial"/>
                <a:ea typeface="Arial"/>
                <a:cs typeface="Arial"/>
              </a:rPr>
              <a:t>Autentica usuarios</a:t>
            </a:r>
          </a:p>
          <a:p xmlns:a="http://schemas.openxmlformats.org/drawingml/2006/main">
            <a:pPr>
              <a:defRPr sz="1875" b="0">
                <a:solidFill>
                  <a:srgbClr val="17374A"/>
                </a:solidFill>
                <a:latin typeface="Arial"/>
                <a:ea typeface="Arial"/>
                <a:cs typeface="Arial"/>
              </a:defRPr>
            </a:pPr>
            <a:r>
              <a:rPr sz="1875" b="0">
                <a:solidFill>
                  <a:srgbClr val="17374A"/>
                </a:solidFill>
                <a:latin typeface="Arial"/>
                <a:ea typeface="Arial"/>
                <a:cs typeface="Arial"/>
              </a:rPr>
              <a:t>y almacena datos.</a:t>
            </a:r>
          </a:p>
        </p:txBody>
      </p:sp>
      <p:sp>
        <p:nvSpPr>
          <p:cNvPr id="13" name="">
            <a:extLst xmlns:a="http://schemas.openxmlformats.org/drawingml/2006/main">
              <a:ext uri="{FF2B5EF4-FFF2-40B4-BE49-F238E27FC236}">
                <a16:creationId xmlns:a16="http://schemas.microsoft.com/office/drawing/2014/main" id="{FF4D48BC-219C-4529-A745-248BCEEE89DF}"/>
              </a:ext>
            </a:extLst>
          </p:cNvPr>
          <p:cNvSpPr>
            <a:spLocks xmlns:a="http://schemas.openxmlformats.org/drawingml/2006/main" noGrp="1"/>
          </p:cNvSpPr>
          <p:nvPr/>
        </p:nvSpPr>
        <p:spPr>
          <a:xfrm xmlns:a="http://schemas.openxmlformats.org/drawingml/2006/main">
            <a:off x="3667125" y="3514725"/>
            <a:ext cx="95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087F8C"/>
                </a:solidFill>
                <a:latin typeface="Arial"/>
                <a:ea typeface="Arial"/>
                <a:cs typeface="Arial"/>
              </a:defRPr>
            </a:pPr>
            <a:r>
              <a:rPr sz="1575" b="1">
                <a:solidFill>
                  <a:srgbClr val="087F8C"/>
                </a:solidFill>
                <a:latin typeface="Arial"/>
                <a:ea typeface="Arial"/>
                <a:cs typeface="Arial"/>
              </a:rPr>
              <a:t>Usan</a:t>
            </a:r>
          </a:p>
        </p:txBody>
      </p:sp>
      <p:cxnSp>
        <p:nvCxnSpPr>
          <p:cNvPr id="31" name=""/>
          <p:cNvCxnSpPr>
            <a:stCxn xmlns:a="http://schemas.openxmlformats.org/drawingml/2006/main" id="4" idx="3"/>
            <a:endCxn xmlns:a="http://schemas.openxmlformats.org/drawingml/2006/main" id="7" idx="1"/>
          </p:cNvCxnSpPr>
          <p:nvPr/>
        </p:nvCxnSpPr>
        <p:spPr>
          <a:xfrm xmlns:a="http://schemas.openxmlformats.org/drawingml/2006/main">
            <a:off x="3514725" y="3981450"/>
            <a:ext cx="1200150" cy="0"/>
          </a:xfrm>
          <a:prstGeom xmlns:a="http://schemas.openxmlformats.org/drawingml/2006/main" prst="straightConnector1">
            <a:avLst/>
          </a:prstGeom>
          <a:ln xmlns:a="http://schemas.openxmlformats.org/drawingml/2006/main" w="23813">
            <a:solidFill>
              <a:srgbClr val="087F8C"/>
            </a:solidFill>
            <a:tailEnd type="triangle" w="med" len="med"/>
          </a:ln>
        </p:spPr>
      </p:cxnSp>
      <p:cxnSp>
        <p:nvCxnSpPr>
          <p:cNvPr id="32" name=""/>
          <p:cNvCxnSpPr>
            <a:stCxn xmlns:a="http://schemas.openxmlformats.org/drawingml/2006/main" id="7" idx="3"/>
            <a:endCxn xmlns:a="http://schemas.openxmlformats.org/drawingml/2006/main" id="10" idx="1"/>
          </p:cNvCxnSpPr>
          <p:nvPr/>
        </p:nvCxnSpPr>
        <p:spPr>
          <a:xfrm xmlns:a="http://schemas.openxmlformats.org/drawingml/2006/main">
            <a:off x="7620000" y="3981450"/>
            <a:ext cx="1076325" cy="0"/>
          </a:xfrm>
          <a:prstGeom xmlns:a="http://schemas.openxmlformats.org/drawingml/2006/main" prst="straightConnector1">
            <a:avLst/>
          </a:prstGeom>
          <a:ln xmlns:a="http://schemas.openxmlformats.org/drawingml/2006/main" w="23813">
            <a:solidFill>
              <a:srgbClr val="087F8C"/>
            </a:solidFill>
            <a:tailEnd type="triangle" w="med" len="med"/>
          </a:ln>
        </p:spPr>
      </p:cxnSp>
      <p:sp>
        <p:nvSpPr>
          <p:cNvPr id="16" name="">
            <a:extLst xmlns:a="http://schemas.openxmlformats.org/drawingml/2006/main">
              <a:ext uri="{FF2B5EF4-FFF2-40B4-BE49-F238E27FC236}">
                <a16:creationId xmlns:a16="http://schemas.microsoft.com/office/drawing/2014/main" id="{62959BEE-FEC7-439C-827B-9FAE70108DBF}"/>
              </a:ext>
            </a:extLst>
          </p:cNvPr>
          <p:cNvSpPr>
            <a:spLocks xmlns:a="http://schemas.openxmlformats.org/drawingml/2006/main" noGrp="1"/>
          </p:cNvSpPr>
          <p:nvPr/>
        </p:nvSpPr>
        <p:spPr>
          <a:xfrm xmlns:a="http://schemas.openxmlformats.org/drawingml/2006/main">
            <a:off x="7724775" y="3514725"/>
            <a:ext cx="914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087F8C"/>
                </a:solidFill>
                <a:latin typeface="Arial"/>
                <a:ea typeface="Arial"/>
                <a:cs typeface="Arial"/>
              </a:defRPr>
            </a:pPr>
            <a:r>
              <a:rPr sz="1575" b="1">
                <a:solidFill>
                  <a:srgbClr val="087F8C"/>
                </a:solidFill>
                <a:latin typeface="Arial"/>
                <a:ea typeface="Arial"/>
                <a:cs typeface="Arial"/>
              </a:rPr>
              <a:t>HTTPS</a:t>
            </a:r>
          </a:p>
        </p:txBody>
      </p:sp>
      <p:sp>
        <p:nvSpPr>
          <p:cNvPr id="17" name="">
            <a:extLst xmlns:a="http://schemas.openxmlformats.org/drawingml/2006/main">
              <a:ext uri="{FF2B5EF4-FFF2-40B4-BE49-F238E27FC236}">
                <a16:creationId xmlns:a16="http://schemas.microsoft.com/office/drawing/2014/main" id="{7DDD8FD1-FEEE-4828-B3A5-4FF0CD1F27F7}"/>
              </a:ext>
            </a:extLst>
          </p:cNvPr>
          <p:cNvSpPr>
            <a:spLocks xmlns:a="http://schemas.openxmlformats.org/drawingml/2006/main" noGrp="1"/>
          </p:cNvSpPr>
          <p:nvPr/>
        </p:nvSpPr>
        <p:spPr>
          <a:xfrm xmlns:a="http://schemas.openxmlformats.org/drawingml/2006/main">
            <a:off x="4714875" y="5410200"/>
            <a:ext cx="666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46E7D"/>
                </a:solidFill>
                <a:latin typeface="Arial"/>
                <a:ea typeface="Arial"/>
                <a:cs typeface="Arial"/>
              </a:defRPr>
            </a:pPr>
            <a:r>
              <a:rPr sz="1875" b="0">
                <a:solidFill>
                  <a:srgbClr val="546E7D"/>
                </a:solidFill>
                <a:latin typeface="Arial"/>
                <a:ea typeface="Arial"/>
                <a:cs typeface="Arial"/>
              </a:rPr>
              <a:t>Usos principales de los roles. Las políticas definen el acceso efectivo.</a:t>
            </a:r>
          </a:p>
        </p:txBody>
      </p:sp>
    </p:spTree>
    <p:extLst>
      <p:ext uri="{BB962C8B-B14F-4D97-AF65-F5344CB8AC3E}">
        <p14:creationId xmlns:p14="http://schemas.microsoft.com/office/powerpoint/2010/main" val="14028408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2C280A6-D89A-4A73-9901-F37DBA8ADCFF}"/>
              </a:ext>
            </a:extLst>
          </p:cNvPr>
          <p:cNvSpPr>
            <a:spLocks xmlns:a="http://schemas.openxmlformats.org/drawingml/2006/main" noGrp="1"/>
          </p:cNvSpPr>
          <p:nvPr/>
        </p:nvSpPr>
        <p:spPr>
          <a:xfrm xmlns:a="http://schemas.openxmlformats.org/drawingml/2006/main">
            <a:off x="609600" y="304800"/>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87F8C"/>
                </a:solidFill>
                <a:latin typeface="Arial"/>
                <a:ea typeface="Arial"/>
                <a:cs typeface="Arial"/>
              </a:defRPr>
            </a:pPr>
            <a:r>
              <a:rPr sz="1350" b="1">
                <a:solidFill>
                  <a:srgbClr val="087F8C"/>
                </a:solidFill>
                <a:latin typeface="Arial"/>
                <a:ea typeface="Arial"/>
                <a:cs typeface="Arial"/>
              </a:rPr>
              <a:t>APLICACIÓN PROPIA Y PLATAFORMA ADMINISTRADA</a:t>
            </a:r>
          </a:p>
        </p:txBody>
      </p:sp>
      <p:sp>
        <p:nvSpPr>
          <p:cNvPr id="2" name="">
            <a:extLst xmlns:a="http://schemas.openxmlformats.org/drawingml/2006/main">
              <a:ext uri="{FF2B5EF4-FFF2-40B4-BE49-F238E27FC236}">
                <a16:creationId xmlns:a16="http://schemas.microsoft.com/office/drawing/2014/main" id="{AEEBE2DC-33B3-4FB1-86AD-927F6C88F1A5}"/>
              </a:ext>
            </a:extLst>
          </p:cNvPr>
          <p:cNvSpPr>
            <a:spLocks xmlns:a="http://schemas.openxmlformats.org/drawingml/2006/main" noGrp="1"/>
          </p:cNvSpPr>
          <p:nvPr/>
        </p:nvSpPr>
        <p:spPr>
          <a:xfrm xmlns:a="http://schemas.openxmlformats.org/drawingml/2006/main">
            <a:off x="609600" y="752475"/>
            <a:ext cx="109537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12E43"/>
                </a:solidFill>
                <a:latin typeface="Arial"/>
                <a:ea typeface="Arial"/>
                <a:cs typeface="Arial"/>
              </a:defRPr>
            </a:pPr>
            <a:r>
              <a:rPr sz="3300" b="1">
                <a:solidFill>
                  <a:srgbClr val="112E43"/>
                </a:solidFill>
                <a:latin typeface="Arial"/>
                <a:ea typeface="Arial"/>
                <a:cs typeface="Arial"/>
              </a:rPr>
              <a:t>Nivel 2 · Qué se ejecuta y dónde</a:t>
            </a:r>
          </a:p>
        </p:txBody>
      </p:sp>
      <p:sp>
        <p:nvSpPr>
          <p:cNvPr id="3" name="">
            <a:extLst xmlns:a="http://schemas.openxmlformats.org/drawingml/2006/main">
              <a:ext uri="{FF2B5EF4-FFF2-40B4-BE49-F238E27FC236}">
                <a16:creationId xmlns:a16="http://schemas.microsoft.com/office/drawing/2014/main" id="{FF81C633-F7BC-4970-9F81-BCCA1D9D8397}"/>
              </a:ext>
            </a:extLst>
          </p:cNvPr>
          <p:cNvSpPr>
            <a:spLocks xmlns:a="http://schemas.openxmlformats.org/drawingml/2006/main" noGrp="1"/>
          </p:cNvSpPr>
          <p:nvPr/>
        </p:nvSpPr>
        <p:spPr>
          <a:xfrm xmlns:a="http://schemas.openxmlformats.org/drawingml/2006/main">
            <a:off x="11049000" y="638175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46E7D"/>
                </a:solidFill>
                <a:latin typeface="Arial"/>
                <a:ea typeface="Arial"/>
                <a:cs typeface="Arial"/>
              </a:defRPr>
            </a:pPr>
            <a:r>
              <a:rPr sz="1200" b="0">
                <a:solidFill>
                  <a:srgbClr val="546E7D"/>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92906EAF-A62A-4118-8098-4824D3B8616E}"/>
              </a:ext>
            </a:extLst>
          </p:cNvPr>
          <p:cNvSpPr>
            <a:spLocks xmlns:a="http://schemas.openxmlformats.org/drawingml/2006/main" noGrp="1"/>
          </p:cNvSpPr>
          <p:nvPr/>
        </p:nvSpPr>
        <p:spPr>
          <a:xfrm xmlns:a="http://schemas.openxmlformats.org/drawingml/2006/main">
            <a:off x="609600" y="2286000"/>
            <a:ext cx="4714875" cy="2438400"/>
          </a:xfrm>
          <a:prstGeom xmlns:a="http://schemas.openxmlformats.org/drawingml/2006/main" prst="rect">
            <a:avLst/>
          </a:prstGeom>
          <a:solidFill xmlns:a="http://schemas.openxmlformats.org/drawingml/2006/main">
            <a:srgbClr val="E8F5F2"/>
          </a:solidFill>
          <a:ln xmlns:a="http://schemas.openxmlformats.org/drawingml/2006/main" w="9525">
            <a:solidFill>
              <a:srgbClr val="C7DADF"/>
            </a:solidFill>
          </a:ln>
        </p:spPr>
      </p:sp>
      <p:sp>
        <p:nvSpPr>
          <p:cNvPr id="5" name="">
            <a:extLst xmlns:a="http://schemas.openxmlformats.org/drawingml/2006/main">
              <a:ext uri="{FF2B5EF4-FFF2-40B4-BE49-F238E27FC236}">
                <a16:creationId xmlns:a16="http://schemas.microsoft.com/office/drawing/2014/main" id="{520F419B-0841-40E5-ADA4-C0A45869675A}"/>
              </a:ext>
            </a:extLst>
          </p:cNvPr>
          <p:cNvSpPr>
            <a:spLocks xmlns:a="http://schemas.openxmlformats.org/drawingml/2006/main" noGrp="1"/>
          </p:cNvSpPr>
          <p:nvPr/>
        </p:nvSpPr>
        <p:spPr>
          <a:xfrm xmlns:a="http://schemas.openxmlformats.org/drawingml/2006/main">
            <a:off x="781050" y="2447925"/>
            <a:ext cx="43719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12E43"/>
                </a:solidFill>
                <a:latin typeface="Arial"/>
                <a:ea typeface="Arial"/>
                <a:cs typeface="Arial"/>
              </a:defRPr>
            </a:pPr>
            <a:r>
              <a:rPr sz="1950" b="1">
                <a:solidFill>
                  <a:srgbClr val="112E43"/>
                </a:solidFill>
                <a:latin typeface="Arial"/>
                <a:ea typeface="Arial"/>
                <a:cs typeface="Arial"/>
              </a:rPr>
              <a:t>Aplicación web en Vercel</a:t>
            </a:r>
          </a:p>
        </p:txBody>
      </p:sp>
      <p:sp>
        <p:nvSpPr>
          <p:cNvPr id="6" name="">
            <a:extLst xmlns:a="http://schemas.openxmlformats.org/drawingml/2006/main">
              <a:ext uri="{FF2B5EF4-FFF2-40B4-BE49-F238E27FC236}">
                <a16:creationId xmlns:a16="http://schemas.microsoft.com/office/drawing/2014/main" id="{C13C80C9-185F-4232-A44B-ECCD31541D2B}"/>
              </a:ext>
            </a:extLst>
          </p:cNvPr>
          <p:cNvSpPr>
            <a:spLocks xmlns:a="http://schemas.openxmlformats.org/drawingml/2006/main" noGrp="1"/>
          </p:cNvSpPr>
          <p:nvPr/>
        </p:nvSpPr>
        <p:spPr>
          <a:xfrm xmlns:a="http://schemas.openxmlformats.org/drawingml/2006/main">
            <a:off x="781050" y="3009900"/>
            <a:ext cx="437197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74A"/>
                </a:solidFill>
                <a:latin typeface="Arial"/>
                <a:ea typeface="Arial"/>
                <a:cs typeface="Arial"/>
              </a:defRPr>
            </a:pPr>
            <a:r>
              <a:rPr sz="2025" b="0">
                <a:solidFill>
                  <a:srgbClr val="17374A"/>
                </a:solidFill>
                <a:latin typeface="Arial"/>
                <a:ea typeface="Arial"/>
                <a:cs typeface="Arial"/>
              </a:rPr>
              <a:t>React y TypeScript</a:t>
            </a:r>
          </a:p>
          <a:p xmlns:a="http://schemas.openxmlformats.org/drawingml/2006/main">
            <a:pPr>
              <a:defRPr sz="2025" b="0">
                <a:solidFill>
                  <a:srgbClr val="17374A"/>
                </a:solidFill>
                <a:latin typeface="Arial"/>
                <a:ea typeface="Arial"/>
                <a:cs typeface="Arial"/>
              </a:defRPr>
            </a:pPr>
            <a:r>
              <a:rPr sz="2025" b="0">
                <a:solidFill>
                  <a:srgbClr val="17374A"/>
                </a:solidFill>
                <a:latin typeface="Arial"/>
                <a:ea typeface="Arial"/>
                <a:cs typeface="Arial"/>
              </a:rPr>
              <a:t>TanStack Start y Nitro</a:t>
            </a:r>
          </a:p>
          <a:p xmlns:a="http://schemas.openxmlformats.org/drawingml/2006/main">
            <a:pPr>
              <a:defRPr sz="2025" b="0">
                <a:solidFill>
                  <a:srgbClr val="17374A"/>
                </a:solidFill>
                <a:latin typeface="Arial"/>
                <a:ea typeface="Arial"/>
                <a:cs typeface="Arial"/>
              </a:defRPr>
            </a:pPr>
            <a:r>
              <a:rPr sz="2025" b="0">
                <a:solidFill>
                  <a:srgbClr val="17374A"/>
                </a:solidFill>
                <a:latin typeface="Arial"/>
                <a:ea typeface="Arial"/>
                <a:cs typeface="Arial"/>
              </a:rPr>
              <a:t>Interfaz y capacidades de servidor</a:t>
            </a:r>
          </a:p>
        </p:txBody>
      </p:sp>
      <p:sp>
        <p:nvSpPr>
          <p:cNvPr id="7" name="">
            <a:extLst xmlns:a="http://schemas.openxmlformats.org/drawingml/2006/main">
              <a:ext uri="{FF2B5EF4-FFF2-40B4-BE49-F238E27FC236}">
                <a16:creationId xmlns:a16="http://schemas.microsoft.com/office/drawing/2014/main" id="{30DACF1D-B68A-40FE-85C0-6E0EC00ADEAA}"/>
              </a:ext>
            </a:extLst>
          </p:cNvPr>
          <p:cNvSpPr>
            <a:spLocks xmlns:a="http://schemas.openxmlformats.org/drawingml/2006/main" noGrp="1"/>
          </p:cNvSpPr>
          <p:nvPr/>
        </p:nvSpPr>
        <p:spPr>
          <a:xfrm xmlns:a="http://schemas.openxmlformats.org/drawingml/2006/main">
            <a:off x="6858000" y="2286000"/>
            <a:ext cx="4724400" cy="2438400"/>
          </a:xfrm>
          <a:prstGeom xmlns:a="http://schemas.openxmlformats.org/drawingml/2006/main" prst="rect">
            <a:avLst/>
          </a:prstGeom>
          <a:solidFill xmlns:a="http://schemas.openxmlformats.org/drawingml/2006/main">
            <a:srgbClr val="F1F5F7"/>
          </a:solidFill>
          <a:ln xmlns:a="http://schemas.openxmlformats.org/drawingml/2006/main" w="9525">
            <a:solidFill>
              <a:srgbClr val="C7DADF"/>
            </a:solidFill>
          </a:ln>
        </p:spPr>
      </p:sp>
      <p:sp>
        <p:nvSpPr>
          <p:cNvPr id="8" name="">
            <a:extLst xmlns:a="http://schemas.openxmlformats.org/drawingml/2006/main">
              <a:ext uri="{FF2B5EF4-FFF2-40B4-BE49-F238E27FC236}">
                <a16:creationId xmlns:a16="http://schemas.microsoft.com/office/drawing/2014/main" id="{E3A5876F-5B7B-4028-8752-A105C3D4D75E}"/>
              </a:ext>
            </a:extLst>
          </p:cNvPr>
          <p:cNvSpPr>
            <a:spLocks xmlns:a="http://schemas.openxmlformats.org/drawingml/2006/main" noGrp="1"/>
          </p:cNvSpPr>
          <p:nvPr/>
        </p:nvSpPr>
        <p:spPr>
          <a:xfrm xmlns:a="http://schemas.openxmlformats.org/drawingml/2006/main">
            <a:off x="7029450" y="2447925"/>
            <a:ext cx="4381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12E43"/>
                </a:solidFill>
                <a:latin typeface="Arial"/>
                <a:ea typeface="Arial"/>
                <a:cs typeface="Arial"/>
              </a:defRPr>
            </a:pPr>
            <a:r>
              <a:rPr sz="1950" b="1">
                <a:solidFill>
                  <a:srgbClr val="112E43"/>
                </a:solidFill>
                <a:latin typeface="Arial"/>
                <a:ea typeface="Arial"/>
                <a:cs typeface="Arial"/>
              </a:rPr>
              <a:t>Proyecto Supabase</a:t>
            </a:r>
          </a:p>
        </p:txBody>
      </p:sp>
      <p:sp>
        <p:nvSpPr>
          <p:cNvPr id="9" name="">
            <a:extLst xmlns:a="http://schemas.openxmlformats.org/drawingml/2006/main">
              <a:ext uri="{FF2B5EF4-FFF2-40B4-BE49-F238E27FC236}">
                <a16:creationId xmlns:a16="http://schemas.microsoft.com/office/drawing/2014/main" id="{73538F3F-472E-42BF-AB02-926BB3E04F0E}"/>
              </a:ext>
            </a:extLst>
          </p:cNvPr>
          <p:cNvSpPr>
            <a:spLocks xmlns:a="http://schemas.openxmlformats.org/drawingml/2006/main" noGrp="1"/>
          </p:cNvSpPr>
          <p:nvPr/>
        </p:nvSpPr>
        <p:spPr>
          <a:xfrm xmlns:a="http://schemas.openxmlformats.org/drawingml/2006/main">
            <a:off x="7029450" y="3009900"/>
            <a:ext cx="4381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374A"/>
                </a:solidFill>
                <a:latin typeface="Arial"/>
                <a:ea typeface="Arial"/>
                <a:cs typeface="Arial"/>
              </a:defRPr>
            </a:pPr>
            <a:r>
              <a:rPr sz="1950" b="0">
                <a:solidFill>
                  <a:srgbClr val="17374A"/>
                </a:solidFill>
                <a:latin typeface="Arial"/>
                <a:ea typeface="Arial"/>
                <a:cs typeface="Arial"/>
              </a:rPr>
              <a:t>Auth: credenciales y sesiones</a:t>
            </a:r>
          </a:p>
          <a:p xmlns:a="http://schemas.openxmlformats.org/drawingml/2006/main">
            <a:pPr>
              <a:defRPr sz="1950" b="0">
                <a:solidFill>
                  <a:srgbClr val="17374A"/>
                </a:solidFill>
                <a:latin typeface="Arial"/>
                <a:ea typeface="Arial"/>
                <a:cs typeface="Arial"/>
              </a:defRPr>
            </a:pPr>
            <a:r>
              <a:rPr sz="1950" b="0">
                <a:solidFill>
                  <a:srgbClr val="17374A"/>
                </a:solidFill>
                <a:latin typeface="Arial"/>
                <a:ea typeface="Arial"/>
                <a:cs typeface="Arial"/>
              </a:rPr>
              <a:t>PostgreSQL: datos comerciales</a:t>
            </a:r>
          </a:p>
          <a:p xmlns:a="http://schemas.openxmlformats.org/drawingml/2006/main">
            <a:pPr>
              <a:defRPr sz="1950" b="0">
                <a:solidFill>
                  <a:srgbClr val="17374A"/>
                </a:solidFill>
                <a:latin typeface="Arial"/>
                <a:ea typeface="Arial"/>
                <a:cs typeface="Arial"/>
              </a:defRPr>
            </a:pPr>
            <a:r>
              <a:rPr sz="1950" b="0">
                <a:solidFill>
                  <a:srgbClr val="17374A"/>
                </a:solidFill>
                <a:latin typeface="Arial"/>
                <a:ea typeface="Arial"/>
                <a:cs typeface="Arial"/>
              </a:rPr>
              <a:t>RLS: acceso a filas en PostgreSQL</a:t>
            </a:r>
          </a:p>
        </p:txBody>
      </p:sp>
      <p:cxnSp>
        <p:nvCxnSpPr>
          <p:cNvPr id="23" name=""/>
          <p:cNvCxnSpPr>
            <a:stCxn xmlns:a="http://schemas.openxmlformats.org/drawingml/2006/main" id="4" idx="3"/>
            <a:endCxn xmlns:a="http://schemas.openxmlformats.org/drawingml/2006/main" id="7" idx="1"/>
          </p:cNvCxnSpPr>
          <p:nvPr/>
        </p:nvCxnSpPr>
        <p:spPr>
          <a:xfrm xmlns:a="http://schemas.openxmlformats.org/drawingml/2006/main">
            <a:off x="5324475" y="3505200"/>
            <a:ext cx="1533525" cy="0"/>
          </a:xfrm>
          <a:prstGeom xmlns:a="http://schemas.openxmlformats.org/drawingml/2006/main" prst="straightConnector1">
            <a:avLst/>
          </a:prstGeom>
          <a:ln xmlns:a="http://schemas.openxmlformats.org/drawingml/2006/main" w="23813">
            <a:solidFill>
              <a:srgbClr val="087F8C"/>
            </a:solidFill>
            <a:tailEnd type="triangle" w="med" len="med"/>
          </a:ln>
        </p:spPr>
      </p:cxnSp>
      <p:sp>
        <p:nvSpPr>
          <p:cNvPr id="11" name="">
            <a:extLst xmlns:a="http://schemas.openxmlformats.org/drawingml/2006/main">
              <a:ext uri="{FF2B5EF4-FFF2-40B4-BE49-F238E27FC236}">
                <a16:creationId xmlns:a16="http://schemas.microsoft.com/office/drawing/2014/main" id="{A04F84DE-25B6-47BE-922C-6B43DF73BA10}"/>
              </a:ext>
            </a:extLst>
          </p:cNvPr>
          <p:cNvSpPr>
            <a:spLocks xmlns:a="http://schemas.openxmlformats.org/drawingml/2006/main" noGrp="1"/>
          </p:cNvSpPr>
          <p:nvPr/>
        </p:nvSpPr>
        <p:spPr>
          <a:xfrm xmlns:a="http://schemas.openxmlformats.org/drawingml/2006/main">
            <a:off x="5381625" y="3162300"/>
            <a:ext cx="1428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087F8C"/>
                </a:solidFill>
                <a:latin typeface="Arial"/>
                <a:ea typeface="Arial"/>
                <a:cs typeface="Arial"/>
              </a:defRPr>
            </a:pPr>
            <a:r>
              <a:rPr sz="1500" b="1">
                <a:solidFill>
                  <a:srgbClr val="087F8C"/>
                </a:solidFill>
                <a:latin typeface="Arial"/>
                <a:ea typeface="Arial"/>
                <a:cs typeface="Arial"/>
              </a:rPr>
              <a:t>API / HTTPS</a:t>
            </a:r>
          </a:p>
        </p:txBody>
      </p:sp>
      <p:sp>
        <p:nvSpPr>
          <p:cNvPr id="12" name="">
            <a:extLst xmlns:a="http://schemas.openxmlformats.org/drawingml/2006/main">
              <a:ext uri="{FF2B5EF4-FFF2-40B4-BE49-F238E27FC236}">
                <a16:creationId xmlns:a16="http://schemas.microsoft.com/office/drawing/2014/main" id="{7D547811-AD10-40AA-8A2F-D6721DE4B39D}"/>
              </a:ext>
            </a:extLst>
          </p:cNvPr>
          <p:cNvSpPr>
            <a:spLocks xmlns:a="http://schemas.openxmlformats.org/drawingml/2006/main" noGrp="1"/>
          </p:cNvSpPr>
          <p:nvPr/>
        </p:nvSpPr>
        <p:spPr>
          <a:xfrm xmlns:a="http://schemas.openxmlformats.org/drawingml/2006/main">
            <a:off x="609600" y="5172075"/>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112E43"/>
                </a:solidFill>
                <a:latin typeface="Arial"/>
                <a:ea typeface="Arial"/>
                <a:cs typeface="Arial"/>
              </a:defRPr>
            </a:pPr>
            <a:r>
              <a:rPr sz="2475" b="1">
                <a:solidFill>
                  <a:srgbClr val="112E43"/>
                </a:solidFill>
                <a:latin typeface="Arial"/>
                <a:ea typeface="Arial"/>
                <a:cs typeface="Arial"/>
              </a:rPr>
              <a:t>Una unidad de despliegue propia</a:t>
            </a:r>
          </a:p>
        </p:txBody>
      </p:sp>
      <p:sp>
        <p:nvSpPr>
          <p:cNvPr id="13" name="">
            <a:extLst xmlns:a="http://schemas.openxmlformats.org/drawingml/2006/main">
              <a:ext uri="{FF2B5EF4-FFF2-40B4-BE49-F238E27FC236}">
                <a16:creationId xmlns:a16="http://schemas.microsoft.com/office/drawing/2014/main" id="{26758BB5-A978-447F-A172-C7501F905E08}"/>
              </a:ext>
            </a:extLst>
          </p:cNvPr>
          <p:cNvSpPr>
            <a:spLocks xmlns:a="http://schemas.openxmlformats.org/drawingml/2006/main" noGrp="1"/>
          </p:cNvSpPr>
          <p:nvPr/>
        </p:nvSpPr>
        <p:spPr>
          <a:xfrm xmlns:a="http://schemas.openxmlformats.org/drawingml/2006/main">
            <a:off x="609600" y="5743575"/>
            <a:ext cx="1095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74A"/>
                </a:solidFill>
                <a:latin typeface="Arial"/>
                <a:ea typeface="Arial"/>
                <a:cs typeface="Arial"/>
              </a:defRPr>
            </a:pPr>
            <a:r>
              <a:rPr sz="2175" b="0">
                <a:solidFill>
                  <a:srgbClr val="17374A"/>
                </a:solidFill>
                <a:latin typeface="Arial"/>
                <a:ea typeface="Arial"/>
                <a:cs typeface="Arial"/>
              </a:rPr>
              <a:t>La lógica de servidor viaja con la app. Supabase se administra por separado.</a:t>
            </a:r>
          </a:p>
        </p:txBody>
      </p:sp>
    </p:spTree>
    <p:extLst>
      <p:ext uri="{BB962C8B-B14F-4D97-AF65-F5344CB8AC3E}">
        <p14:creationId xmlns:p14="http://schemas.microsoft.com/office/powerpoint/2010/main" val="25379952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188ECC0F-92D6-45B5-9845-C96BFF7008B8}"/>
              </a:ext>
            </a:extLst>
          </p:cNvPr>
          <p:cNvSpPr>
            <a:spLocks xmlns:a="http://schemas.openxmlformats.org/drawingml/2006/main" noGrp="1"/>
          </p:cNvSpPr>
          <p:nvPr/>
        </p:nvSpPr>
        <p:spPr>
          <a:xfrm xmlns:a="http://schemas.openxmlformats.org/drawingml/2006/main">
            <a:off x="609600" y="304800"/>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87F8C"/>
                </a:solidFill>
                <a:latin typeface="Arial"/>
                <a:ea typeface="Arial"/>
                <a:cs typeface="Arial"/>
              </a:defRPr>
            </a:pPr>
            <a:r>
              <a:rPr sz="1350" b="1">
                <a:solidFill>
                  <a:srgbClr val="087F8C"/>
                </a:solidFill>
                <a:latin typeface="Arial"/>
                <a:ea typeface="Arial"/>
                <a:cs typeface="Arial"/>
              </a:rPr>
              <a:t>EJEMPLO TRAZABLE AL CÓDIGO</a:t>
            </a:r>
          </a:p>
        </p:txBody>
      </p:sp>
      <p:sp>
        <p:nvSpPr>
          <p:cNvPr id="2" name="">
            <a:extLst xmlns:a="http://schemas.openxmlformats.org/drawingml/2006/main">
              <a:ext uri="{FF2B5EF4-FFF2-40B4-BE49-F238E27FC236}">
                <a16:creationId xmlns:a16="http://schemas.microsoft.com/office/drawing/2014/main" id="{2E348D17-84ED-4B3E-A23A-5A3C8612503A}"/>
              </a:ext>
            </a:extLst>
          </p:cNvPr>
          <p:cNvSpPr>
            <a:spLocks xmlns:a="http://schemas.openxmlformats.org/drawingml/2006/main" noGrp="1"/>
          </p:cNvSpPr>
          <p:nvPr/>
        </p:nvSpPr>
        <p:spPr>
          <a:xfrm xmlns:a="http://schemas.openxmlformats.org/drawingml/2006/main">
            <a:off x="609600" y="752475"/>
            <a:ext cx="109537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12E43"/>
                </a:solidFill>
                <a:latin typeface="Arial"/>
                <a:ea typeface="Arial"/>
                <a:cs typeface="Arial"/>
              </a:defRPr>
            </a:pPr>
            <a:r>
              <a:rPr sz="3300" b="1">
                <a:solidFill>
                  <a:srgbClr val="112E43"/>
                </a:solidFill>
                <a:latin typeface="Arial"/>
                <a:ea typeface="Arial"/>
                <a:cs typeface="Arial"/>
              </a:rPr>
              <a:t>Nivel 3 · Mover una oportunidad de etapa</a:t>
            </a:r>
          </a:p>
        </p:txBody>
      </p:sp>
      <p:sp>
        <p:nvSpPr>
          <p:cNvPr id="3" name="">
            <a:extLst xmlns:a="http://schemas.openxmlformats.org/drawingml/2006/main">
              <a:ext uri="{FF2B5EF4-FFF2-40B4-BE49-F238E27FC236}">
                <a16:creationId xmlns:a16="http://schemas.microsoft.com/office/drawing/2014/main" id="{013EB827-5C35-4AE9-9219-4E6867472FCE}"/>
              </a:ext>
            </a:extLst>
          </p:cNvPr>
          <p:cNvSpPr>
            <a:spLocks xmlns:a="http://schemas.openxmlformats.org/drawingml/2006/main" noGrp="1"/>
          </p:cNvSpPr>
          <p:nvPr/>
        </p:nvSpPr>
        <p:spPr>
          <a:xfrm xmlns:a="http://schemas.openxmlformats.org/drawingml/2006/main">
            <a:off x="11049000" y="638175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46E7D"/>
                </a:solidFill>
                <a:latin typeface="Arial"/>
                <a:ea typeface="Arial"/>
                <a:cs typeface="Arial"/>
              </a:defRPr>
            </a:pPr>
            <a:r>
              <a:rPr sz="1200" b="0">
                <a:solidFill>
                  <a:srgbClr val="546E7D"/>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D8E9EC5D-7CBB-412A-9E12-9BC49DE0FAE0}"/>
              </a:ext>
            </a:extLst>
          </p:cNvPr>
          <p:cNvSpPr>
            <a:spLocks xmlns:a="http://schemas.openxmlformats.org/drawingml/2006/main" noGrp="1"/>
          </p:cNvSpPr>
          <p:nvPr/>
        </p:nvSpPr>
        <p:spPr>
          <a:xfrm xmlns:a="http://schemas.openxmlformats.org/drawingml/2006/main">
            <a:off x="609600" y="1819275"/>
            <a:ext cx="1095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C"/>
                </a:solidFill>
                <a:latin typeface="Arial"/>
                <a:ea typeface="Arial"/>
                <a:cs typeface="Arial"/>
              </a:defRPr>
            </a:pPr>
            <a:r>
              <a:rPr sz="2175" b="1">
                <a:solidFill>
                  <a:srgbClr val="087F8C"/>
                </a:solidFill>
                <a:latin typeface="Arial"/>
                <a:ea typeface="Arial"/>
                <a:cs typeface="Arial"/>
              </a:rPr>
              <a:t>Diana arrastra “20 licencias” de Propuesta enviada a Negociación.</a:t>
            </a:r>
          </a:p>
        </p:txBody>
      </p:sp>
      <p:sp>
        <p:nvSpPr>
          <p:cNvPr id="5" name="">
            <a:extLst xmlns:a="http://schemas.openxmlformats.org/drawingml/2006/main">
              <a:ext uri="{FF2B5EF4-FFF2-40B4-BE49-F238E27FC236}">
                <a16:creationId xmlns:a16="http://schemas.microsoft.com/office/drawing/2014/main" id="{8E76AC68-8F44-436F-B3B2-1E297611D079}"/>
              </a:ext>
            </a:extLst>
          </p:cNvPr>
          <p:cNvSpPr>
            <a:spLocks xmlns:a="http://schemas.openxmlformats.org/drawingml/2006/main" noGrp="1"/>
          </p:cNvSpPr>
          <p:nvPr/>
        </p:nvSpPr>
        <p:spPr>
          <a:xfrm xmlns:a="http://schemas.openxmlformats.org/drawingml/2006/main">
            <a:off x="609600" y="2838450"/>
            <a:ext cx="2514600" cy="1695450"/>
          </a:xfrm>
          <a:prstGeom xmlns:a="http://schemas.openxmlformats.org/drawingml/2006/main" prst="rect">
            <a:avLst/>
          </a:prstGeom>
          <a:solidFill xmlns:a="http://schemas.openxmlformats.org/drawingml/2006/main">
            <a:srgbClr val="F1F5F7"/>
          </a:solidFill>
          <a:ln xmlns:a="http://schemas.openxmlformats.org/drawingml/2006/main" w="9525">
            <a:solidFill>
              <a:srgbClr val="C7DADF"/>
            </a:solidFill>
          </a:ln>
        </p:spPr>
      </p:sp>
      <p:sp>
        <p:nvSpPr>
          <p:cNvPr id="6" name="">
            <a:extLst xmlns:a="http://schemas.openxmlformats.org/drawingml/2006/main">
              <a:ext uri="{FF2B5EF4-FFF2-40B4-BE49-F238E27FC236}">
                <a16:creationId xmlns:a16="http://schemas.microsoft.com/office/drawing/2014/main" id="{70B2CCB0-9EC4-4824-8637-4B22989AA362}"/>
              </a:ext>
            </a:extLst>
          </p:cNvPr>
          <p:cNvSpPr>
            <a:spLocks xmlns:a="http://schemas.openxmlformats.org/drawingml/2006/main" noGrp="1"/>
          </p:cNvSpPr>
          <p:nvPr/>
        </p:nvSpPr>
        <p:spPr>
          <a:xfrm xmlns:a="http://schemas.openxmlformats.org/drawingml/2006/main">
            <a:off x="781050" y="3000375"/>
            <a:ext cx="2171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12E43"/>
                </a:solidFill>
                <a:latin typeface="Arial"/>
                <a:ea typeface="Arial"/>
                <a:cs typeface="Arial"/>
              </a:defRPr>
            </a:pPr>
            <a:r>
              <a:rPr sz="1950" b="1">
                <a:solidFill>
                  <a:srgbClr val="112E43"/>
                </a:solidFill>
                <a:latin typeface="Arial"/>
                <a:ea typeface="Arial"/>
                <a:cs typeface="Arial"/>
              </a:rPr>
              <a:t>Pantalla</a:t>
            </a:r>
          </a:p>
        </p:txBody>
      </p:sp>
      <p:sp>
        <p:nvSpPr>
          <p:cNvPr id="7" name="">
            <a:extLst xmlns:a="http://schemas.openxmlformats.org/drawingml/2006/main">
              <a:ext uri="{FF2B5EF4-FFF2-40B4-BE49-F238E27FC236}">
                <a16:creationId xmlns:a16="http://schemas.microsoft.com/office/drawing/2014/main" id="{96FEDA55-154C-4678-9516-E1AABB4874BC}"/>
              </a:ext>
            </a:extLst>
          </p:cNvPr>
          <p:cNvSpPr>
            <a:spLocks xmlns:a="http://schemas.openxmlformats.org/drawingml/2006/main" noGrp="1"/>
          </p:cNvSpPr>
          <p:nvPr/>
        </p:nvSpPr>
        <p:spPr>
          <a:xfrm xmlns:a="http://schemas.openxmlformats.org/drawingml/2006/main">
            <a:off x="781050" y="3562350"/>
            <a:ext cx="21717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7374A"/>
                </a:solidFill>
                <a:latin typeface="Arial"/>
                <a:ea typeface="Arial"/>
                <a:cs typeface="Arial"/>
              </a:defRPr>
            </a:pPr>
            <a:r>
              <a:rPr sz="1800" b="0">
                <a:solidFill>
                  <a:srgbClr val="17374A"/>
                </a:solidFill>
                <a:latin typeface="Arial"/>
                <a:ea typeface="Arial"/>
                <a:cs typeface="Arial"/>
              </a:rPr>
              <a:t>pipeline.tsx</a:t>
            </a:r>
          </a:p>
          <a:p xmlns:a="http://schemas.openxmlformats.org/drawingml/2006/main">
            <a:pPr>
              <a:defRPr sz="1800" b="0">
                <a:solidFill>
                  <a:srgbClr val="17374A"/>
                </a:solidFill>
                <a:latin typeface="Arial"/>
                <a:ea typeface="Arial"/>
                <a:cs typeface="Arial"/>
              </a:defRPr>
            </a:pPr>
            <a:r>
              <a:rPr sz="1800" b="0">
                <a:solidFill>
                  <a:srgbClr val="17374A"/>
                </a:solidFill>
                <a:latin typeface="Arial"/>
                <a:ea typeface="Arial"/>
                <a:cs typeface="Arial"/>
              </a:rPr>
              <a:t>Detecta el movimiento</a:t>
            </a:r>
          </a:p>
        </p:txBody>
      </p:sp>
      <p:sp>
        <p:nvSpPr>
          <p:cNvPr id="8" name="">
            <a:extLst xmlns:a="http://schemas.openxmlformats.org/drawingml/2006/main">
              <a:ext uri="{FF2B5EF4-FFF2-40B4-BE49-F238E27FC236}">
                <a16:creationId xmlns:a16="http://schemas.microsoft.com/office/drawing/2014/main" id="{DC9A76BF-03C8-40D5-984E-83A46F104037}"/>
              </a:ext>
            </a:extLst>
          </p:cNvPr>
          <p:cNvSpPr>
            <a:spLocks xmlns:a="http://schemas.openxmlformats.org/drawingml/2006/main" noGrp="1"/>
          </p:cNvSpPr>
          <p:nvPr/>
        </p:nvSpPr>
        <p:spPr>
          <a:xfrm xmlns:a="http://schemas.openxmlformats.org/drawingml/2006/main">
            <a:off x="3429000" y="2838450"/>
            <a:ext cx="2514600" cy="1695450"/>
          </a:xfrm>
          <a:prstGeom xmlns:a="http://schemas.openxmlformats.org/drawingml/2006/main" prst="rect">
            <a:avLst/>
          </a:prstGeom>
          <a:solidFill xmlns:a="http://schemas.openxmlformats.org/drawingml/2006/main">
            <a:srgbClr val="E8F5F2"/>
          </a:solidFill>
          <a:ln xmlns:a="http://schemas.openxmlformats.org/drawingml/2006/main" w="9525">
            <a:solidFill>
              <a:srgbClr val="C7DADF"/>
            </a:solidFill>
          </a:ln>
        </p:spPr>
      </p:sp>
      <p:sp>
        <p:nvSpPr>
          <p:cNvPr id="9" name="">
            <a:extLst xmlns:a="http://schemas.openxmlformats.org/drawingml/2006/main">
              <a:ext uri="{FF2B5EF4-FFF2-40B4-BE49-F238E27FC236}">
                <a16:creationId xmlns:a16="http://schemas.microsoft.com/office/drawing/2014/main" id="{BA6EFCFD-EFF7-4835-A91A-5E4699FD79EF}"/>
              </a:ext>
            </a:extLst>
          </p:cNvPr>
          <p:cNvSpPr>
            <a:spLocks xmlns:a="http://schemas.openxmlformats.org/drawingml/2006/main" noGrp="1"/>
          </p:cNvSpPr>
          <p:nvPr/>
        </p:nvSpPr>
        <p:spPr>
          <a:xfrm xmlns:a="http://schemas.openxmlformats.org/drawingml/2006/main">
            <a:off x="3600450" y="3000375"/>
            <a:ext cx="2171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12E43"/>
                </a:solidFill>
                <a:latin typeface="Arial"/>
                <a:ea typeface="Arial"/>
                <a:cs typeface="Arial"/>
              </a:defRPr>
            </a:pPr>
            <a:r>
              <a:rPr sz="1950" b="1">
                <a:solidFill>
                  <a:srgbClr val="112E43"/>
                </a:solidFill>
                <a:latin typeface="Arial"/>
                <a:ea typeface="Arial"/>
                <a:cs typeface="Arial"/>
              </a:rPr>
              <a:t>Operación</a:t>
            </a:r>
          </a:p>
        </p:txBody>
      </p:sp>
      <p:sp>
        <p:nvSpPr>
          <p:cNvPr id="10" name="">
            <a:extLst xmlns:a="http://schemas.openxmlformats.org/drawingml/2006/main">
              <a:ext uri="{FF2B5EF4-FFF2-40B4-BE49-F238E27FC236}">
                <a16:creationId xmlns:a16="http://schemas.microsoft.com/office/drawing/2014/main" id="{03FF0DAF-5516-4987-9D9D-71B25D0382D1}"/>
              </a:ext>
            </a:extLst>
          </p:cNvPr>
          <p:cNvSpPr>
            <a:spLocks xmlns:a="http://schemas.openxmlformats.org/drawingml/2006/main" noGrp="1"/>
          </p:cNvSpPr>
          <p:nvPr/>
        </p:nvSpPr>
        <p:spPr>
          <a:xfrm xmlns:a="http://schemas.openxmlformats.org/drawingml/2006/main">
            <a:off x="3600450" y="3562350"/>
            <a:ext cx="21717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7374A"/>
                </a:solidFill>
                <a:latin typeface="Arial"/>
                <a:ea typeface="Arial"/>
                <a:cs typeface="Arial"/>
              </a:defRPr>
            </a:pPr>
            <a:r>
              <a:rPr sz="1800" b="0">
                <a:solidFill>
                  <a:srgbClr val="17374A"/>
                </a:solidFill>
                <a:latin typeface="Arial"/>
                <a:ea typeface="Arial"/>
                <a:cs typeface="Arial"/>
              </a:rPr>
              <a:t>useMoveDeal()</a:t>
            </a:r>
          </a:p>
          <a:p xmlns:a="http://schemas.openxmlformats.org/drawingml/2006/main">
            <a:pPr>
              <a:defRPr sz="1800" b="0">
                <a:solidFill>
                  <a:srgbClr val="17374A"/>
                </a:solidFill>
                <a:latin typeface="Arial"/>
                <a:ea typeface="Arial"/>
                <a:cs typeface="Arial"/>
              </a:defRPr>
            </a:pPr>
            <a:r>
              <a:rPr sz="1800" b="0">
                <a:solidFill>
                  <a:srgbClr val="17374A"/>
                </a:solidFill>
                <a:latin typeface="Arial"/>
                <a:ea typeface="Arial"/>
                <a:cs typeface="Arial"/>
              </a:rPr>
              <a:t>Recibe id y stage_id</a:t>
            </a:r>
          </a:p>
        </p:txBody>
      </p:sp>
      <p:sp>
        <p:nvSpPr>
          <p:cNvPr id="11" name="">
            <a:extLst xmlns:a="http://schemas.openxmlformats.org/drawingml/2006/main">
              <a:ext uri="{FF2B5EF4-FFF2-40B4-BE49-F238E27FC236}">
                <a16:creationId xmlns:a16="http://schemas.microsoft.com/office/drawing/2014/main" id="{199B767C-6697-480B-8F44-AE232A2834D9}"/>
              </a:ext>
            </a:extLst>
          </p:cNvPr>
          <p:cNvSpPr>
            <a:spLocks xmlns:a="http://schemas.openxmlformats.org/drawingml/2006/main" noGrp="1"/>
          </p:cNvSpPr>
          <p:nvPr/>
        </p:nvSpPr>
        <p:spPr>
          <a:xfrm xmlns:a="http://schemas.openxmlformats.org/drawingml/2006/main">
            <a:off x="6248400" y="2838450"/>
            <a:ext cx="2514600" cy="1695450"/>
          </a:xfrm>
          <a:prstGeom xmlns:a="http://schemas.openxmlformats.org/drawingml/2006/main" prst="rect">
            <a:avLst/>
          </a:prstGeom>
          <a:solidFill xmlns:a="http://schemas.openxmlformats.org/drawingml/2006/main">
            <a:srgbClr val="F1F5F7"/>
          </a:solidFill>
          <a:ln xmlns:a="http://schemas.openxmlformats.org/drawingml/2006/main" w="9525">
            <a:solidFill>
              <a:srgbClr val="C7DADF"/>
            </a:solidFill>
          </a:ln>
        </p:spPr>
      </p:sp>
      <p:sp>
        <p:nvSpPr>
          <p:cNvPr id="12" name="">
            <a:extLst xmlns:a="http://schemas.openxmlformats.org/drawingml/2006/main">
              <a:ext uri="{FF2B5EF4-FFF2-40B4-BE49-F238E27FC236}">
                <a16:creationId xmlns:a16="http://schemas.microsoft.com/office/drawing/2014/main" id="{0D6A4527-81BE-445D-A9FC-094F03C2FE13}"/>
              </a:ext>
            </a:extLst>
          </p:cNvPr>
          <p:cNvSpPr>
            <a:spLocks xmlns:a="http://schemas.openxmlformats.org/drawingml/2006/main" noGrp="1"/>
          </p:cNvSpPr>
          <p:nvPr/>
        </p:nvSpPr>
        <p:spPr>
          <a:xfrm xmlns:a="http://schemas.openxmlformats.org/drawingml/2006/main">
            <a:off x="6419850" y="3000375"/>
            <a:ext cx="2171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12E43"/>
                </a:solidFill>
                <a:latin typeface="Arial"/>
                <a:ea typeface="Arial"/>
                <a:cs typeface="Arial"/>
              </a:defRPr>
            </a:pPr>
            <a:r>
              <a:rPr sz="1950" b="1">
                <a:solidFill>
                  <a:srgbClr val="112E43"/>
                </a:solidFill>
                <a:latin typeface="Arial"/>
                <a:ea typeface="Arial"/>
                <a:cs typeface="Arial"/>
              </a:rPr>
              <a:t>Integración</a:t>
            </a:r>
          </a:p>
        </p:txBody>
      </p:sp>
      <p:sp>
        <p:nvSpPr>
          <p:cNvPr id="13" name="">
            <a:extLst xmlns:a="http://schemas.openxmlformats.org/drawingml/2006/main">
              <a:ext uri="{FF2B5EF4-FFF2-40B4-BE49-F238E27FC236}">
                <a16:creationId xmlns:a16="http://schemas.microsoft.com/office/drawing/2014/main" id="{4307580F-47D4-4E0A-BF92-2C06AD41BA88}"/>
              </a:ext>
            </a:extLst>
          </p:cNvPr>
          <p:cNvSpPr>
            <a:spLocks xmlns:a="http://schemas.openxmlformats.org/drawingml/2006/main" noGrp="1"/>
          </p:cNvSpPr>
          <p:nvPr/>
        </p:nvSpPr>
        <p:spPr>
          <a:xfrm xmlns:a="http://schemas.openxmlformats.org/drawingml/2006/main">
            <a:off x="6419850" y="3562350"/>
            <a:ext cx="21717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7374A"/>
                </a:solidFill>
                <a:latin typeface="Arial"/>
                <a:ea typeface="Arial"/>
                <a:cs typeface="Arial"/>
              </a:defRPr>
            </a:pPr>
            <a:r>
              <a:rPr sz="1800" b="0">
                <a:solidFill>
                  <a:srgbClr val="17374A"/>
                </a:solidFill>
                <a:latin typeface="Arial"/>
                <a:ea typeface="Arial"/>
                <a:cs typeface="Arial"/>
              </a:rPr>
              <a:t>client.ts</a:t>
            </a:r>
          </a:p>
          <a:p xmlns:a="http://schemas.openxmlformats.org/drawingml/2006/main">
            <a:pPr>
              <a:defRPr sz="1800" b="0">
                <a:solidFill>
                  <a:srgbClr val="17374A"/>
                </a:solidFill>
                <a:latin typeface="Arial"/>
                <a:ea typeface="Arial"/>
                <a:cs typeface="Arial"/>
              </a:defRPr>
            </a:pPr>
            <a:r>
              <a:rPr sz="1800" b="0">
                <a:solidFill>
                  <a:srgbClr val="17374A"/>
                </a:solidFill>
                <a:latin typeface="Arial"/>
                <a:ea typeface="Arial"/>
                <a:cs typeface="Arial"/>
              </a:rPr>
              <a:t>Envía la actualización</a:t>
            </a:r>
          </a:p>
        </p:txBody>
      </p:sp>
      <p:sp>
        <p:nvSpPr>
          <p:cNvPr id="14" name="">
            <a:extLst xmlns:a="http://schemas.openxmlformats.org/drawingml/2006/main">
              <a:ext uri="{FF2B5EF4-FFF2-40B4-BE49-F238E27FC236}">
                <a16:creationId xmlns:a16="http://schemas.microsoft.com/office/drawing/2014/main" id="{3C5C387D-68AC-4840-A61B-6DF23D83516B}"/>
              </a:ext>
            </a:extLst>
          </p:cNvPr>
          <p:cNvSpPr>
            <a:spLocks xmlns:a="http://schemas.openxmlformats.org/drawingml/2006/main" noGrp="1"/>
          </p:cNvSpPr>
          <p:nvPr/>
        </p:nvSpPr>
        <p:spPr>
          <a:xfrm xmlns:a="http://schemas.openxmlformats.org/drawingml/2006/main">
            <a:off x="9067800" y="2838450"/>
            <a:ext cx="2514600" cy="1695450"/>
          </a:xfrm>
          <a:prstGeom xmlns:a="http://schemas.openxmlformats.org/drawingml/2006/main" prst="rect">
            <a:avLst/>
          </a:prstGeom>
          <a:solidFill xmlns:a="http://schemas.openxmlformats.org/drawingml/2006/main">
            <a:srgbClr val="E8F5F2"/>
          </a:solidFill>
          <a:ln xmlns:a="http://schemas.openxmlformats.org/drawingml/2006/main" w="9525">
            <a:solidFill>
              <a:srgbClr val="C7DADF"/>
            </a:solidFill>
          </a:ln>
        </p:spPr>
      </p:sp>
      <p:sp>
        <p:nvSpPr>
          <p:cNvPr id="15" name="">
            <a:extLst xmlns:a="http://schemas.openxmlformats.org/drawingml/2006/main">
              <a:ext uri="{FF2B5EF4-FFF2-40B4-BE49-F238E27FC236}">
                <a16:creationId xmlns:a16="http://schemas.microsoft.com/office/drawing/2014/main" id="{BDD6C842-B122-4317-B5AC-9A83D1B21FEE}"/>
              </a:ext>
            </a:extLst>
          </p:cNvPr>
          <p:cNvSpPr>
            <a:spLocks xmlns:a="http://schemas.openxmlformats.org/drawingml/2006/main" noGrp="1"/>
          </p:cNvSpPr>
          <p:nvPr/>
        </p:nvSpPr>
        <p:spPr>
          <a:xfrm xmlns:a="http://schemas.openxmlformats.org/drawingml/2006/main">
            <a:off x="9239250" y="3000375"/>
            <a:ext cx="2171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12E43"/>
                </a:solidFill>
                <a:latin typeface="Arial"/>
                <a:ea typeface="Arial"/>
                <a:cs typeface="Arial"/>
              </a:defRPr>
            </a:pPr>
            <a:r>
              <a:rPr sz="1950" b="1">
                <a:solidFill>
                  <a:srgbClr val="112E43"/>
                </a:solidFill>
                <a:latin typeface="Arial"/>
                <a:ea typeface="Arial"/>
                <a:cs typeface="Arial"/>
              </a:rPr>
              <a:t>Persistencia</a:t>
            </a:r>
          </a:p>
        </p:txBody>
      </p:sp>
      <p:sp>
        <p:nvSpPr>
          <p:cNvPr id="16" name="">
            <a:extLst xmlns:a="http://schemas.openxmlformats.org/drawingml/2006/main">
              <a:ext uri="{FF2B5EF4-FFF2-40B4-BE49-F238E27FC236}">
                <a16:creationId xmlns:a16="http://schemas.microsoft.com/office/drawing/2014/main" id="{0AF5D9EC-E468-41D9-86E7-0226B90E644D}"/>
              </a:ext>
            </a:extLst>
          </p:cNvPr>
          <p:cNvSpPr>
            <a:spLocks xmlns:a="http://schemas.openxmlformats.org/drawingml/2006/main" noGrp="1"/>
          </p:cNvSpPr>
          <p:nvPr/>
        </p:nvSpPr>
        <p:spPr>
          <a:xfrm xmlns:a="http://schemas.openxmlformats.org/drawingml/2006/main">
            <a:off x="9239250" y="3562350"/>
            <a:ext cx="21717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7374A"/>
                </a:solidFill>
                <a:latin typeface="Arial"/>
                <a:ea typeface="Arial"/>
                <a:cs typeface="Arial"/>
              </a:defRPr>
            </a:pPr>
            <a:r>
              <a:rPr sz="1800" b="0">
                <a:solidFill>
                  <a:srgbClr val="17374A"/>
                </a:solidFill>
                <a:latin typeface="Arial"/>
                <a:ea typeface="Arial"/>
                <a:cs typeface="Arial"/>
              </a:rPr>
              <a:t>PostgreSQL + RLS</a:t>
            </a:r>
          </a:p>
          <a:p xmlns:a="http://schemas.openxmlformats.org/drawingml/2006/main">
            <a:pPr>
              <a:defRPr sz="1800" b="0">
                <a:solidFill>
                  <a:srgbClr val="17374A"/>
                </a:solidFill>
                <a:latin typeface="Arial"/>
                <a:ea typeface="Arial"/>
                <a:cs typeface="Arial"/>
              </a:defRPr>
            </a:pPr>
            <a:r>
              <a:rPr sz="1800" b="0">
                <a:solidFill>
                  <a:srgbClr val="17374A"/>
                </a:solidFill>
                <a:latin typeface="Arial"/>
                <a:ea typeface="Arial"/>
                <a:cs typeface="Arial"/>
              </a:rPr>
              <a:t>Evalúa el acceso</a:t>
            </a:r>
          </a:p>
        </p:txBody>
      </p:sp>
      <p:cxnSp>
        <p:nvCxnSpPr>
          <p:cNvPr id="38" name=""/>
          <p:cNvCxnSpPr>
            <a:stCxn xmlns:a="http://schemas.openxmlformats.org/drawingml/2006/main" id="5" idx="3"/>
            <a:endCxn xmlns:a="http://schemas.openxmlformats.org/drawingml/2006/main" id="8" idx="1"/>
          </p:cNvCxnSpPr>
          <p:nvPr/>
        </p:nvCxnSpPr>
        <p:spPr>
          <a:xfrm xmlns:a="http://schemas.openxmlformats.org/drawingml/2006/main">
            <a:off x="3124200" y="3686175"/>
            <a:ext cx="304800" cy="0"/>
          </a:xfrm>
          <a:prstGeom xmlns:a="http://schemas.openxmlformats.org/drawingml/2006/main" prst="straightConnector1">
            <a:avLst/>
          </a:prstGeom>
          <a:ln xmlns:a="http://schemas.openxmlformats.org/drawingml/2006/main" w="23813">
            <a:solidFill>
              <a:srgbClr val="087F8C"/>
            </a:solidFill>
            <a:tailEnd type="triangle" w="med" len="med"/>
          </a:ln>
        </p:spPr>
      </p:cxnSp>
      <p:cxnSp>
        <p:nvCxnSpPr>
          <p:cNvPr id="39" name=""/>
          <p:cNvCxnSpPr>
            <a:stCxn xmlns:a="http://schemas.openxmlformats.org/drawingml/2006/main" id="8" idx="3"/>
            <a:endCxn xmlns:a="http://schemas.openxmlformats.org/drawingml/2006/main" id="11" idx="1"/>
          </p:cNvCxnSpPr>
          <p:nvPr/>
        </p:nvCxnSpPr>
        <p:spPr>
          <a:xfrm xmlns:a="http://schemas.openxmlformats.org/drawingml/2006/main">
            <a:off x="5943600" y="3686175"/>
            <a:ext cx="304800" cy="0"/>
          </a:xfrm>
          <a:prstGeom xmlns:a="http://schemas.openxmlformats.org/drawingml/2006/main" prst="straightConnector1">
            <a:avLst/>
          </a:prstGeom>
          <a:ln xmlns:a="http://schemas.openxmlformats.org/drawingml/2006/main" w="23813">
            <a:solidFill>
              <a:srgbClr val="087F8C"/>
            </a:solidFill>
            <a:tailEnd type="triangle" w="med" len="med"/>
          </a:ln>
        </p:spPr>
      </p:cxnSp>
      <p:cxnSp>
        <p:nvCxnSpPr>
          <p:cNvPr id="40" name=""/>
          <p:cNvCxnSpPr>
            <a:stCxn xmlns:a="http://schemas.openxmlformats.org/drawingml/2006/main" id="11" idx="3"/>
            <a:endCxn xmlns:a="http://schemas.openxmlformats.org/drawingml/2006/main" id="14" idx="1"/>
          </p:cNvCxnSpPr>
          <p:nvPr/>
        </p:nvCxnSpPr>
        <p:spPr>
          <a:xfrm xmlns:a="http://schemas.openxmlformats.org/drawingml/2006/main">
            <a:off x="8763000" y="3686175"/>
            <a:ext cx="304800" cy="0"/>
          </a:xfrm>
          <a:prstGeom xmlns:a="http://schemas.openxmlformats.org/drawingml/2006/main" prst="straightConnector1">
            <a:avLst/>
          </a:prstGeom>
          <a:ln xmlns:a="http://schemas.openxmlformats.org/drawingml/2006/main" w="23813">
            <a:solidFill>
              <a:srgbClr val="087F8C"/>
            </a:solidFill>
            <a:tailEnd type="triangle" w="med" len="med"/>
          </a:ln>
        </p:spPr>
      </p:cxnSp>
      <p:sp>
        <p:nvSpPr>
          <p:cNvPr id="20" name="">
            <a:extLst xmlns:a="http://schemas.openxmlformats.org/drawingml/2006/main">
              <a:ext uri="{FF2B5EF4-FFF2-40B4-BE49-F238E27FC236}">
                <a16:creationId xmlns:a16="http://schemas.microsoft.com/office/drawing/2014/main" id="{3A186B44-470C-48D7-A2A2-5F112A0F3C69}"/>
              </a:ext>
            </a:extLst>
          </p:cNvPr>
          <p:cNvSpPr>
            <a:spLocks xmlns:a="http://schemas.openxmlformats.org/drawingml/2006/main" noGrp="1"/>
          </p:cNvSpPr>
          <p:nvPr/>
        </p:nvSpPr>
        <p:spPr>
          <a:xfrm xmlns:a="http://schemas.openxmlformats.org/drawingml/2006/main">
            <a:off x="609600" y="5067300"/>
            <a:ext cx="495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12E43"/>
                </a:solidFill>
                <a:latin typeface="Arial"/>
                <a:ea typeface="Arial"/>
                <a:cs typeface="Arial"/>
              </a:defRPr>
            </a:pPr>
            <a:r>
              <a:rPr sz="2250" b="1">
                <a:solidFill>
                  <a:srgbClr val="112E43"/>
                </a:solidFill>
                <a:latin typeface="Arial"/>
                <a:ea typeface="Arial"/>
                <a:cs typeface="Arial"/>
              </a:rPr>
              <a:t>Al completar la operación</a:t>
            </a:r>
          </a:p>
        </p:txBody>
      </p:sp>
      <p:sp>
        <p:nvSpPr>
          <p:cNvPr id="21" name="">
            <a:extLst xmlns:a="http://schemas.openxmlformats.org/drawingml/2006/main">
              <a:ext uri="{FF2B5EF4-FFF2-40B4-BE49-F238E27FC236}">
                <a16:creationId xmlns:a16="http://schemas.microsoft.com/office/drawing/2014/main" id="{9B4AD97C-ECB9-4018-B63C-C189921D768E}"/>
              </a:ext>
            </a:extLst>
          </p:cNvPr>
          <p:cNvSpPr>
            <a:spLocks xmlns:a="http://schemas.openxmlformats.org/drawingml/2006/main" noGrp="1"/>
          </p:cNvSpPr>
          <p:nvPr/>
        </p:nvSpPr>
        <p:spPr>
          <a:xfrm xmlns:a="http://schemas.openxmlformats.org/drawingml/2006/main">
            <a:off x="609600" y="5591175"/>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74A"/>
                </a:solidFill>
                <a:latin typeface="Arial"/>
                <a:ea typeface="Arial"/>
                <a:cs typeface="Arial"/>
              </a:defRPr>
            </a:pPr>
            <a:r>
              <a:rPr sz="2175" b="0">
                <a:solidFill>
                  <a:srgbClr val="17374A"/>
                </a:solidFill>
                <a:latin typeface="Arial"/>
                <a:ea typeface="Arial"/>
                <a:cs typeface="Arial"/>
              </a:rPr>
              <a:t>React Query invalida la consulta de oportunidades y la pantalla vuelve a consultar los datos.</a:t>
            </a:r>
          </a:p>
        </p:txBody>
      </p:sp>
    </p:spTree>
    <p:extLst>
      <p:ext uri="{BB962C8B-B14F-4D97-AF65-F5344CB8AC3E}">
        <p14:creationId xmlns:p14="http://schemas.microsoft.com/office/powerpoint/2010/main" val="43055980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B3DD337-E6D9-41E2-AEA9-E366FA4D1BDB}"/>
              </a:ext>
            </a:extLst>
          </p:cNvPr>
          <p:cNvSpPr>
            <a:spLocks xmlns:a="http://schemas.openxmlformats.org/drawingml/2006/main" noGrp="1"/>
          </p:cNvSpPr>
          <p:nvPr/>
        </p:nvSpPr>
        <p:spPr>
          <a:xfrm xmlns:a="http://schemas.openxmlformats.org/drawingml/2006/main">
            <a:off x="609600" y="304800"/>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87F8C"/>
                </a:solidFill>
                <a:latin typeface="Arial"/>
                <a:ea typeface="Arial"/>
                <a:cs typeface="Arial"/>
              </a:defRPr>
            </a:pPr>
            <a:r>
              <a:rPr sz="1350" b="1">
                <a:solidFill>
                  <a:srgbClr val="087F8C"/>
                </a:solidFill>
                <a:latin typeface="Arial"/>
                <a:ea typeface="Arial"/>
                <a:cs typeface="Arial"/>
              </a:rPr>
              <a:t>ADR-001 Y ADR-004</a:t>
            </a:r>
          </a:p>
        </p:txBody>
      </p:sp>
      <p:sp>
        <p:nvSpPr>
          <p:cNvPr id="2" name="">
            <a:extLst xmlns:a="http://schemas.openxmlformats.org/drawingml/2006/main">
              <a:ext uri="{FF2B5EF4-FFF2-40B4-BE49-F238E27FC236}">
                <a16:creationId xmlns:a16="http://schemas.microsoft.com/office/drawing/2014/main" id="{02D76F1A-7996-438F-9B23-DDDEC3C5848B}"/>
              </a:ext>
            </a:extLst>
          </p:cNvPr>
          <p:cNvSpPr>
            <a:spLocks xmlns:a="http://schemas.openxmlformats.org/drawingml/2006/main" noGrp="1"/>
          </p:cNvSpPr>
          <p:nvPr/>
        </p:nvSpPr>
        <p:spPr>
          <a:xfrm xmlns:a="http://schemas.openxmlformats.org/drawingml/2006/main">
            <a:off x="609600" y="752475"/>
            <a:ext cx="109537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12E43"/>
                </a:solidFill>
                <a:latin typeface="Arial"/>
                <a:ea typeface="Arial"/>
                <a:cs typeface="Arial"/>
              </a:defRPr>
            </a:pPr>
            <a:r>
              <a:rPr sz="3300" b="1">
                <a:solidFill>
                  <a:srgbClr val="112E43"/>
                </a:solidFill>
                <a:latin typeface="Arial"/>
                <a:ea typeface="Arial"/>
                <a:cs typeface="Arial"/>
              </a:rPr>
              <a:t>Capas y monolito describen aspectos distintos</a:t>
            </a:r>
          </a:p>
        </p:txBody>
      </p:sp>
      <p:sp>
        <p:nvSpPr>
          <p:cNvPr id="3" name="">
            <a:extLst xmlns:a="http://schemas.openxmlformats.org/drawingml/2006/main">
              <a:ext uri="{FF2B5EF4-FFF2-40B4-BE49-F238E27FC236}">
                <a16:creationId xmlns:a16="http://schemas.microsoft.com/office/drawing/2014/main" id="{43CBA9C9-B8D5-4DBE-8249-5C4BE857A874}"/>
              </a:ext>
            </a:extLst>
          </p:cNvPr>
          <p:cNvSpPr>
            <a:spLocks xmlns:a="http://schemas.openxmlformats.org/drawingml/2006/main" noGrp="1"/>
          </p:cNvSpPr>
          <p:nvPr/>
        </p:nvSpPr>
        <p:spPr>
          <a:xfrm xmlns:a="http://schemas.openxmlformats.org/drawingml/2006/main">
            <a:off x="11049000" y="638175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46E7D"/>
                </a:solidFill>
                <a:latin typeface="Arial"/>
                <a:ea typeface="Arial"/>
                <a:cs typeface="Arial"/>
              </a:defRPr>
            </a:pPr>
            <a:r>
              <a:rPr sz="1200" b="0">
                <a:solidFill>
                  <a:srgbClr val="546E7D"/>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CEC1008D-D825-4CF1-834C-A3A54A19F92C}"/>
              </a:ext>
            </a:extLst>
          </p:cNvPr>
          <p:cNvSpPr>
            <a:spLocks xmlns:a="http://schemas.openxmlformats.org/drawingml/2006/main" noGrp="1"/>
          </p:cNvSpPr>
          <p:nvPr/>
        </p:nvSpPr>
        <p:spPr>
          <a:xfrm xmlns:a="http://schemas.openxmlformats.org/drawingml/2006/main">
            <a:off x="609600" y="2047875"/>
            <a:ext cx="5095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87F8C"/>
                </a:solidFill>
                <a:latin typeface="Arial"/>
                <a:ea typeface="Arial"/>
                <a:cs typeface="Arial"/>
              </a:defRPr>
            </a:pPr>
            <a:r>
              <a:rPr sz="2550" b="1">
                <a:solidFill>
                  <a:srgbClr val="087F8C"/>
                </a:solidFill>
                <a:latin typeface="Arial"/>
                <a:ea typeface="Arial"/>
                <a:cs typeface="Arial"/>
              </a:rPr>
              <a:t>Organización en capas</a:t>
            </a:r>
          </a:p>
        </p:txBody>
      </p:sp>
      <p:sp>
        <p:nvSpPr>
          <p:cNvPr id="5" name="">
            <a:extLst xmlns:a="http://schemas.openxmlformats.org/drawingml/2006/main">
              <a:ext uri="{FF2B5EF4-FFF2-40B4-BE49-F238E27FC236}">
                <a16:creationId xmlns:a16="http://schemas.microsoft.com/office/drawing/2014/main" id="{DE771581-02FF-4B2A-BC37-DA864B3ED537}"/>
              </a:ext>
            </a:extLst>
          </p:cNvPr>
          <p:cNvSpPr>
            <a:spLocks xmlns:a="http://schemas.openxmlformats.org/drawingml/2006/main" noGrp="1"/>
          </p:cNvSpPr>
          <p:nvPr/>
        </p:nvSpPr>
        <p:spPr>
          <a:xfrm xmlns:a="http://schemas.openxmlformats.org/drawingml/2006/main">
            <a:off x="609600" y="2771775"/>
            <a:ext cx="5095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12E43"/>
                </a:solidFill>
                <a:latin typeface="Arial"/>
                <a:ea typeface="Arial"/>
                <a:cs typeface="Arial"/>
              </a:defRPr>
            </a:pPr>
            <a:r>
              <a:rPr sz="1950" b="1">
                <a:solidFill>
                  <a:srgbClr val="112E43"/>
                </a:solidFill>
                <a:latin typeface="Arial"/>
                <a:ea typeface="Arial"/>
                <a:cs typeface="Arial"/>
              </a:rPr>
              <a:t>Ejemplo de cambio</a:t>
            </a:r>
          </a:p>
        </p:txBody>
      </p:sp>
      <p:sp>
        <p:nvSpPr>
          <p:cNvPr id="6" name="">
            <a:extLst xmlns:a="http://schemas.openxmlformats.org/drawingml/2006/main">
              <a:ext uri="{FF2B5EF4-FFF2-40B4-BE49-F238E27FC236}">
                <a16:creationId xmlns:a16="http://schemas.microsoft.com/office/drawing/2014/main" id="{2AA08B6F-E941-45B1-B637-AD41468B1A46}"/>
              </a:ext>
            </a:extLst>
          </p:cNvPr>
          <p:cNvSpPr>
            <a:spLocks xmlns:a="http://schemas.openxmlformats.org/drawingml/2006/main" noGrp="1"/>
          </p:cNvSpPr>
          <p:nvPr/>
        </p:nvSpPr>
        <p:spPr>
          <a:xfrm xmlns:a="http://schemas.openxmlformats.org/drawingml/2006/main">
            <a:off x="609600" y="3286125"/>
            <a:ext cx="50958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74A"/>
                </a:solidFill>
                <a:latin typeface="Arial"/>
                <a:ea typeface="Arial"/>
                <a:cs typeface="Arial"/>
              </a:defRPr>
            </a:pPr>
            <a:r>
              <a:rPr sz="2175" b="0">
                <a:solidFill>
                  <a:srgbClr val="17374A"/>
                </a:solidFill>
                <a:latin typeface="Arial"/>
                <a:ea typeface="Arial"/>
                <a:cs typeface="Arial"/>
              </a:rPr>
              <a:t>Cambiar la validación del título</a:t>
            </a:r>
          </a:p>
          <a:p xmlns:a="http://schemas.openxmlformats.org/drawingml/2006/main">
            <a:pPr>
              <a:defRPr sz="2175" b="0">
                <a:solidFill>
                  <a:srgbClr val="17374A"/>
                </a:solidFill>
                <a:latin typeface="Arial"/>
                <a:ea typeface="Arial"/>
                <a:cs typeface="Arial"/>
              </a:defRPr>
            </a:pPr>
            <a:r>
              <a:rPr sz="2175" b="0">
                <a:solidFill>
                  <a:srgbClr val="17374A"/>
                </a:solidFill>
                <a:latin typeface="Arial"/>
                <a:ea typeface="Arial"/>
                <a:cs typeface="Arial"/>
              </a:rPr>
              <a:t>de una oportunidad comienza</a:t>
            </a:r>
          </a:p>
          <a:p xmlns:a="http://schemas.openxmlformats.org/drawingml/2006/main">
            <a:pPr>
              <a:defRPr sz="2175" b="0">
                <a:solidFill>
                  <a:srgbClr val="17374A"/>
                </a:solidFill>
                <a:latin typeface="Arial"/>
                <a:ea typeface="Arial"/>
                <a:cs typeface="Arial"/>
              </a:defRPr>
            </a:pPr>
            <a:r>
              <a:rPr sz="2175" b="0">
                <a:solidFill>
                  <a:srgbClr val="17374A"/>
                </a:solidFill>
                <a:latin typeface="Arial"/>
                <a:ea typeface="Arial"/>
                <a:cs typeface="Arial"/>
              </a:rPr>
              <a:t>en deal-dialog.tsx.</a:t>
            </a:r>
          </a:p>
        </p:txBody>
      </p:sp>
      <p:sp>
        <p:nvSpPr>
          <p:cNvPr id="7" name="">
            <a:extLst xmlns:a="http://schemas.openxmlformats.org/drawingml/2006/main">
              <a:ext uri="{FF2B5EF4-FFF2-40B4-BE49-F238E27FC236}">
                <a16:creationId xmlns:a16="http://schemas.microsoft.com/office/drawing/2014/main" id="{ACDDC0B5-2FB5-4D0C-BDBE-5D9351CA0E3D}"/>
              </a:ext>
            </a:extLst>
          </p:cNvPr>
          <p:cNvSpPr>
            <a:spLocks xmlns:a="http://schemas.openxmlformats.org/drawingml/2006/main" noGrp="1"/>
          </p:cNvSpPr>
          <p:nvPr/>
        </p:nvSpPr>
        <p:spPr>
          <a:xfrm xmlns:a="http://schemas.openxmlformats.org/drawingml/2006/main">
            <a:off x="609600" y="4953000"/>
            <a:ext cx="50958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46E7D"/>
                </a:solidFill>
                <a:latin typeface="Arial"/>
                <a:ea typeface="Arial"/>
                <a:cs typeface="Arial"/>
              </a:defRPr>
            </a:pPr>
            <a:r>
              <a:rPr sz="2025" b="0">
                <a:solidFill>
                  <a:srgbClr val="546E7D"/>
                </a:solidFill>
                <a:latin typeface="Arial"/>
                <a:ea typeface="Arial"/>
                <a:cs typeface="Arial"/>
              </a:rPr>
              <a:t>Ayuda a localizar responsabilidades.</a:t>
            </a:r>
          </a:p>
          <a:p xmlns:a="http://schemas.openxmlformats.org/drawingml/2006/main">
            <a:pPr>
              <a:defRPr sz="2025" b="0">
                <a:solidFill>
                  <a:srgbClr val="546E7D"/>
                </a:solidFill>
                <a:latin typeface="Arial"/>
                <a:ea typeface="Arial"/>
                <a:cs typeface="Arial"/>
              </a:defRPr>
            </a:pPr>
            <a:r>
              <a:rPr sz="2025" b="0">
                <a:solidFill>
                  <a:srgbClr val="546E7D"/>
                </a:solidFill>
                <a:latin typeface="Arial"/>
                <a:ea typeface="Arial"/>
                <a:cs typeface="Arial"/>
              </a:rPr>
              <a:t>Requiere cuidar las dependencias.</a:t>
            </a:r>
          </a:p>
        </p:txBody>
      </p:sp>
      <p:sp>
        <p:nvSpPr>
          <p:cNvPr id="8" name="">
            <a:extLst xmlns:a="http://schemas.openxmlformats.org/drawingml/2006/main">
              <a:ext uri="{FF2B5EF4-FFF2-40B4-BE49-F238E27FC236}">
                <a16:creationId xmlns:a16="http://schemas.microsoft.com/office/drawing/2014/main" id="{380BED73-0115-477C-A90E-8C6FD7629FD2}"/>
              </a:ext>
            </a:extLst>
          </p:cNvPr>
          <p:cNvSpPr>
            <a:spLocks xmlns:a="http://schemas.openxmlformats.org/drawingml/2006/main" noGrp="1"/>
          </p:cNvSpPr>
          <p:nvPr/>
        </p:nvSpPr>
        <p:spPr>
          <a:xfrm xmlns:a="http://schemas.openxmlformats.org/drawingml/2006/main">
            <a:off x="6553200" y="2047875"/>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87F8C"/>
                </a:solidFill>
                <a:latin typeface="Arial"/>
                <a:ea typeface="Arial"/>
                <a:cs typeface="Arial"/>
              </a:defRPr>
            </a:pPr>
            <a:r>
              <a:rPr sz="2550" b="1">
                <a:solidFill>
                  <a:srgbClr val="087F8C"/>
                </a:solidFill>
                <a:latin typeface="Arial"/>
                <a:ea typeface="Arial"/>
                <a:cs typeface="Arial"/>
              </a:rPr>
              <a:t>Despliegue monolítico</a:t>
            </a:r>
          </a:p>
        </p:txBody>
      </p:sp>
      <p:sp>
        <p:nvSpPr>
          <p:cNvPr id="9" name="">
            <a:extLst xmlns:a="http://schemas.openxmlformats.org/drawingml/2006/main">
              <a:ext uri="{FF2B5EF4-FFF2-40B4-BE49-F238E27FC236}">
                <a16:creationId xmlns:a16="http://schemas.microsoft.com/office/drawing/2014/main" id="{87C04CBA-A680-49A7-827B-445199CA656B}"/>
              </a:ext>
            </a:extLst>
          </p:cNvPr>
          <p:cNvSpPr>
            <a:spLocks xmlns:a="http://schemas.openxmlformats.org/drawingml/2006/main" noGrp="1"/>
          </p:cNvSpPr>
          <p:nvPr/>
        </p:nvSpPr>
        <p:spPr>
          <a:xfrm xmlns:a="http://schemas.openxmlformats.org/drawingml/2006/main">
            <a:off x="6553200" y="2771775"/>
            <a:ext cx="5048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12E43"/>
                </a:solidFill>
                <a:latin typeface="Arial"/>
                <a:ea typeface="Arial"/>
                <a:cs typeface="Arial"/>
              </a:defRPr>
            </a:pPr>
            <a:r>
              <a:rPr sz="1950" b="1">
                <a:solidFill>
                  <a:srgbClr val="112E43"/>
                </a:solidFill>
                <a:latin typeface="Arial"/>
                <a:ea typeface="Arial"/>
                <a:cs typeface="Arial"/>
              </a:rPr>
              <a:t>Ejemplo de publicación</a:t>
            </a:r>
          </a:p>
        </p:txBody>
      </p:sp>
      <p:sp>
        <p:nvSpPr>
          <p:cNvPr id="10" name="">
            <a:extLst xmlns:a="http://schemas.openxmlformats.org/drawingml/2006/main">
              <a:ext uri="{FF2B5EF4-FFF2-40B4-BE49-F238E27FC236}">
                <a16:creationId xmlns:a16="http://schemas.microsoft.com/office/drawing/2014/main" id="{3B8F5B00-ECFB-440C-8DD0-316CB53E2745}"/>
              </a:ext>
            </a:extLst>
          </p:cNvPr>
          <p:cNvSpPr>
            <a:spLocks xmlns:a="http://schemas.openxmlformats.org/drawingml/2006/main" noGrp="1"/>
          </p:cNvSpPr>
          <p:nvPr/>
        </p:nvSpPr>
        <p:spPr>
          <a:xfrm xmlns:a="http://schemas.openxmlformats.org/drawingml/2006/main">
            <a:off x="6553200" y="3286125"/>
            <a:ext cx="50482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74A"/>
                </a:solidFill>
                <a:latin typeface="Arial"/>
                <a:ea typeface="Arial"/>
                <a:cs typeface="Arial"/>
              </a:defRPr>
            </a:pPr>
            <a:r>
              <a:rPr sz="2175" b="0">
                <a:solidFill>
                  <a:srgbClr val="17374A"/>
                </a:solidFill>
                <a:latin typeface="Arial"/>
                <a:ea typeface="Arial"/>
                <a:cs typeface="Arial"/>
              </a:rPr>
              <a:t>Una mejora del pipeline se publica</a:t>
            </a:r>
          </a:p>
          <a:p xmlns:a="http://schemas.openxmlformats.org/drawingml/2006/main">
            <a:pPr>
              <a:defRPr sz="2175" b="0">
                <a:solidFill>
                  <a:srgbClr val="17374A"/>
                </a:solidFill>
                <a:latin typeface="Arial"/>
                <a:ea typeface="Arial"/>
                <a:cs typeface="Arial"/>
              </a:defRPr>
            </a:pPr>
            <a:r>
              <a:rPr sz="2175" b="0">
                <a:solidFill>
                  <a:srgbClr val="17374A"/>
                </a:solidFill>
                <a:latin typeface="Arial"/>
                <a:ea typeface="Arial"/>
                <a:cs typeface="Arial"/>
              </a:rPr>
              <a:t>con la misma aplicación</a:t>
            </a:r>
          </a:p>
          <a:p xmlns:a="http://schemas.openxmlformats.org/drawingml/2006/main">
            <a:pPr>
              <a:defRPr sz="2175" b="0">
                <a:solidFill>
                  <a:srgbClr val="17374A"/>
                </a:solidFill>
                <a:latin typeface="Arial"/>
                <a:ea typeface="Arial"/>
                <a:cs typeface="Arial"/>
              </a:defRPr>
            </a:pPr>
            <a:r>
              <a:rPr sz="2175" b="0">
                <a:solidFill>
                  <a:srgbClr val="17374A"/>
                </a:solidFill>
                <a:latin typeface="Arial"/>
                <a:ea typeface="Arial"/>
                <a:cs typeface="Arial"/>
              </a:rPr>
              <a:t>que contactos y actividades.</a:t>
            </a:r>
          </a:p>
        </p:txBody>
      </p:sp>
      <p:sp>
        <p:nvSpPr>
          <p:cNvPr id="11" name="">
            <a:extLst xmlns:a="http://schemas.openxmlformats.org/drawingml/2006/main">
              <a:ext uri="{FF2B5EF4-FFF2-40B4-BE49-F238E27FC236}">
                <a16:creationId xmlns:a16="http://schemas.microsoft.com/office/drawing/2014/main" id="{56062371-9FFF-471C-91A2-06CD6338B73B}"/>
              </a:ext>
            </a:extLst>
          </p:cNvPr>
          <p:cNvSpPr>
            <a:spLocks xmlns:a="http://schemas.openxmlformats.org/drawingml/2006/main" noGrp="1"/>
          </p:cNvSpPr>
          <p:nvPr/>
        </p:nvSpPr>
        <p:spPr>
          <a:xfrm xmlns:a="http://schemas.openxmlformats.org/drawingml/2006/main">
            <a:off x="6553200" y="4953000"/>
            <a:ext cx="5048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46E7D"/>
                </a:solidFill>
                <a:latin typeface="Arial"/>
                <a:ea typeface="Arial"/>
                <a:cs typeface="Arial"/>
              </a:defRPr>
            </a:pPr>
            <a:r>
              <a:rPr sz="2025" b="0">
                <a:solidFill>
                  <a:srgbClr val="546E7D"/>
                </a:solidFill>
                <a:latin typeface="Arial"/>
                <a:ea typeface="Arial"/>
                <a:cs typeface="Arial"/>
              </a:rPr>
              <a:t>Simplifica la operación del equipo.</a:t>
            </a:r>
          </a:p>
          <a:p xmlns:a="http://schemas.openxmlformats.org/drawingml/2006/main">
            <a:pPr>
              <a:defRPr sz="2025" b="0">
                <a:solidFill>
                  <a:srgbClr val="546E7D"/>
                </a:solidFill>
                <a:latin typeface="Arial"/>
                <a:ea typeface="Arial"/>
                <a:cs typeface="Arial"/>
              </a:defRPr>
            </a:pPr>
            <a:r>
              <a:rPr sz="2025" b="0">
                <a:solidFill>
                  <a:srgbClr val="546E7D"/>
                </a:solidFill>
                <a:latin typeface="Arial"/>
                <a:ea typeface="Arial"/>
                <a:cs typeface="Arial"/>
              </a:rPr>
              <a:t>Los módulos se despliegan juntos.</a:t>
            </a:r>
          </a:p>
        </p:txBody>
      </p:sp>
    </p:spTree>
    <p:extLst>
      <p:ext uri="{BB962C8B-B14F-4D97-AF65-F5344CB8AC3E}">
        <p14:creationId xmlns:p14="http://schemas.microsoft.com/office/powerpoint/2010/main" val="25028561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393D0FB-6261-4FD2-9F72-5B614D15F9EC}"/>
              </a:ext>
            </a:extLst>
          </p:cNvPr>
          <p:cNvSpPr>
            <a:spLocks xmlns:a="http://schemas.openxmlformats.org/drawingml/2006/main" noGrp="1"/>
          </p:cNvSpPr>
          <p:nvPr/>
        </p:nvSpPr>
        <p:spPr>
          <a:xfrm xmlns:a="http://schemas.openxmlformats.org/drawingml/2006/main">
            <a:off x="609600" y="304800"/>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87F8C"/>
                </a:solidFill>
                <a:latin typeface="Arial"/>
                <a:ea typeface="Arial"/>
                <a:cs typeface="Arial"/>
              </a:defRPr>
            </a:pPr>
            <a:r>
              <a:rPr sz="1350" b="1">
                <a:solidFill>
                  <a:srgbClr val="087F8C"/>
                </a:solidFill>
                <a:latin typeface="Arial"/>
                <a:ea typeface="Arial"/>
                <a:cs typeface="Arial"/>
              </a:rPr>
              <a:t>ADR-002: UNA DEPENDENCIA EXPLÍCITA</a:t>
            </a:r>
          </a:p>
        </p:txBody>
      </p:sp>
      <p:sp>
        <p:nvSpPr>
          <p:cNvPr id="2" name="">
            <a:extLst xmlns:a="http://schemas.openxmlformats.org/drawingml/2006/main">
              <a:ext uri="{FF2B5EF4-FFF2-40B4-BE49-F238E27FC236}">
                <a16:creationId xmlns:a16="http://schemas.microsoft.com/office/drawing/2014/main" id="{24C4A157-9289-4687-96BC-74D348A9EE32}"/>
              </a:ext>
            </a:extLst>
          </p:cNvPr>
          <p:cNvSpPr>
            <a:spLocks xmlns:a="http://schemas.openxmlformats.org/drawingml/2006/main" noGrp="1"/>
          </p:cNvSpPr>
          <p:nvPr/>
        </p:nvSpPr>
        <p:spPr>
          <a:xfrm xmlns:a="http://schemas.openxmlformats.org/drawingml/2006/main">
            <a:off x="609600" y="752475"/>
            <a:ext cx="109537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12E43"/>
                </a:solidFill>
                <a:latin typeface="Arial"/>
                <a:ea typeface="Arial"/>
                <a:cs typeface="Arial"/>
              </a:defRPr>
            </a:pPr>
            <a:r>
              <a:rPr sz="3300" b="1">
                <a:solidFill>
                  <a:srgbClr val="112E43"/>
                </a:solidFill>
                <a:latin typeface="Arial"/>
                <a:ea typeface="Arial"/>
                <a:cs typeface="Arial"/>
              </a:rPr>
              <a:t>Supabase resuelve identidad y persistencia</a:t>
            </a:r>
          </a:p>
        </p:txBody>
      </p:sp>
      <p:sp>
        <p:nvSpPr>
          <p:cNvPr id="3" name="">
            <a:extLst xmlns:a="http://schemas.openxmlformats.org/drawingml/2006/main">
              <a:ext uri="{FF2B5EF4-FFF2-40B4-BE49-F238E27FC236}">
                <a16:creationId xmlns:a16="http://schemas.microsoft.com/office/drawing/2014/main" id="{D13049FD-0A85-4DF9-9E6F-DD941B561B21}"/>
              </a:ext>
            </a:extLst>
          </p:cNvPr>
          <p:cNvSpPr>
            <a:spLocks xmlns:a="http://schemas.openxmlformats.org/drawingml/2006/main" noGrp="1"/>
          </p:cNvSpPr>
          <p:nvPr/>
        </p:nvSpPr>
        <p:spPr>
          <a:xfrm xmlns:a="http://schemas.openxmlformats.org/drawingml/2006/main">
            <a:off x="11049000" y="638175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46E7D"/>
                </a:solidFill>
                <a:latin typeface="Arial"/>
                <a:ea typeface="Arial"/>
                <a:cs typeface="Arial"/>
              </a:defRPr>
            </a:pPr>
            <a:r>
              <a:rPr sz="1200" b="0">
                <a:solidFill>
                  <a:srgbClr val="546E7D"/>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B3779A8B-A256-40DC-994C-03856DD8FC02}"/>
              </a:ext>
            </a:extLst>
          </p:cNvPr>
          <p:cNvSpPr>
            <a:spLocks xmlns:a="http://schemas.openxmlformats.org/drawingml/2006/main" noGrp="1"/>
          </p:cNvSpPr>
          <p:nvPr/>
        </p:nvSpPr>
        <p:spPr>
          <a:xfrm xmlns:a="http://schemas.openxmlformats.org/drawingml/2006/main">
            <a:off x="609600" y="184785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87F8C"/>
                </a:solidFill>
                <a:latin typeface="Arial"/>
                <a:ea typeface="Arial"/>
                <a:cs typeface="Arial"/>
              </a:defRPr>
            </a:pPr>
            <a:r>
              <a:rPr sz="2250" b="1">
                <a:solidFill>
                  <a:srgbClr val="087F8C"/>
                </a:solidFill>
                <a:latin typeface="Arial"/>
                <a:ea typeface="Arial"/>
                <a:cs typeface="Arial"/>
              </a:rPr>
              <a:t>Ejemplo: Diana inicia sesión y registra una empresa.</a:t>
            </a:r>
          </a:p>
        </p:txBody>
      </p:sp>
      <p:graphicFrame>
        <p:nvGraphicFramePr>
          <p:cNvPr id="14" name=""/>
          <p:cNvGraphicFramePr/>
          <p:nvPr/>
        </p:nvGraphicFramePr>
        <p:xfrm>
          <a:off xmlns:a="http://schemas.openxmlformats.org/drawingml/2006/main" x="609600" y="2476500"/>
          <a:ext xmlns:a="http://schemas.openxmlformats.org/drawingml/2006/main" cx="10972800" cy="2800350"/>
        </p:xfrm>
        <a:graphic xmlns:a="http://schemas.openxmlformats.org/drawingml/2006/main">
          <a:graphicData uri="http://schemas.openxmlformats.org/drawingml/2006/table">
            <a:tbl>
              <a:tblPr/>
              <a:tblGrid>
                <a:gridCol w="4819650"/>
                <a:gridCol w="6153150"/>
              </a:tblGrid>
              <a:tr h="571500">
                <a:tc>
                  <a:txBody>
                    <a:bodyPr/>
                    <a:lstStyle/>
                    <a:p>
                      <a:r>
                        <a:rPr sz="1650" b="1">
                          <a:solidFill>
                            <a:srgbClr val="FFFFFF"/>
                          </a:solidFill>
                          <a:latin typeface="Arial"/>
                          <a:ea typeface="Arial"/>
                          <a:cs typeface="Arial"/>
                        </a:rPr>
                        <a:t>Acción</a:t>
                      </a:r>
                    </a:p>
                  </a:txBody>
                  <a:tcPr marL="142875" marR="142875" marT="114300" marB="114300" anchor="ctr">
                    <a:solidFill>
                      <a:srgbClr val="112E43"/>
                    </a:solidFill>
                  </a:tcPr>
                </a:tc>
                <a:tc>
                  <a:txBody>
                    <a:bodyPr/>
                    <a:lstStyle/>
                    <a:p>
                      <a:r>
                        <a:rPr sz="1650" b="1">
                          <a:solidFill>
                            <a:srgbClr val="FFFFFF"/>
                          </a:solidFill>
                          <a:latin typeface="Arial"/>
                          <a:ea typeface="Arial"/>
                          <a:cs typeface="Arial"/>
                        </a:rPr>
                        <a:t>Responsabilidad</a:t>
                      </a:r>
                    </a:p>
                  </a:txBody>
                  <a:tcPr marL="142875" marR="142875" marT="114300" marB="114300" anchor="ctr">
                    <a:solidFill>
                      <a:srgbClr val="112E43"/>
                    </a:solidFill>
                  </a:tcPr>
                </a:tc>
              </a:tr>
              <a:tr h="742950">
                <a:tc>
                  <a:txBody>
                    <a:bodyPr/>
                    <a:lstStyle/>
                    <a:p>
                      <a:r>
                        <a:rPr sz="1875" b="1">
                          <a:solidFill>
                            <a:srgbClr val="17374A"/>
                          </a:solidFill>
                          <a:latin typeface="Arial"/>
                          <a:ea typeface="Arial"/>
                          <a:cs typeface="Arial"/>
                        </a:rPr>
                        <a:t>Diana inicia sesión</a:t>
                      </a:r>
                    </a:p>
                  </a:txBody>
                  <a:tcPr marL="142875" marR="142875" marT="114300" marB="114300" anchor="ctr">
                    <a:solidFill>
                      <a:srgbClr val="F1F5F7"/>
                    </a:solidFill>
                  </a:tcPr>
                </a:tc>
                <a:tc>
                  <a:txBody>
                    <a:bodyPr/>
                    <a:lstStyle/>
                    <a:p>
                      <a:r>
                        <a:rPr sz="1875" b="0">
                          <a:solidFill>
                            <a:srgbClr val="17374A"/>
                          </a:solidFill>
                          <a:latin typeface="Arial"/>
                          <a:ea typeface="Arial"/>
                          <a:cs typeface="Arial"/>
                        </a:rPr>
                        <a:t>Supabase Auth valida las credenciales.</a:t>
                      </a:r>
                    </a:p>
                  </a:txBody>
                  <a:tcPr marL="142875" marR="142875" marT="114300" marB="114300" anchor="ctr">
                    <a:solidFill>
                      <a:srgbClr val="F1F5F7"/>
                    </a:solidFill>
                  </a:tcPr>
                </a:tc>
              </a:tr>
              <a:tr h="742950">
                <a:tc>
                  <a:txBody>
                    <a:bodyPr/>
                    <a:lstStyle/>
                    <a:p>
                      <a:r>
                        <a:rPr sz="1875" b="1">
                          <a:solidFill>
                            <a:srgbClr val="17374A"/>
                          </a:solidFill>
                          <a:latin typeface="Arial"/>
                          <a:ea typeface="Arial"/>
                          <a:cs typeface="Arial"/>
                        </a:rPr>
                        <a:t>Crear Distribuidora Andina</a:t>
                      </a:r>
                    </a:p>
                  </a:txBody>
                  <a:tcPr marL="142875" marR="142875" marT="114300" marB="114300" anchor="ctr">
                    <a:solidFill>
                      <a:srgbClr val="E8F5F2"/>
                    </a:solidFill>
                  </a:tcPr>
                </a:tc>
                <a:tc>
                  <a:txBody>
                    <a:bodyPr/>
                    <a:lstStyle/>
                    <a:p>
                      <a:r>
                        <a:rPr sz="1875" b="0">
                          <a:solidFill>
                            <a:srgbClr val="17374A"/>
                          </a:solidFill>
                          <a:latin typeface="Arial"/>
                          <a:ea typeface="Arial"/>
                          <a:cs typeface="Arial"/>
                        </a:rPr>
                        <a:t>useSaveCompany() asigna owner_id al usuario.</a:t>
                      </a:r>
                    </a:p>
                  </a:txBody>
                  <a:tcPr marL="142875" marR="142875" marT="114300" marB="114300" anchor="ctr">
                    <a:solidFill>
                      <a:srgbClr val="E8F5F2"/>
                    </a:solidFill>
                  </a:tcPr>
                </a:tc>
              </a:tr>
              <a:tr h="742950">
                <a:tc>
                  <a:txBody>
                    <a:bodyPr/>
                    <a:lstStyle/>
                    <a:p>
                      <a:r>
                        <a:rPr sz="1875" b="1">
                          <a:solidFill>
                            <a:srgbClr val="17374A"/>
                          </a:solidFill>
                          <a:latin typeface="Arial"/>
                          <a:ea typeface="Arial"/>
                          <a:cs typeface="Arial"/>
                        </a:rPr>
                        <a:t>Guardar y consultar la empresa</a:t>
                      </a:r>
                    </a:p>
                  </a:txBody>
                  <a:tcPr marL="142875" marR="142875" marT="114300" marB="114300" anchor="ctr">
                    <a:solidFill>
                      <a:srgbClr val="F1F5F7"/>
                    </a:solidFill>
                  </a:tcPr>
                </a:tc>
                <a:tc>
                  <a:txBody>
                    <a:bodyPr/>
                    <a:lstStyle/>
                    <a:p>
                      <a:r>
                        <a:rPr sz="1875" b="0">
                          <a:solidFill>
                            <a:srgbClr val="17374A"/>
                          </a:solidFill>
                          <a:latin typeface="Arial"/>
                          <a:ea typeface="Arial"/>
                          <a:cs typeface="Arial"/>
                        </a:rPr>
                        <a:t>La API accede a PostgreSQL con RLS.</a:t>
                      </a:r>
                    </a:p>
                  </a:txBody>
                  <a:tcPr marL="142875" marR="142875" marT="114300" marB="114300" anchor="ctr">
                    <a:solidFill>
                      <a:srgbClr val="F1F5F7"/>
                    </a:solidFill>
                  </a:tcPr>
                </a:tc>
              </a:tr>
            </a:tbl>
          </a:graphicData>
        </a:graphic>
      </p:graphicFrame>
      <p:sp>
        <p:nvSpPr>
          <p:cNvPr id="6" name="">
            <a:extLst xmlns:a="http://schemas.openxmlformats.org/drawingml/2006/main">
              <a:ext uri="{FF2B5EF4-FFF2-40B4-BE49-F238E27FC236}">
                <a16:creationId xmlns:a16="http://schemas.microsoft.com/office/drawing/2014/main" id="{AD886DA6-42E1-4C80-8D51-28F17969380D}"/>
              </a:ext>
            </a:extLst>
          </p:cNvPr>
          <p:cNvSpPr>
            <a:spLocks xmlns:a="http://schemas.openxmlformats.org/drawingml/2006/main" noGrp="1"/>
          </p:cNvSpPr>
          <p:nvPr/>
        </p:nvSpPr>
        <p:spPr>
          <a:xfrm xmlns:a="http://schemas.openxmlformats.org/drawingml/2006/main">
            <a:off x="609600" y="5429250"/>
            <a:ext cx="228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87F8C"/>
                </a:solidFill>
                <a:latin typeface="Arial"/>
                <a:ea typeface="Arial"/>
                <a:cs typeface="Arial"/>
              </a:defRPr>
            </a:pPr>
            <a:r>
              <a:rPr sz="2100" b="1">
                <a:solidFill>
                  <a:srgbClr val="087F8C"/>
                </a:solidFill>
                <a:latin typeface="Arial"/>
                <a:ea typeface="Arial"/>
                <a:cs typeface="Arial"/>
              </a:rPr>
              <a:t>Beneficio</a:t>
            </a:r>
          </a:p>
        </p:txBody>
      </p:sp>
      <p:sp>
        <p:nvSpPr>
          <p:cNvPr id="7" name="">
            <a:extLst xmlns:a="http://schemas.openxmlformats.org/drawingml/2006/main">
              <a:ext uri="{FF2B5EF4-FFF2-40B4-BE49-F238E27FC236}">
                <a16:creationId xmlns:a16="http://schemas.microsoft.com/office/drawing/2014/main" id="{662B1CF4-13B1-4DB0-A4A0-D13083EA4DC7}"/>
              </a:ext>
            </a:extLst>
          </p:cNvPr>
          <p:cNvSpPr>
            <a:spLocks xmlns:a="http://schemas.openxmlformats.org/drawingml/2006/main" noGrp="1"/>
          </p:cNvSpPr>
          <p:nvPr/>
        </p:nvSpPr>
        <p:spPr>
          <a:xfrm xmlns:a="http://schemas.openxmlformats.org/drawingml/2006/main">
            <a:off x="2476500" y="5429250"/>
            <a:ext cx="857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374A"/>
                </a:solidFill>
                <a:latin typeface="Arial"/>
                <a:ea typeface="Arial"/>
                <a:cs typeface="Arial"/>
              </a:defRPr>
            </a:pPr>
            <a:r>
              <a:rPr sz="2100" b="0">
                <a:solidFill>
                  <a:srgbClr val="17374A"/>
                </a:solidFill>
                <a:latin typeface="Arial"/>
                <a:ea typeface="Arial"/>
                <a:cs typeface="Arial"/>
              </a:rPr>
              <a:t>Menor trabajo de infraestructura.</a:t>
            </a:r>
          </a:p>
        </p:txBody>
      </p:sp>
      <p:sp>
        <p:nvSpPr>
          <p:cNvPr id="8" name="">
            <a:extLst xmlns:a="http://schemas.openxmlformats.org/drawingml/2006/main">
              <a:ext uri="{FF2B5EF4-FFF2-40B4-BE49-F238E27FC236}">
                <a16:creationId xmlns:a16="http://schemas.microsoft.com/office/drawing/2014/main" id="{56976F39-1E10-44BE-AEE7-9A9E36A363F6}"/>
              </a:ext>
            </a:extLst>
          </p:cNvPr>
          <p:cNvSpPr>
            <a:spLocks xmlns:a="http://schemas.openxmlformats.org/drawingml/2006/main" noGrp="1"/>
          </p:cNvSpPr>
          <p:nvPr/>
        </p:nvSpPr>
        <p:spPr>
          <a:xfrm xmlns:a="http://schemas.openxmlformats.org/drawingml/2006/main">
            <a:off x="609600" y="5953125"/>
            <a:ext cx="228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A45B18"/>
                </a:solidFill>
                <a:latin typeface="Arial"/>
                <a:ea typeface="Arial"/>
                <a:cs typeface="Arial"/>
              </a:defRPr>
            </a:pPr>
            <a:r>
              <a:rPr sz="2100" b="1">
                <a:solidFill>
                  <a:srgbClr val="A45B18"/>
                </a:solidFill>
                <a:latin typeface="Arial"/>
                <a:ea typeface="Arial"/>
                <a:cs typeface="Arial"/>
              </a:rPr>
              <a:t>Trade-off</a:t>
            </a:r>
          </a:p>
        </p:txBody>
      </p:sp>
      <p:sp>
        <p:nvSpPr>
          <p:cNvPr id="9" name="">
            <a:extLst xmlns:a="http://schemas.openxmlformats.org/drawingml/2006/main">
              <a:ext uri="{FF2B5EF4-FFF2-40B4-BE49-F238E27FC236}">
                <a16:creationId xmlns:a16="http://schemas.microsoft.com/office/drawing/2014/main" id="{4EF714D1-3248-4CAE-B248-A32DADA9CDBB}"/>
              </a:ext>
            </a:extLst>
          </p:cNvPr>
          <p:cNvSpPr>
            <a:spLocks xmlns:a="http://schemas.openxmlformats.org/drawingml/2006/main" noGrp="1"/>
          </p:cNvSpPr>
          <p:nvPr/>
        </p:nvSpPr>
        <p:spPr>
          <a:xfrm xmlns:a="http://schemas.openxmlformats.org/drawingml/2006/main">
            <a:off x="2476500" y="5953125"/>
            <a:ext cx="8953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374A"/>
                </a:solidFill>
                <a:latin typeface="Arial"/>
                <a:ea typeface="Arial"/>
                <a:cs typeface="Arial"/>
              </a:defRPr>
            </a:pPr>
            <a:r>
              <a:rPr sz="2100" b="0">
                <a:solidFill>
                  <a:srgbClr val="17374A"/>
                </a:solidFill>
                <a:latin typeface="Arial"/>
                <a:ea typeface="Arial"/>
                <a:cs typeface="Arial"/>
              </a:rPr>
              <a:t>Dependencia del proveedor y de su configuración.</a:t>
            </a:r>
          </a:p>
        </p:txBody>
      </p:sp>
    </p:spTree>
    <p:extLst>
      <p:ext uri="{BB962C8B-B14F-4D97-AF65-F5344CB8AC3E}">
        <p14:creationId xmlns:p14="http://schemas.microsoft.com/office/powerpoint/2010/main" val="179053669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3359DF4-4AF7-470E-A818-9496B3A578FB}"/>
              </a:ext>
            </a:extLst>
          </p:cNvPr>
          <p:cNvSpPr>
            <a:spLocks xmlns:a="http://schemas.openxmlformats.org/drawingml/2006/main" noGrp="1"/>
          </p:cNvSpPr>
          <p:nvPr/>
        </p:nvSpPr>
        <p:spPr>
          <a:xfrm xmlns:a="http://schemas.openxmlformats.org/drawingml/2006/main">
            <a:off x="609600" y="304800"/>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87F8C"/>
                </a:solidFill>
                <a:latin typeface="Arial"/>
                <a:ea typeface="Arial"/>
                <a:cs typeface="Arial"/>
              </a:defRPr>
            </a:pPr>
            <a:r>
              <a:rPr sz="1350" b="1">
                <a:solidFill>
                  <a:srgbClr val="087F8C"/>
                </a:solidFill>
                <a:latin typeface="Arial"/>
                <a:ea typeface="Arial"/>
                <a:cs typeface="Arial"/>
              </a:rPr>
              <a:t>ADR-003: EJEMPLO DE AISLAMIENTO</a:t>
            </a:r>
          </a:p>
        </p:txBody>
      </p:sp>
      <p:sp>
        <p:nvSpPr>
          <p:cNvPr id="2" name="">
            <a:extLst xmlns:a="http://schemas.openxmlformats.org/drawingml/2006/main">
              <a:ext uri="{FF2B5EF4-FFF2-40B4-BE49-F238E27FC236}">
                <a16:creationId xmlns:a16="http://schemas.microsoft.com/office/drawing/2014/main" id="{4746F3DF-C374-43AE-A44E-EC84A8401293}"/>
              </a:ext>
            </a:extLst>
          </p:cNvPr>
          <p:cNvSpPr>
            <a:spLocks xmlns:a="http://schemas.openxmlformats.org/drawingml/2006/main" noGrp="1"/>
          </p:cNvSpPr>
          <p:nvPr/>
        </p:nvSpPr>
        <p:spPr>
          <a:xfrm xmlns:a="http://schemas.openxmlformats.org/drawingml/2006/main">
            <a:off x="609600" y="752475"/>
            <a:ext cx="109537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12E43"/>
                </a:solidFill>
                <a:latin typeface="Arial"/>
                <a:ea typeface="Arial"/>
                <a:cs typeface="Arial"/>
              </a:defRPr>
            </a:pPr>
            <a:r>
              <a:rPr sz="3300" b="1">
                <a:solidFill>
                  <a:srgbClr val="112E43"/>
                </a:solidFill>
                <a:latin typeface="Arial"/>
                <a:ea typeface="Arial"/>
                <a:cs typeface="Arial"/>
              </a:rPr>
              <a:t>RLS filtra los registros según el usuario</a:t>
            </a:r>
          </a:p>
        </p:txBody>
      </p:sp>
      <p:sp>
        <p:nvSpPr>
          <p:cNvPr id="3" name="">
            <a:extLst xmlns:a="http://schemas.openxmlformats.org/drawingml/2006/main">
              <a:ext uri="{FF2B5EF4-FFF2-40B4-BE49-F238E27FC236}">
                <a16:creationId xmlns:a16="http://schemas.microsoft.com/office/drawing/2014/main" id="{9E376304-3B7C-4F80-A282-1536F14A9931}"/>
              </a:ext>
            </a:extLst>
          </p:cNvPr>
          <p:cNvSpPr>
            <a:spLocks xmlns:a="http://schemas.openxmlformats.org/drawingml/2006/main" noGrp="1"/>
          </p:cNvSpPr>
          <p:nvPr/>
        </p:nvSpPr>
        <p:spPr>
          <a:xfrm xmlns:a="http://schemas.openxmlformats.org/drawingml/2006/main">
            <a:off x="11049000" y="638175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46E7D"/>
                </a:solidFill>
                <a:latin typeface="Arial"/>
                <a:ea typeface="Arial"/>
                <a:cs typeface="Arial"/>
              </a:defRPr>
            </a:pPr>
            <a:r>
              <a:rPr sz="1200" b="0">
                <a:solidFill>
                  <a:srgbClr val="546E7D"/>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4C5B4F19-95B9-47F1-BFEB-33AA84C33D6C}"/>
              </a:ext>
            </a:extLst>
          </p:cNvPr>
          <p:cNvSpPr>
            <a:spLocks xmlns:a="http://schemas.openxmlformats.org/drawingml/2006/main" noGrp="1"/>
          </p:cNvSpPr>
          <p:nvPr/>
        </p:nvSpPr>
        <p:spPr>
          <a:xfrm xmlns:a="http://schemas.openxmlformats.org/drawingml/2006/main">
            <a:off x="609600" y="182880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C"/>
                </a:solidFill>
                <a:latin typeface="Arial"/>
                <a:ea typeface="Arial"/>
                <a:cs typeface="Arial"/>
              </a:defRPr>
            </a:pPr>
            <a:r>
              <a:rPr sz="2175" b="1">
                <a:solidFill>
                  <a:srgbClr val="087F8C"/>
                </a:solidFill>
                <a:latin typeface="Arial"/>
                <a:ea typeface="Arial"/>
                <a:cs typeface="Arial"/>
              </a:rPr>
              <a:t>Diana y Mateo son vendedores. El registro de Andina pertenece a Diana.</a:t>
            </a:r>
          </a:p>
        </p:txBody>
      </p:sp>
      <p:graphicFrame>
        <p:nvGraphicFramePr>
          <p:cNvPr id="12" name=""/>
          <p:cNvGraphicFramePr/>
          <p:nvPr/>
        </p:nvGraphicFramePr>
        <p:xfrm>
          <a:off xmlns:a="http://schemas.openxmlformats.org/drawingml/2006/main" x="609600" y="2714625"/>
          <a:ext xmlns:a="http://schemas.openxmlformats.org/drawingml/2006/main" cx="10972800" cy="2428875"/>
        </p:xfrm>
        <a:graphic xmlns:a="http://schemas.openxmlformats.org/drawingml/2006/main">
          <a:graphicData uri="http://schemas.openxmlformats.org/drawingml/2006/table">
            <a:tbl>
              <a:tblPr/>
              <a:tblGrid>
                <a:gridCol w="4381500"/>
                <a:gridCol w="3381375"/>
                <a:gridCol w="3209925"/>
              </a:tblGrid>
              <a:tr h="571500">
                <a:tc>
                  <a:txBody>
                    <a:bodyPr/>
                    <a:lstStyle/>
                    <a:p>
                      <a:r>
                        <a:rPr sz="1650" b="1">
                          <a:solidFill>
                            <a:srgbClr val="FFFFFF"/>
                          </a:solidFill>
                          <a:latin typeface="Arial"/>
                          <a:ea typeface="Arial"/>
                          <a:cs typeface="Arial"/>
                        </a:rPr>
                        <a:t>Consulta autenticada</a:t>
                      </a:r>
                    </a:p>
                  </a:txBody>
                  <a:tcPr marL="142875" marR="142875" marT="114300" marB="114300" anchor="ctr">
                    <a:solidFill>
                      <a:srgbClr val="112E43"/>
                    </a:solidFill>
                  </a:tcPr>
                </a:tc>
                <a:tc>
                  <a:txBody>
                    <a:bodyPr/>
                    <a:lstStyle/>
                    <a:p>
                      <a:r>
                        <a:rPr sz="1650" b="1">
                          <a:solidFill>
                            <a:srgbClr val="FFFFFF"/>
                          </a:solidFill>
                          <a:latin typeface="Arial"/>
                          <a:ea typeface="Arial"/>
                          <a:cs typeface="Arial"/>
                        </a:rPr>
                        <a:t>Resultado esperado</a:t>
                      </a:r>
                    </a:p>
                  </a:txBody>
                  <a:tcPr marL="142875" marR="142875" marT="114300" marB="114300" anchor="ctr">
                    <a:solidFill>
                      <a:srgbClr val="112E43"/>
                    </a:solidFill>
                  </a:tcPr>
                </a:tc>
                <a:tc>
                  <a:txBody>
                    <a:bodyPr/>
                    <a:lstStyle/>
                    <a:p>
                      <a:r>
                        <a:rPr sz="1650" b="1">
                          <a:solidFill>
                            <a:srgbClr val="FFFFFF"/>
                          </a:solidFill>
                          <a:latin typeface="Arial"/>
                          <a:ea typeface="Arial"/>
                          <a:cs typeface="Arial"/>
                        </a:rPr>
                        <a:t>Motivo</a:t>
                      </a:r>
                    </a:p>
                  </a:txBody>
                  <a:tcPr marL="142875" marR="142875" marT="114300" marB="114300" anchor="ctr">
                    <a:solidFill>
                      <a:srgbClr val="112E43"/>
                    </a:solidFill>
                  </a:tcPr>
                </a:tc>
              </a:tr>
              <a:tr h="928688">
                <a:tc>
                  <a:txBody>
                    <a:bodyPr/>
                    <a:lstStyle/>
                    <a:p>
                      <a:r>
                        <a:rPr sz="1950" b="1">
                          <a:solidFill>
                            <a:srgbClr val="17374A"/>
                          </a:solidFill>
                          <a:latin typeface="Arial"/>
                          <a:ea typeface="Arial"/>
                          <a:cs typeface="Arial"/>
                        </a:rPr>
                        <a:t>Diana busca su empresa</a:t>
                      </a:r>
                    </a:p>
                  </a:txBody>
                  <a:tcPr marL="142875" marR="142875" marT="114300" marB="114300" anchor="ctr">
                    <a:solidFill>
                      <a:srgbClr val="F1F5F7"/>
                    </a:solidFill>
                  </a:tcPr>
                </a:tc>
                <a:tc>
                  <a:txBody>
                    <a:bodyPr/>
                    <a:lstStyle/>
                    <a:p>
                      <a:r>
                        <a:rPr sz="1950" b="0">
                          <a:solidFill>
                            <a:srgbClr val="17374A"/>
                          </a:solidFill>
                          <a:latin typeface="Arial"/>
                          <a:ea typeface="Arial"/>
                          <a:cs typeface="Arial"/>
                        </a:rPr>
                        <a:t>Puede verla</a:t>
                      </a:r>
                    </a:p>
                  </a:txBody>
                  <a:tcPr marL="142875" marR="142875" marT="114300" marB="114300" anchor="ctr">
                    <a:solidFill>
                      <a:srgbClr val="F1F5F7"/>
                    </a:solidFill>
                  </a:tcPr>
                </a:tc>
                <a:tc>
                  <a:txBody>
                    <a:bodyPr/>
                    <a:lstStyle/>
                    <a:p>
                      <a:r>
                        <a:rPr sz="1950" b="0">
                          <a:solidFill>
                            <a:srgbClr val="17374A"/>
                          </a:solidFill>
                          <a:latin typeface="Arial"/>
                          <a:ea typeface="Arial"/>
                          <a:cs typeface="Arial"/>
                        </a:rPr>
                        <a:t>Es la propietaria.</a:t>
                      </a:r>
                    </a:p>
                  </a:txBody>
                  <a:tcPr marL="142875" marR="142875" marT="114300" marB="114300" anchor="ctr">
                    <a:solidFill>
                      <a:srgbClr val="F1F5F7"/>
                    </a:solidFill>
                  </a:tcPr>
                </a:tc>
              </a:tr>
              <a:tr h="928688">
                <a:tc>
                  <a:txBody>
                    <a:bodyPr/>
                    <a:lstStyle/>
                    <a:p>
                      <a:r>
                        <a:rPr sz="1950" b="1">
                          <a:solidFill>
                            <a:srgbClr val="17374A"/>
                          </a:solidFill>
                          <a:latin typeface="Arial"/>
                          <a:ea typeface="Arial"/>
                          <a:cs typeface="Arial"/>
                        </a:rPr>
                        <a:t>Mateo busca la empresa de Diana</a:t>
                      </a:r>
                    </a:p>
                  </a:txBody>
                  <a:tcPr marL="142875" marR="142875" marT="114300" marB="114300" anchor="ctr">
                    <a:solidFill>
                      <a:srgbClr val="E8F5F2"/>
                    </a:solidFill>
                  </a:tcPr>
                </a:tc>
                <a:tc>
                  <a:txBody>
                    <a:bodyPr/>
                    <a:lstStyle/>
                    <a:p>
                      <a:r>
                        <a:rPr sz="1950" b="0">
                          <a:solidFill>
                            <a:srgbClr val="17374A"/>
                          </a:solidFill>
                          <a:latin typeface="Arial"/>
                          <a:ea typeface="Arial"/>
                          <a:cs typeface="Arial"/>
                        </a:rPr>
                        <a:t>No recibe esa fila</a:t>
                      </a:r>
                    </a:p>
                  </a:txBody>
                  <a:tcPr marL="142875" marR="142875" marT="114300" marB="114300" anchor="ctr">
                    <a:solidFill>
                      <a:srgbClr val="E8F5F2"/>
                    </a:solidFill>
                  </a:tcPr>
                </a:tc>
                <a:tc>
                  <a:txBody>
                    <a:bodyPr/>
                    <a:lstStyle/>
                    <a:p>
                      <a:r>
                        <a:rPr sz="1950" b="0">
                          <a:solidFill>
                            <a:srgbClr val="17374A"/>
                          </a:solidFill>
                          <a:latin typeface="Arial"/>
                          <a:ea typeface="Arial"/>
                          <a:cs typeface="Arial"/>
                        </a:rPr>
                        <a:t>Es de otra vendedora.</a:t>
                      </a:r>
                    </a:p>
                  </a:txBody>
                  <a:tcPr marL="142875" marR="142875" marT="114300" marB="114300" anchor="ctr">
                    <a:solidFill>
                      <a:srgbClr val="E8F5F2"/>
                    </a:solidFill>
                  </a:tcPr>
                </a:tc>
              </a:tr>
            </a:tbl>
          </a:graphicData>
        </a:graphic>
      </p:graphicFrame>
      <p:sp>
        <p:nvSpPr>
          <p:cNvPr id="6" name="">
            <a:extLst xmlns:a="http://schemas.openxmlformats.org/drawingml/2006/main">
              <a:ext uri="{FF2B5EF4-FFF2-40B4-BE49-F238E27FC236}">
                <a16:creationId xmlns:a16="http://schemas.microsoft.com/office/drawing/2014/main" id="{9A48EE72-6CFE-440E-BC93-2575F5690DD2}"/>
              </a:ext>
            </a:extLst>
          </p:cNvPr>
          <p:cNvSpPr>
            <a:spLocks xmlns:a="http://schemas.openxmlformats.org/drawingml/2006/main" noGrp="1"/>
          </p:cNvSpPr>
          <p:nvPr/>
        </p:nvSpPr>
        <p:spPr>
          <a:xfrm xmlns:a="http://schemas.openxmlformats.org/drawingml/2006/main">
            <a:off x="609600" y="5238750"/>
            <a:ext cx="1095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12E43"/>
                </a:solidFill>
                <a:latin typeface="Arial"/>
                <a:ea typeface="Arial"/>
                <a:cs typeface="Arial"/>
              </a:defRPr>
            </a:pPr>
            <a:r>
              <a:rPr sz="2100" b="1">
                <a:solidFill>
                  <a:srgbClr val="112E43"/>
                </a:solidFill>
                <a:latin typeface="Arial"/>
                <a:ea typeface="Arial"/>
                <a:cs typeface="Arial"/>
              </a:rPr>
              <a:t>La base aplica la regla aunque la consulta se haga fuera de la interfaz.</a:t>
            </a:r>
          </a:p>
        </p:txBody>
      </p:sp>
      <p:sp>
        <p:nvSpPr>
          <p:cNvPr id="7" name="">
            <a:extLst xmlns:a="http://schemas.openxmlformats.org/drawingml/2006/main">
              <a:ext uri="{FF2B5EF4-FFF2-40B4-BE49-F238E27FC236}">
                <a16:creationId xmlns:a16="http://schemas.microsoft.com/office/drawing/2014/main" id="{3FF1AEC2-B263-409C-AA82-D5B759B5E0FA}"/>
              </a:ext>
            </a:extLst>
          </p:cNvPr>
          <p:cNvSpPr>
            <a:spLocks xmlns:a="http://schemas.openxmlformats.org/drawingml/2006/main" noGrp="1"/>
          </p:cNvSpPr>
          <p:nvPr/>
        </p:nvSpPr>
        <p:spPr>
          <a:xfrm xmlns:a="http://schemas.openxmlformats.org/drawingml/2006/main">
            <a:off x="609600" y="5886450"/>
            <a:ext cx="1095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46E7D"/>
                </a:solidFill>
                <a:latin typeface="Arial"/>
                <a:ea typeface="Arial"/>
                <a:cs typeface="Arial"/>
              </a:defRPr>
            </a:pPr>
            <a:r>
              <a:rPr sz="1800" b="0">
                <a:solidFill>
                  <a:srgbClr val="546E7D"/>
                </a:solidFill>
                <a:latin typeface="Arial"/>
                <a:ea typeface="Arial"/>
                <a:cs typeface="Arial"/>
              </a:rPr>
              <a:t>Gerentes y administradores tienen reglas adicionales. La prueba cubre el caso entre dos usuarios.</a:t>
            </a:r>
          </a:p>
        </p:txBody>
      </p:sp>
    </p:spTree>
    <p:extLst>
      <p:ext uri="{BB962C8B-B14F-4D97-AF65-F5344CB8AC3E}">
        <p14:creationId xmlns:p14="http://schemas.microsoft.com/office/powerpoint/2010/main" val="21742484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DDAD1C0-445D-4CB4-9A8B-6B7EA8FE60EF}"/>
              </a:ext>
            </a:extLst>
          </p:cNvPr>
          <p:cNvSpPr>
            <a:spLocks xmlns:a="http://schemas.openxmlformats.org/drawingml/2006/main" noGrp="1"/>
          </p:cNvSpPr>
          <p:nvPr/>
        </p:nvSpPr>
        <p:spPr>
          <a:xfrm xmlns:a="http://schemas.openxmlformats.org/drawingml/2006/main">
            <a:off x="609600" y="304800"/>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87F8C"/>
                </a:solidFill>
                <a:latin typeface="Arial"/>
                <a:ea typeface="Arial"/>
                <a:cs typeface="Arial"/>
              </a:defRPr>
            </a:pPr>
            <a:r>
              <a:rPr sz="1350" b="1">
                <a:solidFill>
                  <a:srgbClr val="087F8C"/>
                </a:solidFill>
                <a:latin typeface="Arial"/>
                <a:ea typeface="Arial"/>
                <a:cs typeface="Arial"/>
              </a:rPr>
              <a:t>EVALUACIÓN CUALITATIVA DEL EQUIPO</a:t>
            </a:r>
          </a:p>
        </p:txBody>
      </p:sp>
      <p:sp>
        <p:nvSpPr>
          <p:cNvPr id="2" name="">
            <a:extLst xmlns:a="http://schemas.openxmlformats.org/drawingml/2006/main">
              <a:ext uri="{FF2B5EF4-FFF2-40B4-BE49-F238E27FC236}">
                <a16:creationId xmlns:a16="http://schemas.microsoft.com/office/drawing/2014/main" id="{E254679F-0DE0-44C8-A0E6-20950D240F08}"/>
              </a:ext>
            </a:extLst>
          </p:cNvPr>
          <p:cNvSpPr>
            <a:spLocks xmlns:a="http://schemas.openxmlformats.org/drawingml/2006/main" noGrp="1"/>
          </p:cNvSpPr>
          <p:nvPr/>
        </p:nvSpPr>
        <p:spPr>
          <a:xfrm xmlns:a="http://schemas.openxmlformats.org/drawingml/2006/main">
            <a:off x="609600" y="752475"/>
            <a:ext cx="109537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12E43"/>
                </a:solidFill>
                <a:latin typeface="Arial"/>
                <a:ea typeface="Arial"/>
                <a:cs typeface="Arial"/>
              </a:defRPr>
            </a:pPr>
            <a:r>
              <a:rPr sz="3300" b="1">
                <a:solidFill>
                  <a:srgbClr val="112E43"/>
                </a:solidFill>
                <a:latin typeface="Arial"/>
                <a:ea typeface="Arial"/>
                <a:cs typeface="Arial"/>
              </a:rPr>
              <a:t>La matriz hace visibles los compromisos</a:t>
            </a:r>
          </a:p>
        </p:txBody>
      </p:sp>
      <p:sp>
        <p:nvSpPr>
          <p:cNvPr id="3" name="">
            <a:extLst xmlns:a="http://schemas.openxmlformats.org/drawingml/2006/main">
              <a:ext uri="{FF2B5EF4-FFF2-40B4-BE49-F238E27FC236}">
                <a16:creationId xmlns:a16="http://schemas.microsoft.com/office/drawing/2014/main" id="{7906F025-4038-492D-A4F2-652798F4D421}"/>
              </a:ext>
            </a:extLst>
          </p:cNvPr>
          <p:cNvSpPr>
            <a:spLocks xmlns:a="http://schemas.openxmlformats.org/drawingml/2006/main" noGrp="1"/>
          </p:cNvSpPr>
          <p:nvPr/>
        </p:nvSpPr>
        <p:spPr>
          <a:xfrm xmlns:a="http://schemas.openxmlformats.org/drawingml/2006/main">
            <a:off x="11049000" y="638175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46E7D"/>
                </a:solidFill>
                <a:latin typeface="Arial"/>
                <a:ea typeface="Arial"/>
                <a:cs typeface="Arial"/>
              </a:defRPr>
            </a:pPr>
            <a:r>
              <a:rPr sz="1200" b="0">
                <a:solidFill>
                  <a:srgbClr val="546E7D"/>
                </a:solidFill>
                <a:latin typeface="Arial"/>
                <a:ea typeface="Arial"/>
                <a:cs typeface="Arial"/>
              </a:rPr>
              <a:t>09</a:t>
            </a:r>
          </a:p>
        </p:txBody>
      </p:sp>
      <p:graphicFrame>
        <p:nvGraphicFramePr>
          <p:cNvPr id="9" name=""/>
          <p:cNvGraphicFramePr/>
          <p:nvPr/>
        </p:nvGraphicFramePr>
        <p:xfrm>
          <a:off xmlns:a="http://schemas.openxmlformats.org/drawingml/2006/main" x="609600" y="2000250"/>
          <a:ext xmlns:a="http://schemas.openxmlformats.org/drawingml/2006/main" cx="10972800" cy="3476625"/>
        </p:xfrm>
        <a:graphic xmlns:a="http://schemas.openxmlformats.org/drawingml/2006/main">
          <a:graphicData uri="http://schemas.openxmlformats.org/drawingml/2006/table">
            <a:tbl>
              <a:tblPr/>
              <a:tblGrid>
                <a:gridCol w="2095500"/>
                <a:gridCol w="1381125"/>
                <a:gridCol w="1619250"/>
                <a:gridCol w="1857375"/>
                <a:gridCol w="1809750"/>
                <a:gridCol w="2209800"/>
              </a:tblGrid>
              <a:tr h="571500">
                <a:tc>
                  <a:txBody>
                    <a:bodyPr/>
                    <a:lstStyle/>
                    <a:p>
                      <a:r>
                        <a:rPr sz="1650" b="1">
                          <a:solidFill>
                            <a:srgbClr val="FFFFFF"/>
                          </a:solidFill>
                          <a:latin typeface="Arial"/>
                          <a:ea typeface="Arial"/>
                          <a:cs typeface="Arial"/>
                        </a:rPr>
                        <a:t>Decisión</a:t>
                      </a:r>
                    </a:p>
                  </a:txBody>
                  <a:tcPr marL="142875" marR="142875" marT="114300" marB="114300" anchor="ctr">
                    <a:solidFill>
                      <a:srgbClr val="112E43"/>
                    </a:solidFill>
                  </a:tcPr>
                </a:tc>
                <a:tc>
                  <a:txBody>
                    <a:bodyPr/>
                    <a:lstStyle/>
                    <a:p>
                      <a:r>
                        <a:rPr sz="1650" b="1">
                          <a:solidFill>
                            <a:srgbClr val="FFFFFF"/>
                          </a:solidFill>
                          <a:latin typeface="Arial"/>
                          <a:ea typeface="Arial"/>
                          <a:cs typeface="Arial"/>
                        </a:rPr>
                        <a:t>Valor</a:t>
                      </a:r>
                    </a:p>
                  </a:txBody>
                  <a:tcPr marL="142875" marR="142875" marT="114300" marB="114300" anchor="ctr">
                    <a:solidFill>
                      <a:srgbClr val="112E43"/>
                    </a:solidFill>
                  </a:tcPr>
                </a:tc>
                <a:tc>
                  <a:txBody>
                    <a:bodyPr/>
                    <a:lstStyle/>
                    <a:p>
                      <a:r>
                        <a:rPr sz="1650" b="1">
                          <a:solidFill>
                            <a:srgbClr val="FFFFFF"/>
                          </a:solidFill>
                          <a:latin typeface="Arial"/>
                          <a:ea typeface="Arial"/>
                          <a:cs typeface="Arial"/>
                        </a:rPr>
                        <a:t>Costo</a:t>
                      </a:r>
                    </a:p>
                  </a:txBody>
                  <a:tcPr marL="142875" marR="142875" marT="114300" marB="114300" anchor="ctr">
                    <a:solidFill>
                      <a:srgbClr val="112E43"/>
                    </a:solidFill>
                  </a:tcPr>
                </a:tc>
                <a:tc>
                  <a:txBody>
                    <a:bodyPr/>
                    <a:lstStyle/>
                    <a:p>
                      <a:r>
                        <a:rPr sz="1650" b="1">
                          <a:solidFill>
                            <a:srgbClr val="FFFFFF"/>
                          </a:solidFill>
                          <a:latin typeface="Arial"/>
                          <a:ea typeface="Arial"/>
                          <a:cs typeface="Arial"/>
                        </a:rPr>
                        <a:t>Riesgo residual</a:t>
                      </a:r>
                    </a:p>
                  </a:txBody>
                  <a:tcPr marL="142875" marR="142875" marT="114300" marB="114300" anchor="ctr">
                    <a:solidFill>
                      <a:srgbClr val="112E43"/>
                    </a:solidFill>
                  </a:tcPr>
                </a:tc>
                <a:tc>
                  <a:txBody>
                    <a:bodyPr/>
                    <a:lstStyle/>
                    <a:p>
                      <a:r>
                        <a:rPr sz="1650" b="1">
                          <a:solidFill>
                            <a:srgbClr val="FFFFFF"/>
                          </a:solidFill>
                          <a:latin typeface="Arial"/>
                          <a:ea typeface="Arial"/>
                          <a:cs typeface="Arial"/>
                        </a:rPr>
                        <a:t>Calidad</a:t>
                      </a:r>
                    </a:p>
                  </a:txBody>
                  <a:tcPr marL="142875" marR="142875" marT="114300" marB="114300" anchor="ctr">
                    <a:solidFill>
                      <a:srgbClr val="112E43"/>
                    </a:solidFill>
                  </a:tcPr>
                </a:tc>
                <a:tc>
                  <a:txBody>
                    <a:bodyPr/>
                    <a:lstStyle/>
                    <a:p>
                      <a:r>
                        <a:rPr sz="1650" b="1">
                          <a:solidFill>
                            <a:srgbClr val="FFFFFF"/>
                          </a:solidFill>
                          <a:latin typeface="Arial"/>
                          <a:ea typeface="Arial"/>
                          <a:cs typeface="Arial"/>
                        </a:rPr>
                        <a:t>Veredicto</a:t>
                      </a:r>
                    </a:p>
                  </a:txBody>
                  <a:tcPr marL="142875" marR="142875" marT="114300" marB="114300" anchor="ctr">
                    <a:solidFill>
                      <a:srgbClr val="112E43"/>
                    </a:solidFill>
                  </a:tcPr>
                </a:tc>
              </a:tr>
              <a:tr h="726281">
                <a:tc>
                  <a:txBody>
                    <a:bodyPr/>
                    <a:lstStyle/>
                    <a:p>
                      <a:r>
                        <a:rPr sz="1800" b="1">
                          <a:solidFill>
                            <a:srgbClr val="17374A"/>
                          </a:solidFill>
                          <a:latin typeface="Arial"/>
                          <a:ea typeface="Arial"/>
                          <a:cs typeface="Arial"/>
                        </a:rPr>
                        <a:t>Capas</a:t>
                      </a:r>
                    </a:p>
                  </a:txBody>
                  <a:tcPr marL="142875" marR="142875" marT="114300" marB="114300" anchor="ctr">
                    <a:solidFill>
                      <a:srgbClr val="F1F5F7"/>
                    </a:solidFill>
                  </a:tcPr>
                </a:tc>
                <a:tc>
                  <a:txBody>
                    <a:bodyPr/>
                    <a:lstStyle/>
                    <a:p>
                      <a:r>
                        <a:rPr sz="1800" b="0">
                          <a:solidFill>
                            <a:srgbClr val="17374A"/>
                          </a:solidFill>
                          <a:latin typeface="Arial"/>
                          <a:ea typeface="Arial"/>
                          <a:cs typeface="Arial"/>
                        </a:rPr>
                        <a:t>Alto</a:t>
                      </a:r>
                    </a:p>
                  </a:txBody>
                  <a:tcPr marL="142875" marR="142875" marT="114300" marB="114300" anchor="ctr">
                    <a:solidFill>
                      <a:srgbClr val="F1F5F7"/>
                    </a:solidFill>
                  </a:tcPr>
                </a:tc>
                <a:tc>
                  <a:txBody>
                    <a:bodyPr/>
                    <a:lstStyle/>
                    <a:p>
                      <a:r>
                        <a:rPr sz="1800" b="0">
                          <a:solidFill>
                            <a:srgbClr val="17374A"/>
                          </a:solidFill>
                          <a:latin typeface="Arial"/>
                          <a:ea typeface="Arial"/>
                          <a:cs typeface="Arial"/>
                        </a:rPr>
                        <a:t>Medio</a:t>
                      </a:r>
                    </a:p>
                  </a:txBody>
                  <a:tcPr marL="142875" marR="142875" marT="114300" marB="114300" anchor="ctr">
                    <a:solidFill>
                      <a:srgbClr val="F1F5F7"/>
                    </a:solidFill>
                  </a:tcPr>
                </a:tc>
                <a:tc>
                  <a:txBody>
                    <a:bodyPr/>
                    <a:lstStyle/>
                    <a:p>
                      <a:r>
                        <a:rPr sz="1800" b="0">
                          <a:solidFill>
                            <a:srgbClr val="17374A"/>
                          </a:solidFill>
                          <a:latin typeface="Arial"/>
                          <a:ea typeface="Arial"/>
                          <a:cs typeface="Arial"/>
                        </a:rPr>
                        <a:t>Bajo</a:t>
                      </a:r>
                    </a:p>
                  </a:txBody>
                  <a:tcPr marL="142875" marR="142875" marT="114300" marB="114300" anchor="ctr">
                    <a:solidFill>
                      <a:srgbClr val="F1F5F7"/>
                    </a:solidFill>
                  </a:tcPr>
                </a:tc>
                <a:tc>
                  <a:txBody>
                    <a:bodyPr/>
                    <a:lstStyle/>
                    <a:p>
                      <a:r>
                        <a:rPr sz="1800" b="0">
                          <a:solidFill>
                            <a:srgbClr val="17374A"/>
                          </a:solidFill>
                          <a:latin typeface="Arial"/>
                          <a:ea typeface="Arial"/>
                          <a:cs typeface="Arial"/>
                        </a:rPr>
                        <a:t>Favorable</a:t>
                      </a:r>
                    </a:p>
                  </a:txBody>
                  <a:tcPr marL="142875" marR="142875" marT="114300" marB="114300" anchor="ctr">
                    <a:solidFill>
                      <a:srgbClr val="F1F5F7"/>
                    </a:solidFill>
                  </a:tcPr>
                </a:tc>
                <a:tc>
                  <a:txBody>
                    <a:bodyPr/>
                    <a:lstStyle/>
                    <a:p>
                      <a:r>
                        <a:rPr sz="1800" b="0">
                          <a:solidFill>
                            <a:srgbClr val="17374A"/>
                          </a:solidFill>
                          <a:latin typeface="Arial"/>
                          <a:ea typeface="Arial"/>
                          <a:cs typeface="Arial"/>
                        </a:rPr>
                        <a:t>Confirmada</a:t>
                      </a:r>
                    </a:p>
                  </a:txBody>
                  <a:tcPr marL="142875" marR="142875" marT="114300" marB="114300" anchor="ctr">
                    <a:solidFill>
                      <a:srgbClr val="F1F5F7"/>
                    </a:solidFill>
                  </a:tcPr>
                </a:tc>
              </a:tr>
              <a:tr h="726281">
                <a:tc>
                  <a:txBody>
                    <a:bodyPr/>
                    <a:lstStyle/>
                    <a:p>
                      <a:r>
                        <a:rPr sz="1800" b="1">
                          <a:solidFill>
                            <a:srgbClr val="17374A"/>
                          </a:solidFill>
                          <a:latin typeface="Arial"/>
                          <a:ea typeface="Arial"/>
                          <a:cs typeface="Arial"/>
                        </a:rPr>
                        <a:t>Supabase</a:t>
                      </a:r>
                    </a:p>
                  </a:txBody>
                  <a:tcPr marL="142875" marR="142875" marT="114300" marB="114300" anchor="ctr">
                    <a:solidFill>
                      <a:srgbClr val="E8F5F2"/>
                    </a:solidFill>
                  </a:tcPr>
                </a:tc>
                <a:tc>
                  <a:txBody>
                    <a:bodyPr/>
                    <a:lstStyle/>
                    <a:p>
                      <a:r>
                        <a:rPr sz="1800" b="0">
                          <a:solidFill>
                            <a:srgbClr val="17374A"/>
                          </a:solidFill>
                          <a:latin typeface="Arial"/>
                          <a:ea typeface="Arial"/>
                          <a:cs typeface="Arial"/>
                        </a:rPr>
                        <a:t>Alto</a:t>
                      </a:r>
                    </a:p>
                  </a:txBody>
                  <a:tcPr marL="142875" marR="142875" marT="114300" marB="114300" anchor="ctr">
                    <a:solidFill>
                      <a:srgbClr val="E8F5F2"/>
                    </a:solidFill>
                  </a:tcPr>
                </a:tc>
                <a:tc>
                  <a:txBody>
                    <a:bodyPr/>
                    <a:lstStyle/>
                    <a:p>
                      <a:r>
                        <a:rPr sz="1800" b="0">
                          <a:solidFill>
                            <a:srgbClr val="17374A"/>
                          </a:solidFill>
                          <a:latin typeface="Arial"/>
                          <a:ea typeface="Arial"/>
                          <a:cs typeface="Arial"/>
                        </a:rPr>
                        <a:t>Favorable</a:t>
                      </a:r>
                    </a:p>
                  </a:txBody>
                  <a:tcPr marL="142875" marR="142875" marT="114300" marB="114300" anchor="ctr">
                    <a:solidFill>
                      <a:srgbClr val="E8F5F2"/>
                    </a:solidFill>
                  </a:tcPr>
                </a:tc>
                <a:tc>
                  <a:txBody>
                    <a:bodyPr/>
                    <a:lstStyle/>
                    <a:p>
                      <a:r>
                        <a:rPr sz="1800" b="0">
                          <a:solidFill>
                            <a:srgbClr val="17374A"/>
                          </a:solidFill>
                          <a:latin typeface="Arial"/>
                          <a:ea typeface="Arial"/>
                          <a:cs typeface="Arial"/>
                        </a:rPr>
                        <a:t>Moderado</a:t>
                      </a:r>
                    </a:p>
                  </a:txBody>
                  <a:tcPr marL="142875" marR="142875" marT="114300" marB="114300" anchor="ctr">
                    <a:solidFill>
                      <a:srgbClr val="E8F5F2"/>
                    </a:solidFill>
                  </a:tcPr>
                </a:tc>
                <a:tc>
                  <a:txBody>
                    <a:bodyPr/>
                    <a:lstStyle/>
                    <a:p>
                      <a:r>
                        <a:rPr sz="1800" b="0">
                          <a:solidFill>
                            <a:srgbClr val="17374A"/>
                          </a:solidFill>
                          <a:latin typeface="Arial"/>
                          <a:ea typeface="Arial"/>
                          <a:cs typeface="Arial"/>
                        </a:rPr>
                        <a:t>Favorable</a:t>
                      </a:r>
                    </a:p>
                  </a:txBody>
                  <a:tcPr marL="142875" marR="142875" marT="114300" marB="114300" anchor="ctr">
                    <a:solidFill>
                      <a:srgbClr val="E8F5F2"/>
                    </a:solidFill>
                  </a:tcPr>
                </a:tc>
                <a:tc>
                  <a:txBody>
                    <a:bodyPr/>
                    <a:lstStyle/>
                    <a:p>
                      <a:r>
                        <a:rPr sz="1800" b="0">
                          <a:solidFill>
                            <a:srgbClr val="17374A"/>
                          </a:solidFill>
                          <a:latin typeface="Arial"/>
                          <a:ea typeface="Arial"/>
                          <a:cs typeface="Arial"/>
                        </a:rPr>
                        <a:t>Confirmada</a:t>
                      </a:r>
                    </a:p>
                  </a:txBody>
                  <a:tcPr marL="142875" marR="142875" marT="114300" marB="114300" anchor="ctr">
                    <a:solidFill>
                      <a:srgbClr val="E8F5F2"/>
                    </a:solidFill>
                  </a:tcPr>
                </a:tc>
              </a:tr>
              <a:tr h="726281">
                <a:tc>
                  <a:txBody>
                    <a:bodyPr/>
                    <a:lstStyle/>
                    <a:p>
                      <a:r>
                        <a:rPr sz="1800" b="1">
                          <a:solidFill>
                            <a:srgbClr val="17374A"/>
                          </a:solidFill>
                          <a:latin typeface="Arial"/>
                          <a:ea typeface="Arial"/>
                          <a:cs typeface="Arial"/>
                        </a:rPr>
                        <a:t>RLS</a:t>
                      </a:r>
                    </a:p>
                  </a:txBody>
                  <a:tcPr marL="142875" marR="142875" marT="114300" marB="114300" anchor="ctr">
                    <a:solidFill>
                      <a:srgbClr val="F1F5F7"/>
                    </a:solidFill>
                  </a:tcPr>
                </a:tc>
                <a:tc>
                  <a:txBody>
                    <a:bodyPr/>
                    <a:lstStyle/>
                    <a:p>
                      <a:r>
                        <a:rPr sz="1800" b="0">
                          <a:solidFill>
                            <a:srgbClr val="17374A"/>
                          </a:solidFill>
                          <a:latin typeface="Arial"/>
                          <a:ea typeface="Arial"/>
                          <a:cs typeface="Arial"/>
                        </a:rPr>
                        <a:t>Alto</a:t>
                      </a:r>
                    </a:p>
                  </a:txBody>
                  <a:tcPr marL="142875" marR="142875" marT="114300" marB="114300" anchor="ctr">
                    <a:solidFill>
                      <a:srgbClr val="F1F5F7"/>
                    </a:solidFill>
                  </a:tcPr>
                </a:tc>
                <a:tc>
                  <a:txBody>
                    <a:bodyPr/>
                    <a:lstStyle/>
                    <a:p>
                      <a:r>
                        <a:rPr sz="1800" b="0">
                          <a:solidFill>
                            <a:srgbClr val="17374A"/>
                          </a:solidFill>
                          <a:latin typeface="Arial"/>
                          <a:ea typeface="Arial"/>
                          <a:cs typeface="Arial"/>
                        </a:rPr>
                        <a:t>Medio</a:t>
                      </a:r>
                    </a:p>
                  </a:txBody>
                  <a:tcPr marL="142875" marR="142875" marT="114300" marB="114300" anchor="ctr">
                    <a:solidFill>
                      <a:srgbClr val="F1F5F7"/>
                    </a:solidFill>
                  </a:tcPr>
                </a:tc>
                <a:tc>
                  <a:txBody>
                    <a:bodyPr/>
                    <a:lstStyle/>
                    <a:p>
                      <a:r>
                        <a:rPr sz="1800" b="0">
                          <a:solidFill>
                            <a:srgbClr val="17374A"/>
                          </a:solidFill>
                          <a:latin typeface="Arial"/>
                          <a:ea typeface="Arial"/>
                          <a:cs typeface="Arial"/>
                        </a:rPr>
                        <a:t>Moderado</a:t>
                      </a:r>
                    </a:p>
                  </a:txBody>
                  <a:tcPr marL="142875" marR="142875" marT="114300" marB="114300" anchor="ctr">
                    <a:solidFill>
                      <a:srgbClr val="F1F5F7"/>
                    </a:solidFill>
                  </a:tcPr>
                </a:tc>
                <a:tc>
                  <a:txBody>
                    <a:bodyPr/>
                    <a:lstStyle/>
                    <a:p>
                      <a:r>
                        <a:rPr sz="1800" b="0">
                          <a:solidFill>
                            <a:srgbClr val="17374A"/>
                          </a:solidFill>
                          <a:latin typeface="Arial"/>
                          <a:ea typeface="Arial"/>
                          <a:cs typeface="Arial"/>
                        </a:rPr>
                        <a:t>Favorable</a:t>
                      </a:r>
                    </a:p>
                  </a:txBody>
                  <a:tcPr marL="142875" marR="142875" marT="114300" marB="114300" anchor="ctr">
                    <a:solidFill>
                      <a:srgbClr val="F1F5F7"/>
                    </a:solidFill>
                  </a:tcPr>
                </a:tc>
                <a:tc>
                  <a:txBody>
                    <a:bodyPr/>
                    <a:lstStyle/>
                    <a:p>
                      <a:r>
                        <a:rPr sz="1800" b="0">
                          <a:solidFill>
                            <a:srgbClr val="17374A"/>
                          </a:solidFill>
                          <a:latin typeface="Arial"/>
                          <a:ea typeface="Arial"/>
                          <a:cs typeface="Arial"/>
                        </a:rPr>
                        <a:t>Confirmada</a:t>
                      </a:r>
                    </a:p>
                  </a:txBody>
                  <a:tcPr marL="142875" marR="142875" marT="114300" marB="114300" anchor="ctr">
                    <a:solidFill>
                      <a:srgbClr val="F1F5F7"/>
                    </a:solidFill>
                  </a:tcPr>
                </a:tc>
              </a:tr>
              <a:tr h="726281">
                <a:tc>
                  <a:txBody>
                    <a:bodyPr/>
                    <a:lstStyle/>
                    <a:p>
                      <a:r>
                        <a:rPr sz="1800" b="1">
                          <a:solidFill>
                            <a:srgbClr val="17374A"/>
                          </a:solidFill>
                          <a:latin typeface="Arial"/>
                          <a:ea typeface="Arial"/>
                          <a:cs typeface="Arial"/>
                        </a:rPr>
                        <a:t>Monolito</a:t>
                      </a:r>
                    </a:p>
                  </a:txBody>
                  <a:tcPr marL="142875" marR="142875" marT="114300" marB="114300" anchor="ctr">
                    <a:solidFill>
                      <a:srgbClr val="E8F5F2"/>
                    </a:solidFill>
                  </a:tcPr>
                </a:tc>
                <a:tc>
                  <a:txBody>
                    <a:bodyPr/>
                    <a:lstStyle/>
                    <a:p>
                      <a:r>
                        <a:rPr sz="1800" b="0">
                          <a:solidFill>
                            <a:srgbClr val="17374A"/>
                          </a:solidFill>
                          <a:latin typeface="Arial"/>
                          <a:ea typeface="Arial"/>
                          <a:cs typeface="Arial"/>
                        </a:rPr>
                        <a:t>Alto</a:t>
                      </a:r>
                    </a:p>
                  </a:txBody>
                  <a:tcPr marL="142875" marR="142875" marT="114300" marB="114300" anchor="ctr">
                    <a:solidFill>
                      <a:srgbClr val="E8F5F2"/>
                    </a:solidFill>
                  </a:tcPr>
                </a:tc>
                <a:tc>
                  <a:txBody>
                    <a:bodyPr/>
                    <a:lstStyle/>
                    <a:p>
                      <a:r>
                        <a:rPr sz="1800" b="0">
                          <a:solidFill>
                            <a:srgbClr val="17374A"/>
                          </a:solidFill>
                          <a:latin typeface="Arial"/>
                          <a:ea typeface="Arial"/>
                          <a:cs typeface="Arial"/>
                        </a:rPr>
                        <a:t>Favorable</a:t>
                      </a:r>
                    </a:p>
                  </a:txBody>
                  <a:tcPr marL="142875" marR="142875" marT="114300" marB="114300" anchor="ctr">
                    <a:solidFill>
                      <a:srgbClr val="E8F5F2"/>
                    </a:solidFill>
                  </a:tcPr>
                </a:tc>
                <a:tc>
                  <a:txBody>
                    <a:bodyPr/>
                    <a:lstStyle/>
                    <a:p>
                      <a:r>
                        <a:rPr sz="1800" b="0">
                          <a:solidFill>
                            <a:srgbClr val="17374A"/>
                          </a:solidFill>
                          <a:latin typeface="Arial"/>
                          <a:ea typeface="Arial"/>
                          <a:cs typeface="Arial"/>
                        </a:rPr>
                        <a:t>Moderado</a:t>
                      </a:r>
                    </a:p>
                  </a:txBody>
                  <a:tcPr marL="142875" marR="142875" marT="114300" marB="114300" anchor="ctr">
                    <a:solidFill>
                      <a:srgbClr val="E8F5F2"/>
                    </a:solidFill>
                  </a:tcPr>
                </a:tc>
                <a:tc>
                  <a:txBody>
                    <a:bodyPr/>
                    <a:lstStyle/>
                    <a:p>
                      <a:r>
                        <a:rPr sz="1800" b="0">
                          <a:solidFill>
                            <a:srgbClr val="17374A"/>
                          </a:solidFill>
                          <a:latin typeface="Arial"/>
                          <a:ea typeface="Arial"/>
                          <a:cs typeface="Arial"/>
                        </a:rPr>
                        <a:t>Favorable</a:t>
                      </a:r>
                    </a:p>
                  </a:txBody>
                  <a:tcPr marL="142875" marR="142875" marT="114300" marB="114300" anchor="ctr">
                    <a:solidFill>
                      <a:srgbClr val="E8F5F2"/>
                    </a:solidFill>
                  </a:tcPr>
                </a:tc>
                <a:tc>
                  <a:txBody>
                    <a:bodyPr/>
                    <a:lstStyle/>
                    <a:p>
                      <a:r>
                        <a:rPr sz="1800" b="0">
                          <a:solidFill>
                            <a:srgbClr val="17374A"/>
                          </a:solidFill>
                          <a:latin typeface="Arial"/>
                          <a:ea typeface="Arial"/>
                          <a:cs typeface="Arial"/>
                        </a:rPr>
                        <a:t>Confirmada</a:t>
                      </a:r>
                    </a:p>
                  </a:txBody>
                  <a:tcPr marL="142875" marR="142875" marT="114300" marB="114300" anchor="ctr">
                    <a:solidFill>
                      <a:srgbClr val="E8F5F2"/>
                    </a:solidFill>
                  </a:tcPr>
                </a:tc>
              </a:tr>
            </a:tbl>
          </a:graphicData>
        </a:graphic>
      </p:graphicFrame>
      <p:sp>
        <p:nvSpPr>
          <p:cNvPr id="5" name="">
            <a:extLst xmlns:a="http://schemas.openxmlformats.org/drawingml/2006/main">
              <a:ext uri="{FF2B5EF4-FFF2-40B4-BE49-F238E27FC236}">
                <a16:creationId xmlns:a16="http://schemas.microsoft.com/office/drawing/2014/main" id="{529ACAAA-C113-493A-95B7-602EA89700B4}"/>
              </a:ext>
            </a:extLst>
          </p:cNvPr>
          <p:cNvSpPr>
            <a:spLocks xmlns:a="http://schemas.openxmlformats.org/drawingml/2006/main" noGrp="1"/>
          </p:cNvSpPr>
          <p:nvPr/>
        </p:nvSpPr>
        <p:spPr>
          <a:xfrm xmlns:a="http://schemas.openxmlformats.org/drawingml/2006/main">
            <a:off x="609600" y="5800725"/>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87F8C"/>
                </a:solidFill>
                <a:latin typeface="Arial"/>
                <a:ea typeface="Arial"/>
                <a:cs typeface="Arial"/>
              </a:defRPr>
            </a:pPr>
            <a:r>
              <a:rPr sz="2100" b="1">
                <a:solidFill>
                  <a:srgbClr val="087F8C"/>
                </a:solidFill>
                <a:latin typeface="Arial"/>
                <a:ea typeface="Arial"/>
                <a:cs typeface="Arial"/>
              </a:rPr>
              <a:t>Ejemplo de trade-off: Supabase reduce trabajo, pero introduce dependencia externa.</a:t>
            </a:r>
          </a:p>
        </p:txBody>
      </p:sp>
    </p:spTree>
    <p:extLst>
      <p:ext uri="{BB962C8B-B14F-4D97-AF65-F5344CB8AC3E}">
        <p14:creationId xmlns:p14="http://schemas.microsoft.com/office/powerpoint/2010/main" val="494109942"/>
      </p:ext>
    </p:extLst>
  </p:cSld>
</p:sld>
</file>

<file path=ppt/slides/slide10.xml><?xml version="1.0" encoding="utf-8"?>
<p:sld xmlns:p="http://schemas.openxmlformats.org/presentationml/2006/main">
  <p:cSld>
    <p:bg>
      <p:bgPr>
        <a:solidFill xmlns:a="http://schemas.openxmlformats.org/drawingml/2006/main">
          <a:srgbClr val="112E43"/>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ABD82DE-BF61-4F8C-A62B-3F98AE5ED630}"/>
              </a:ext>
            </a:extLst>
          </p:cNvPr>
          <p:cNvSpPr>
            <a:spLocks xmlns:a="http://schemas.openxmlformats.org/drawingml/2006/main" noGrp="1"/>
          </p:cNvSpPr>
          <p:nvPr/>
        </p:nvSpPr>
        <p:spPr>
          <a:xfrm xmlns:a="http://schemas.openxmlformats.org/drawingml/2006/main">
            <a:off x="609600" y="304800"/>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88DDD0"/>
                </a:solidFill>
                <a:latin typeface="Arial"/>
                <a:ea typeface="Arial"/>
                <a:cs typeface="Arial"/>
              </a:defRPr>
            </a:pPr>
            <a:r>
              <a:rPr sz="1350" b="1">
                <a:solidFill>
                  <a:srgbClr val="88DDD0"/>
                </a:solidFill>
                <a:latin typeface="Arial"/>
                <a:ea typeface="Arial"/>
                <a:cs typeface="Arial"/>
              </a:rPr>
              <a:t>CIERRE DE LA PRIMERA PARTE</a:t>
            </a:r>
          </a:p>
        </p:txBody>
      </p:sp>
      <p:sp>
        <p:nvSpPr>
          <p:cNvPr id="2" name="">
            <a:extLst xmlns:a="http://schemas.openxmlformats.org/drawingml/2006/main">
              <a:ext uri="{FF2B5EF4-FFF2-40B4-BE49-F238E27FC236}">
                <a16:creationId xmlns:a16="http://schemas.microsoft.com/office/drawing/2014/main" id="{8F042F7F-704B-4476-B171-72E5D0B27044}"/>
              </a:ext>
            </a:extLst>
          </p:cNvPr>
          <p:cNvSpPr>
            <a:spLocks xmlns:a="http://schemas.openxmlformats.org/drawingml/2006/main" noGrp="1"/>
          </p:cNvSpPr>
          <p:nvPr/>
        </p:nvSpPr>
        <p:spPr>
          <a:xfrm xmlns:a="http://schemas.openxmlformats.org/drawingml/2006/main">
            <a:off x="609600" y="752475"/>
            <a:ext cx="109537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La arquitectura acompaña el trabajo comercial</a:t>
            </a:r>
          </a:p>
        </p:txBody>
      </p:sp>
      <p:sp>
        <p:nvSpPr>
          <p:cNvPr id="3" name="">
            <a:extLst xmlns:a="http://schemas.openxmlformats.org/drawingml/2006/main">
              <a:ext uri="{FF2B5EF4-FFF2-40B4-BE49-F238E27FC236}">
                <a16:creationId xmlns:a16="http://schemas.microsoft.com/office/drawing/2014/main" id="{BF1E5B60-D18A-40AF-A306-B6B94E45A552}"/>
              </a:ext>
            </a:extLst>
          </p:cNvPr>
          <p:cNvSpPr>
            <a:spLocks xmlns:a="http://schemas.openxmlformats.org/drawingml/2006/main" noGrp="1"/>
          </p:cNvSpPr>
          <p:nvPr/>
        </p:nvSpPr>
        <p:spPr>
          <a:xfrm xmlns:a="http://schemas.openxmlformats.org/drawingml/2006/main">
            <a:off x="11049000" y="638175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AD0DD"/>
                </a:solidFill>
                <a:latin typeface="Arial"/>
                <a:ea typeface="Arial"/>
                <a:cs typeface="Arial"/>
              </a:defRPr>
            </a:pPr>
            <a:r>
              <a:rPr sz="1200" b="0">
                <a:solidFill>
                  <a:srgbClr val="BAD0DD"/>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2AF8499A-6415-4BF8-A498-9186EF9A5F00}"/>
              </a:ext>
            </a:extLst>
          </p:cNvPr>
          <p:cNvSpPr>
            <a:spLocks xmlns:a="http://schemas.openxmlformats.org/drawingml/2006/main" noGrp="1"/>
          </p:cNvSpPr>
          <p:nvPr/>
        </p:nvSpPr>
        <p:spPr>
          <a:xfrm xmlns:a="http://schemas.openxmlformats.org/drawingml/2006/main">
            <a:off x="609600" y="21145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88DDD0"/>
                </a:solidFill>
                <a:latin typeface="Arial"/>
                <a:ea typeface="Arial"/>
                <a:cs typeface="Arial"/>
              </a:defRPr>
            </a:pPr>
            <a:r>
              <a:rPr sz="2700" b="1">
                <a:solidFill>
                  <a:srgbClr val="88DDD0"/>
                </a:solidFill>
                <a:latin typeface="Arial"/>
                <a:ea typeface="Arial"/>
                <a:cs typeface="Arial"/>
              </a:rPr>
              <a:t>El caso de Diana</a:t>
            </a:r>
          </a:p>
        </p:txBody>
      </p:sp>
      <p:sp>
        <p:nvSpPr>
          <p:cNvPr id="5" name="">
            <a:extLst xmlns:a="http://schemas.openxmlformats.org/drawingml/2006/main">
              <a:ext uri="{FF2B5EF4-FFF2-40B4-BE49-F238E27FC236}">
                <a16:creationId xmlns:a16="http://schemas.microsoft.com/office/drawing/2014/main" id="{5A27C2FC-C4C8-44C3-A995-D3082F14790C}"/>
              </a:ext>
            </a:extLst>
          </p:cNvPr>
          <p:cNvSpPr>
            <a:spLocks xmlns:a="http://schemas.openxmlformats.org/drawingml/2006/main" noGrp="1"/>
          </p:cNvSpPr>
          <p:nvPr/>
        </p:nvSpPr>
        <p:spPr>
          <a:xfrm xmlns:a="http://schemas.openxmlformats.org/drawingml/2006/main">
            <a:off x="609600" y="3000375"/>
            <a:ext cx="10858500" cy="1771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FFFFFF"/>
                </a:solidFill>
                <a:latin typeface="Arial"/>
                <a:ea typeface="Arial"/>
                <a:cs typeface="Arial"/>
              </a:defRPr>
            </a:pPr>
            <a:r>
              <a:rPr sz="2475" b="0">
                <a:solidFill>
                  <a:srgbClr val="FFFFFF"/>
                </a:solidFill>
                <a:latin typeface="Arial"/>
                <a:ea typeface="Arial"/>
                <a:cs typeface="Arial"/>
              </a:rPr>
              <a:t>Relaciona la empresa con el contacto y la oportunidad.</a:t>
            </a:r>
          </a:p>
          <a:p xmlns:a="http://schemas.openxmlformats.org/drawingml/2006/main">
            <a:pPr>
              <a:defRPr sz="2475" b="0">
                <a:solidFill>
                  <a:srgbClr val="FFFFFF"/>
                </a:solidFill>
                <a:latin typeface="Arial"/>
                <a:ea typeface="Arial"/>
                <a:cs typeface="Arial"/>
              </a:defRPr>
            </a:pPr>
            <a:r>
              <a:rPr sz="2475" b="0">
                <a:solidFill>
                  <a:srgbClr val="FFFFFF"/>
                </a:solidFill>
                <a:latin typeface="Arial"/>
                <a:ea typeface="Arial"/>
                <a:cs typeface="Arial"/>
              </a:rPr>
              <a:t>Actualiza la etapa de venta y registra el seguimiento.</a:t>
            </a:r>
          </a:p>
          <a:p xmlns:a="http://schemas.openxmlformats.org/drawingml/2006/main">
            <a:pPr>
              <a:defRPr sz="2475" b="0">
                <a:solidFill>
                  <a:srgbClr val="FFFFFF"/>
                </a:solidFill>
                <a:latin typeface="Arial"/>
                <a:ea typeface="Arial"/>
                <a:cs typeface="Arial"/>
              </a:defRPr>
            </a:pPr>
            <a:r>
              <a:rPr sz="2475" b="0">
                <a:solidFill>
                  <a:srgbClr val="FFFFFF"/>
                </a:solidFill>
                <a:latin typeface="Arial"/>
                <a:ea typeface="Arial"/>
                <a:cs typeface="Arial"/>
              </a:rPr>
              <a:t>Accede a los datos según su identidad y sus permisos.</a:t>
            </a:r>
          </a:p>
        </p:txBody>
      </p:sp>
      <p:sp>
        <p:nvSpPr>
          <p:cNvPr id="6" name="">
            <a:extLst xmlns:a="http://schemas.openxmlformats.org/drawingml/2006/main">
              <a:ext uri="{FF2B5EF4-FFF2-40B4-BE49-F238E27FC236}">
                <a16:creationId xmlns:a16="http://schemas.microsoft.com/office/drawing/2014/main" id="{DA74AE89-36CD-41AB-9EF5-1D2F31C61DF7}"/>
              </a:ext>
            </a:extLst>
          </p:cNvPr>
          <p:cNvSpPr>
            <a:spLocks xmlns:a="http://schemas.openxmlformats.org/drawingml/2006/main" noGrp="1"/>
          </p:cNvSpPr>
          <p:nvPr/>
        </p:nvSpPr>
        <p:spPr>
          <a:xfrm xmlns:a="http://schemas.openxmlformats.org/drawingml/2006/main">
            <a:off x="609600" y="521970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88DDD0"/>
                </a:solidFill>
                <a:latin typeface="Arial"/>
                <a:ea typeface="Arial"/>
                <a:cs typeface="Arial"/>
              </a:defRPr>
            </a:pPr>
            <a:r>
              <a:rPr sz="2250" b="1">
                <a:solidFill>
                  <a:srgbClr val="88DDD0"/>
                </a:solidFill>
                <a:latin typeface="Arial"/>
                <a:ea typeface="Arial"/>
                <a:cs typeface="Arial"/>
              </a:rPr>
              <a:t>Una aplicación propia para el alcance actual del equipo.</a:t>
            </a:r>
          </a:p>
        </p:txBody>
      </p:sp>
      <p:sp>
        <p:nvSpPr>
          <p:cNvPr id="7" name="">
            <a:extLst xmlns:a="http://schemas.openxmlformats.org/drawingml/2006/main">
              <a:ext uri="{FF2B5EF4-FFF2-40B4-BE49-F238E27FC236}">
                <a16:creationId xmlns:a16="http://schemas.microsoft.com/office/drawing/2014/main" id="{80AC9A86-1236-4541-BD31-15E208D29ECE}"/>
              </a:ext>
            </a:extLst>
          </p:cNvPr>
          <p:cNvSpPr>
            <a:spLocks xmlns:a="http://schemas.openxmlformats.org/drawingml/2006/main" noGrp="1"/>
          </p:cNvSpPr>
          <p:nvPr/>
        </p:nvSpPr>
        <p:spPr>
          <a:xfrm xmlns:a="http://schemas.openxmlformats.org/drawingml/2006/main">
            <a:off x="609600" y="5915025"/>
            <a:ext cx="10858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CBDDE6"/>
                </a:solidFill>
                <a:latin typeface="Arial"/>
                <a:ea typeface="Arial"/>
                <a:cs typeface="Arial"/>
              </a:defRPr>
            </a:pPr>
            <a:r>
              <a:rPr sz="2025" b="0">
                <a:solidFill>
                  <a:srgbClr val="CBDDE6"/>
                </a:solidFill>
                <a:latin typeface="Arial"/>
                <a:ea typeface="Arial"/>
                <a:cs typeface="Arial"/>
              </a:rPr>
              <a:t>A continuación: pruebas, recuperación y límites de la evidencia.</a:t>
            </a:r>
          </a:p>
        </p:txBody>
      </p:sp>
    </p:spTree>
    <p:extLst>
      <p:ext uri="{BB962C8B-B14F-4D97-AF65-F5344CB8AC3E}">
        <p14:creationId xmlns:p14="http://schemas.microsoft.com/office/powerpoint/2010/main" val="67341835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F13B5C5-5273-4544-8EF3-D0EA999E3229}"/>
              </a:ext>
            </a:extLst>
          </p:cNvPr>
          <p:cNvSpPr>
            <a:spLocks xmlns:a="http://schemas.openxmlformats.org/drawingml/2006/main" noGrp="1"/>
          </p:cNvSpPr>
          <p:nvPr/>
        </p:nvSpPr>
        <p:spPr>
          <a:xfrm xmlns:a="http://schemas.openxmlformats.org/drawingml/2006/main">
            <a:off x="609600" y="304800"/>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87F8C"/>
                </a:solidFill>
                <a:latin typeface="Arial"/>
                <a:ea typeface="Arial"/>
                <a:cs typeface="Arial"/>
              </a:defRPr>
            </a:pPr>
            <a:r>
              <a:rPr sz="1350" b="1">
                <a:solidFill>
                  <a:srgbClr val="087F8C"/>
                </a:solidFill>
                <a:latin typeface="Arial"/>
                <a:ea typeface="Arial"/>
                <a:cs typeface="Arial"/>
              </a:rPr>
              <a:t>APOYO OPCIONAL</a:t>
            </a:r>
          </a:p>
        </p:txBody>
      </p:sp>
      <p:sp>
        <p:nvSpPr>
          <p:cNvPr id="2" name="">
            <a:extLst xmlns:a="http://schemas.openxmlformats.org/drawingml/2006/main">
              <a:ext uri="{FF2B5EF4-FFF2-40B4-BE49-F238E27FC236}">
                <a16:creationId xmlns:a16="http://schemas.microsoft.com/office/drawing/2014/main" id="{B4193BA6-B834-4714-8E17-B1B1CB2B3736}"/>
              </a:ext>
            </a:extLst>
          </p:cNvPr>
          <p:cNvSpPr>
            <a:spLocks xmlns:a="http://schemas.openxmlformats.org/drawingml/2006/main" noGrp="1"/>
          </p:cNvSpPr>
          <p:nvPr/>
        </p:nvSpPr>
        <p:spPr>
          <a:xfrm xmlns:a="http://schemas.openxmlformats.org/drawingml/2006/main">
            <a:off x="609600" y="752475"/>
            <a:ext cx="109537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12E43"/>
                </a:solidFill>
                <a:latin typeface="Arial"/>
                <a:ea typeface="Arial"/>
                <a:cs typeface="Arial"/>
              </a:defRPr>
            </a:pPr>
            <a:r>
              <a:rPr sz="3300" b="1">
                <a:solidFill>
                  <a:srgbClr val="112E43"/>
                </a:solidFill>
                <a:latin typeface="Arial"/>
                <a:ea typeface="Arial"/>
                <a:cs typeface="Arial"/>
              </a:rPr>
              <a:t>Preguntas del profesor</a:t>
            </a:r>
          </a:p>
        </p:txBody>
      </p:sp>
      <p:sp>
        <p:nvSpPr>
          <p:cNvPr id="3" name="">
            <a:extLst xmlns:a="http://schemas.openxmlformats.org/drawingml/2006/main">
              <a:ext uri="{FF2B5EF4-FFF2-40B4-BE49-F238E27FC236}">
                <a16:creationId xmlns:a16="http://schemas.microsoft.com/office/drawing/2014/main" id="{4E936B33-C6C9-4CBA-9D21-0B6CB60D5A3A}"/>
              </a:ext>
            </a:extLst>
          </p:cNvPr>
          <p:cNvSpPr>
            <a:spLocks xmlns:a="http://schemas.openxmlformats.org/drawingml/2006/main" noGrp="1"/>
          </p:cNvSpPr>
          <p:nvPr/>
        </p:nvSpPr>
        <p:spPr>
          <a:xfrm xmlns:a="http://schemas.openxmlformats.org/drawingml/2006/main">
            <a:off x="11049000" y="638175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46E7D"/>
                </a:solidFill>
                <a:latin typeface="Arial"/>
                <a:ea typeface="Arial"/>
                <a:cs typeface="Arial"/>
              </a:defRPr>
            </a:pPr>
            <a:r>
              <a:rPr sz="1200" b="0">
                <a:solidFill>
                  <a:srgbClr val="546E7D"/>
                </a:solidFill>
                <a:latin typeface="Arial"/>
                <a:ea typeface="Arial"/>
                <a:cs typeface="Arial"/>
              </a:rPr>
              <a:t>11</a:t>
            </a:r>
          </a:p>
        </p:txBody>
      </p:sp>
      <p:graphicFrame>
        <p:nvGraphicFramePr>
          <p:cNvPr id="8" name=""/>
          <p:cNvGraphicFramePr/>
          <p:nvPr/>
        </p:nvGraphicFramePr>
        <p:xfrm>
          <a:off xmlns:a="http://schemas.openxmlformats.org/drawingml/2006/main" x="609600" y="1847850"/>
          <a:ext xmlns:a="http://schemas.openxmlformats.org/drawingml/2006/main" cx="10972800" cy="4095750"/>
        </p:xfrm>
        <a:graphic xmlns:a="http://schemas.openxmlformats.org/drawingml/2006/main">
          <a:graphicData uri="http://schemas.openxmlformats.org/drawingml/2006/table">
            <a:tbl>
              <a:tblPr/>
              <a:tblGrid>
                <a:gridCol w="4114800"/>
                <a:gridCol w="6858000"/>
              </a:tblGrid>
              <a:tr h="571500">
                <a:tc>
                  <a:txBody>
                    <a:bodyPr/>
                    <a:lstStyle/>
                    <a:p>
                      <a:r>
                        <a:rPr sz="1650" b="1">
                          <a:solidFill>
                            <a:srgbClr val="FFFFFF"/>
                          </a:solidFill>
                          <a:latin typeface="Arial"/>
                          <a:ea typeface="Arial"/>
                          <a:cs typeface="Arial"/>
                        </a:rPr>
                        <a:t>Pregunta</a:t>
                      </a:r>
                    </a:p>
                  </a:txBody>
                  <a:tcPr marL="142875" marR="142875" marT="114300" marB="114300" anchor="ctr">
                    <a:solidFill>
                      <a:srgbClr val="112E43"/>
                    </a:solidFill>
                  </a:tcPr>
                </a:tc>
                <a:tc>
                  <a:txBody>
                    <a:bodyPr/>
                    <a:lstStyle/>
                    <a:p>
                      <a:r>
                        <a:rPr sz="1650" b="1">
                          <a:solidFill>
                            <a:srgbClr val="FFFFFF"/>
                          </a:solidFill>
                          <a:latin typeface="Arial"/>
                          <a:ea typeface="Arial"/>
                          <a:cs typeface="Arial"/>
                        </a:rPr>
                        <a:t>Respuesta que puedes defender</a:t>
                      </a:r>
                    </a:p>
                  </a:txBody>
                  <a:tcPr marL="142875" marR="142875" marT="114300" marB="114300" anchor="ctr">
                    <a:solidFill>
                      <a:srgbClr val="112E43"/>
                    </a:solidFill>
                  </a:tcPr>
                </a:tc>
              </a:tr>
              <a:tr h="881063">
                <a:tc>
                  <a:txBody>
                    <a:bodyPr/>
                    <a:lstStyle/>
                    <a:p>
                      <a:r>
                        <a:rPr sz="1875" b="1">
                          <a:solidFill>
                            <a:srgbClr val="17374A"/>
                          </a:solidFill>
                          <a:latin typeface="Arial"/>
                          <a:ea typeface="Arial"/>
                          <a:cs typeface="Arial"/>
                        </a:rPr>
                        <a:t>¿Por qué no microservicios?</a:t>
                      </a:r>
                    </a:p>
                  </a:txBody>
                  <a:tcPr marL="142875" marR="142875" marT="114300" marB="114300" anchor="ctr">
                    <a:solidFill>
                      <a:srgbClr val="F1F5F7"/>
                    </a:solidFill>
                  </a:tcPr>
                </a:tc>
                <a:tc>
                  <a:txBody>
                    <a:bodyPr/>
                    <a:lstStyle/>
                    <a:p>
                      <a:r>
                        <a:rPr sz="1875" b="0">
                          <a:solidFill>
                            <a:srgbClr val="17374A"/>
                          </a:solidFill>
                          <a:latin typeface="Arial"/>
                          <a:ea typeface="Arial"/>
                          <a:cs typeface="Arial"/>
                        </a:rPr>
                        <a:t>El alcance actual no demuestra una necesidad que justifique más complejidad operativa.</a:t>
                      </a:r>
                    </a:p>
                  </a:txBody>
                  <a:tcPr marL="142875" marR="142875" marT="114300" marB="114300" anchor="ctr">
                    <a:solidFill>
                      <a:srgbClr val="F1F5F7"/>
                    </a:solidFill>
                  </a:tcPr>
                </a:tc>
              </a:tr>
              <a:tr h="881063">
                <a:tc>
                  <a:txBody>
                    <a:bodyPr/>
                    <a:lstStyle/>
                    <a:p>
                      <a:r>
                        <a:rPr sz="1875" b="1">
                          <a:solidFill>
                            <a:srgbClr val="17374A"/>
                          </a:solidFill>
                          <a:latin typeface="Arial"/>
                          <a:ea typeface="Arial"/>
                          <a:cs typeface="Arial"/>
                        </a:rPr>
                        <a:t>¿Es monolito si usa Supabase?</a:t>
                      </a:r>
                    </a:p>
                  </a:txBody>
                  <a:tcPr marL="142875" marR="142875" marT="114300" marB="114300" anchor="ctr">
                    <a:solidFill>
                      <a:srgbClr val="E8F5F2"/>
                    </a:solidFill>
                  </a:tcPr>
                </a:tc>
                <a:tc>
                  <a:txBody>
                    <a:bodyPr/>
                    <a:lstStyle/>
                    <a:p>
                      <a:r>
                        <a:rPr sz="1875" b="0">
                          <a:solidFill>
                            <a:srgbClr val="17374A"/>
                          </a:solidFill>
                          <a:latin typeface="Arial"/>
                          <a:ea typeface="Arial"/>
                          <a:cs typeface="Arial"/>
                        </a:rPr>
                        <a:t>Sí. La aplicación propia se despliega como una unidad y utiliza servicios externos.</a:t>
                      </a:r>
                    </a:p>
                  </a:txBody>
                  <a:tcPr marL="142875" marR="142875" marT="114300" marB="114300" anchor="ctr">
                    <a:solidFill>
                      <a:srgbClr val="E8F5F2"/>
                    </a:solidFill>
                  </a:tcPr>
                </a:tc>
              </a:tr>
              <a:tr h="881063">
                <a:tc>
                  <a:txBody>
                    <a:bodyPr/>
                    <a:lstStyle/>
                    <a:p>
                      <a:r>
                        <a:rPr sz="1875" b="1">
                          <a:solidFill>
                            <a:srgbClr val="17374A"/>
                          </a:solidFill>
                          <a:latin typeface="Arial"/>
                          <a:ea typeface="Arial"/>
                          <a:cs typeface="Arial"/>
                        </a:rPr>
                        <a:t>¿RLS garantiza toda la seguridad?</a:t>
                      </a:r>
                    </a:p>
                  </a:txBody>
                  <a:tcPr marL="142875" marR="142875" marT="114300" marB="114300" anchor="ctr">
                    <a:solidFill>
                      <a:srgbClr val="F1F5F7"/>
                    </a:solidFill>
                  </a:tcPr>
                </a:tc>
                <a:tc>
                  <a:txBody>
                    <a:bodyPr/>
                    <a:lstStyle/>
                    <a:p>
                      <a:r>
                        <a:rPr sz="1875" b="0">
                          <a:solidFill>
                            <a:srgbClr val="17374A"/>
                          </a:solidFill>
                          <a:latin typeface="Arial"/>
                          <a:ea typeface="Arial"/>
                          <a:cs typeface="Arial"/>
                        </a:rPr>
                        <a:t>Controla filas. También debemos proteger credenciales, sesiones y accesos administrativos.</a:t>
                      </a:r>
                    </a:p>
                  </a:txBody>
                  <a:tcPr marL="142875" marR="142875" marT="114300" marB="114300" anchor="ctr">
                    <a:solidFill>
                      <a:srgbClr val="F1F5F7"/>
                    </a:solidFill>
                  </a:tcPr>
                </a:tc>
              </a:tr>
              <a:tr h="881063">
                <a:tc>
                  <a:txBody>
                    <a:bodyPr/>
                    <a:lstStyle/>
                    <a:p>
                      <a:r>
                        <a:rPr sz="1875" b="1">
                          <a:solidFill>
                            <a:srgbClr val="17374A"/>
                          </a:solidFill>
                          <a:latin typeface="Arial"/>
                          <a:ea typeface="Arial"/>
                          <a:cs typeface="Arial"/>
                        </a:rPr>
                        <a:t>¿Por qué no un backend propio separado?</a:t>
                      </a:r>
                    </a:p>
                  </a:txBody>
                  <a:tcPr marL="142875" marR="142875" marT="114300" marB="114300" anchor="ctr">
                    <a:solidFill>
                      <a:srgbClr val="E8F5F2"/>
                    </a:solidFill>
                  </a:tcPr>
                </a:tc>
                <a:tc>
                  <a:txBody>
                    <a:bodyPr/>
                    <a:lstStyle/>
                    <a:p>
                      <a:r>
                        <a:rPr sz="1875" b="0">
                          <a:solidFill>
                            <a:srgbClr val="17374A"/>
                          </a:solidFill>
                          <a:latin typeface="Arial"/>
                          <a:ea typeface="Arial"/>
                          <a:cs typeface="Arial"/>
                        </a:rPr>
                        <a:t>TanStack Start aporta capacidades de servidor y Supabase resuelve Auth y persistencia.</a:t>
                      </a:r>
                    </a:p>
                  </a:txBody>
                  <a:tcPr marL="142875" marR="142875" marT="114300" marB="114300" anchor="ctr">
                    <a:solidFill>
                      <a:srgbClr val="E8F5F2"/>
                    </a:solidFill>
                  </a:tcPr>
                </a:tc>
              </a:tr>
            </a:tbl>
          </a:graphicData>
        </a:graphic>
      </p:graphicFrame>
    </p:spTree>
    <p:extLst>
      <p:ext uri="{BB962C8B-B14F-4D97-AF65-F5344CB8AC3E}">
        <p14:creationId xmlns:p14="http://schemas.microsoft.com/office/powerpoint/2010/main" val="86694042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B813EC1-ED00-4E08-9BBF-AC13B619783E}"/>
              </a:ext>
            </a:extLst>
          </p:cNvPr>
          <p:cNvSpPr>
            <a:spLocks xmlns:a="http://schemas.openxmlformats.org/drawingml/2006/main" noGrp="1"/>
          </p:cNvSpPr>
          <p:nvPr/>
        </p:nvSpPr>
        <p:spPr>
          <a:xfrm xmlns:a="http://schemas.openxmlformats.org/drawingml/2006/main">
            <a:off x="609600" y="304800"/>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87F8C"/>
                </a:solidFill>
                <a:latin typeface="Arial"/>
                <a:ea typeface="Arial"/>
                <a:cs typeface="Arial"/>
              </a:defRPr>
            </a:pPr>
            <a:r>
              <a:rPr sz="1350" b="1">
                <a:solidFill>
                  <a:srgbClr val="087F8C"/>
                </a:solidFill>
                <a:latin typeface="Arial"/>
                <a:ea typeface="Arial"/>
                <a:cs typeface="Arial"/>
              </a:rPr>
              <a:t>APOYO OPCIONAL: TRAZABILIDAD</a:t>
            </a:r>
          </a:p>
        </p:txBody>
      </p:sp>
      <p:sp>
        <p:nvSpPr>
          <p:cNvPr id="2" name="">
            <a:extLst xmlns:a="http://schemas.openxmlformats.org/drawingml/2006/main">
              <a:ext uri="{FF2B5EF4-FFF2-40B4-BE49-F238E27FC236}">
                <a16:creationId xmlns:a16="http://schemas.microsoft.com/office/drawing/2014/main" id="{1F8EE7CF-8512-45E2-ADA4-EB007929F9BD}"/>
              </a:ext>
            </a:extLst>
          </p:cNvPr>
          <p:cNvSpPr>
            <a:spLocks xmlns:a="http://schemas.openxmlformats.org/drawingml/2006/main" noGrp="1"/>
          </p:cNvSpPr>
          <p:nvPr/>
        </p:nvSpPr>
        <p:spPr>
          <a:xfrm xmlns:a="http://schemas.openxmlformats.org/drawingml/2006/main">
            <a:off x="609600" y="752475"/>
            <a:ext cx="109537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12E43"/>
                </a:solidFill>
                <a:latin typeface="Arial"/>
                <a:ea typeface="Arial"/>
                <a:cs typeface="Arial"/>
              </a:defRPr>
            </a:pPr>
            <a:r>
              <a:rPr sz="3300" b="1">
                <a:solidFill>
                  <a:srgbClr val="112E43"/>
                </a:solidFill>
                <a:latin typeface="Arial"/>
                <a:ea typeface="Arial"/>
                <a:cs typeface="Arial"/>
              </a:rPr>
              <a:t>Archivos para respaldar los ejemplos</a:t>
            </a:r>
          </a:p>
        </p:txBody>
      </p:sp>
      <p:sp>
        <p:nvSpPr>
          <p:cNvPr id="3" name="">
            <a:extLst xmlns:a="http://schemas.openxmlformats.org/drawingml/2006/main">
              <a:ext uri="{FF2B5EF4-FFF2-40B4-BE49-F238E27FC236}">
                <a16:creationId xmlns:a16="http://schemas.microsoft.com/office/drawing/2014/main" id="{8C8C7D73-508C-49CE-B839-027C7B081D60}"/>
              </a:ext>
            </a:extLst>
          </p:cNvPr>
          <p:cNvSpPr>
            <a:spLocks xmlns:a="http://schemas.openxmlformats.org/drawingml/2006/main" noGrp="1"/>
          </p:cNvSpPr>
          <p:nvPr/>
        </p:nvSpPr>
        <p:spPr>
          <a:xfrm xmlns:a="http://schemas.openxmlformats.org/drawingml/2006/main">
            <a:off x="11049000" y="638175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46E7D"/>
                </a:solidFill>
                <a:latin typeface="Arial"/>
                <a:ea typeface="Arial"/>
                <a:cs typeface="Arial"/>
              </a:defRPr>
            </a:pPr>
            <a:r>
              <a:rPr sz="1200" b="0">
                <a:solidFill>
                  <a:srgbClr val="546E7D"/>
                </a:solidFill>
                <a:latin typeface="Arial"/>
                <a:ea typeface="Arial"/>
                <a:cs typeface="Arial"/>
              </a:rPr>
              <a:t>12</a:t>
            </a:r>
          </a:p>
        </p:txBody>
      </p:sp>
      <p:graphicFrame>
        <p:nvGraphicFramePr>
          <p:cNvPr id="9" name=""/>
          <p:cNvGraphicFramePr/>
          <p:nvPr/>
        </p:nvGraphicFramePr>
        <p:xfrm>
          <a:off xmlns:a="http://schemas.openxmlformats.org/drawingml/2006/main" x="609600" y="1809750"/>
          <a:ext xmlns:a="http://schemas.openxmlformats.org/drawingml/2006/main" cx="10972800" cy="3905250"/>
        </p:xfrm>
        <a:graphic xmlns:a="http://schemas.openxmlformats.org/drawingml/2006/main">
          <a:graphicData uri="http://schemas.openxmlformats.org/drawingml/2006/table">
            <a:tbl>
              <a:tblPr/>
              <a:tblGrid>
                <a:gridCol w="5086350"/>
                <a:gridCol w="5886450"/>
              </a:tblGrid>
              <a:tr h="571500">
                <a:tc>
                  <a:txBody>
                    <a:bodyPr/>
                    <a:lstStyle/>
                    <a:p>
                      <a:r>
                        <a:rPr sz="1650" b="1">
                          <a:solidFill>
                            <a:srgbClr val="FFFFFF"/>
                          </a:solidFill>
                          <a:latin typeface="Arial"/>
                          <a:ea typeface="Arial"/>
                          <a:cs typeface="Arial"/>
                        </a:rPr>
                        <a:t>Qué quieres demostrar</a:t>
                      </a:r>
                    </a:p>
                  </a:txBody>
                  <a:tcPr marL="142875" marR="142875" marT="114300" marB="114300" anchor="ctr">
                    <a:solidFill>
                      <a:srgbClr val="112E43"/>
                    </a:solidFill>
                  </a:tcPr>
                </a:tc>
                <a:tc>
                  <a:txBody>
                    <a:bodyPr/>
                    <a:lstStyle/>
                    <a:p>
                      <a:r>
                        <a:rPr sz="1650" b="1">
                          <a:solidFill>
                            <a:srgbClr val="FFFFFF"/>
                          </a:solidFill>
                          <a:latin typeface="Arial"/>
                          <a:ea typeface="Arial"/>
                          <a:cs typeface="Arial"/>
                        </a:rPr>
                        <a:t>Dónde está</a:t>
                      </a:r>
                    </a:p>
                  </a:txBody>
                  <a:tcPr marL="142875" marR="142875" marT="114300" marB="114300" anchor="ctr">
                    <a:solidFill>
                      <a:srgbClr val="112E43"/>
                    </a:solidFill>
                  </a:tcPr>
                </a:tc>
              </a:tr>
              <a:tr h="666750">
                <a:tc>
                  <a:txBody>
                    <a:bodyPr/>
                    <a:lstStyle/>
                    <a:p>
                      <a:r>
                        <a:rPr sz="1800" b="1">
                          <a:solidFill>
                            <a:srgbClr val="17374A"/>
                          </a:solidFill>
                          <a:latin typeface="Arial"/>
                          <a:ea typeface="Arial"/>
                          <a:cs typeface="Arial"/>
                        </a:rPr>
                        <a:t>Relaciones del formulario de oportunidad</a:t>
                      </a:r>
                    </a:p>
                  </a:txBody>
                  <a:tcPr marL="142875" marR="142875" marT="114300" marB="114300" anchor="ctr">
                    <a:solidFill>
                      <a:srgbClr val="F1F5F7"/>
                    </a:solidFill>
                  </a:tcPr>
                </a:tc>
                <a:tc>
                  <a:txBody>
                    <a:bodyPr/>
                    <a:lstStyle/>
                    <a:p>
                      <a:r>
                        <a:rPr sz="1800" b="0">
                          <a:solidFill>
                            <a:srgbClr val="17374A"/>
                          </a:solidFill>
                          <a:latin typeface="Arial"/>
                          <a:ea typeface="Arial"/>
                          <a:cs typeface="Arial"/>
                        </a:rPr>
                        <a:t>src/components/crm/deal-dialog.tsx</a:t>
                      </a:r>
                    </a:p>
                  </a:txBody>
                  <a:tcPr marL="142875" marR="142875" marT="114300" marB="114300" anchor="ctr">
                    <a:solidFill>
                      <a:srgbClr val="F1F5F7"/>
                    </a:solidFill>
                  </a:tcPr>
                </a:tc>
              </a:tr>
              <a:tr h="666750">
                <a:tc>
                  <a:txBody>
                    <a:bodyPr/>
                    <a:lstStyle/>
                    <a:p>
                      <a:r>
                        <a:rPr sz="1800" b="1">
                          <a:solidFill>
                            <a:srgbClr val="17374A"/>
                          </a:solidFill>
                          <a:latin typeface="Arial"/>
                          <a:ea typeface="Arial"/>
                          <a:cs typeface="Arial"/>
                        </a:rPr>
                        <a:t>Movimiento entre etapas del pipeline</a:t>
                      </a:r>
                    </a:p>
                  </a:txBody>
                  <a:tcPr marL="142875" marR="142875" marT="114300" marB="114300" anchor="ctr">
                    <a:solidFill>
                      <a:srgbClr val="E8F5F2"/>
                    </a:solidFill>
                  </a:tcPr>
                </a:tc>
                <a:tc>
                  <a:txBody>
                    <a:bodyPr/>
                    <a:lstStyle/>
                    <a:p>
                      <a:r>
                        <a:rPr sz="1800" b="0">
                          <a:solidFill>
                            <a:srgbClr val="17374A"/>
                          </a:solidFill>
                          <a:latin typeface="Arial"/>
                          <a:ea typeface="Arial"/>
                          <a:cs typeface="Arial"/>
                        </a:rPr>
                        <a:t>src/routes/_authenticated/pipeline.tsx</a:t>
                      </a:r>
                    </a:p>
                  </a:txBody>
                  <a:tcPr marL="142875" marR="142875" marT="114300" marB="114300" anchor="ctr">
                    <a:solidFill>
                      <a:srgbClr val="E8F5F2"/>
                    </a:solidFill>
                  </a:tcPr>
                </a:tc>
              </a:tr>
              <a:tr h="666750">
                <a:tc>
                  <a:txBody>
                    <a:bodyPr/>
                    <a:lstStyle/>
                    <a:p>
                      <a:r>
                        <a:rPr sz="1800" b="1">
                          <a:solidFill>
                            <a:srgbClr val="17374A"/>
                          </a:solidFill>
                          <a:latin typeface="Arial"/>
                          <a:ea typeface="Arial"/>
                          <a:cs typeface="Arial"/>
                        </a:rPr>
                        <a:t>Asignación del propietario y actualización</a:t>
                      </a:r>
                    </a:p>
                  </a:txBody>
                  <a:tcPr marL="142875" marR="142875" marT="114300" marB="114300" anchor="ctr">
                    <a:solidFill>
                      <a:srgbClr val="F1F5F7"/>
                    </a:solidFill>
                  </a:tcPr>
                </a:tc>
                <a:tc>
                  <a:txBody>
                    <a:bodyPr/>
                    <a:lstStyle/>
                    <a:p>
                      <a:r>
                        <a:rPr sz="1800" b="0">
                          <a:solidFill>
                            <a:srgbClr val="17374A"/>
                          </a:solidFill>
                          <a:latin typeface="Arial"/>
                          <a:ea typeface="Arial"/>
                          <a:cs typeface="Arial"/>
                        </a:rPr>
                        <a:t>src/lib/crm.ts</a:t>
                      </a:r>
                    </a:p>
                  </a:txBody>
                  <a:tcPr marL="142875" marR="142875" marT="114300" marB="114300" anchor="ctr">
                    <a:solidFill>
                      <a:srgbClr val="F1F5F7"/>
                    </a:solidFill>
                  </a:tcPr>
                </a:tc>
              </a:tr>
              <a:tr h="666750">
                <a:tc>
                  <a:txBody>
                    <a:bodyPr/>
                    <a:lstStyle/>
                    <a:p>
                      <a:r>
                        <a:rPr sz="1800" b="1">
                          <a:solidFill>
                            <a:srgbClr val="17374A"/>
                          </a:solidFill>
                          <a:latin typeface="Arial"/>
                          <a:ea typeface="Arial"/>
                          <a:cs typeface="Arial"/>
                        </a:rPr>
                        <a:t>Autenticación con correo y contraseña</a:t>
                      </a:r>
                    </a:p>
                  </a:txBody>
                  <a:tcPr marL="142875" marR="142875" marT="114300" marB="114300" anchor="ctr">
                    <a:solidFill>
                      <a:srgbClr val="E8F5F2"/>
                    </a:solidFill>
                  </a:tcPr>
                </a:tc>
                <a:tc>
                  <a:txBody>
                    <a:bodyPr/>
                    <a:lstStyle/>
                    <a:p>
                      <a:r>
                        <a:rPr sz="1800" b="0">
                          <a:solidFill>
                            <a:srgbClr val="17374A"/>
                          </a:solidFill>
                          <a:latin typeface="Arial"/>
                          <a:ea typeface="Arial"/>
                          <a:cs typeface="Arial"/>
                        </a:rPr>
                        <a:t>src/routes/auth.tsx</a:t>
                      </a:r>
                    </a:p>
                  </a:txBody>
                  <a:tcPr marL="142875" marR="142875" marT="114300" marB="114300" anchor="ctr">
                    <a:solidFill>
                      <a:srgbClr val="E8F5F2"/>
                    </a:solidFill>
                  </a:tcPr>
                </a:tc>
              </a:tr>
              <a:tr h="666750">
                <a:tc>
                  <a:txBody>
                    <a:bodyPr/>
                    <a:lstStyle/>
                    <a:p>
                      <a:r>
                        <a:rPr sz="1800" b="1">
                          <a:solidFill>
                            <a:srgbClr val="17374A"/>
                          </a:solidFill>
                          <a:latin typeface="Arial"/>
                          <a:ea typeface="Arial"/>
                          <a:cs typeface="Arial"/>
                        </a:rPr>
                        <a:t>Aislamiento entre dos usuarios</a:t>
                      </a:r>
                    </a:p>
                  </a:txBody>
                  <a:tcPr marL="142875" marR="142875" marT="114300" marB="114300" anchor="ctr">
                    <a:solidFill>
                      <a:srgbClr val="F1F5F7"/>
                    </a:solidFill>
                  </a:tcPr>
                </a:tc>
                <a:tc>
                  <a:txBody>
                    <a:bodyPr/>
                    <a:lstStyle/>
                    <a:p>
                      <a:r>
                        <a:rPr sz="1800" b="0">
                          <a:solidFill>
                            <a:srgbClr val="17374A"/>
                          </a:solidFill>
                          <a:latin typeface="Arial"/>
                          <a:ea typeface="Arial"/>
                          <a:cs typeface="Arial"/>
                        </a:rPr>
                        <a:t>src/integrations/supabase/</a:t>
                      </a:r>
                    </a:p>
                    <a:p>
                      <a:r>
                        <a:rPr sz="1800" b="0">
                          <a:solidFill>
                            <a:srgbClr val="17374A"/>
                          </a:solidFill>
                          <a:latin typeface="Arial"/>
                          <a:ea typeface="Arial"/>
                          <a:cs typeface="Arial"/>
                        </a:rPr>
                        <a:t>rls-isolation.integration.test.ts</a:t>
                      </a:r>
                    </a:p>
                  </a:txBody>
                  <a:tcPr marL="142875" marR="142875" marT="114300" marB="114300" anchor="ctr">
                    <a:solidFill>
                      <a:srgbClr val="F1F5F7"/>
                    </a:solidFill>
                  </a:tcPr>
                </a:tc>
              </a:tr>
            </a:tbl>
          </a:graphicData>
        </a:graphic>
      </p:graphicFrame>
      <p:sp>
        <p:nvSpPr>
          <p:cNvPr id="5" name="">
            <a:extLst xmlns:a="http://schemas.openxmlformats.org/drawingml/2006/main">
              <a:ext uri="{FF2B5EF4-FFF2-40B4-BE49-F238E27FC236}">
                <a16:creationId xmlns:a16="http://schemas.microsoft.com/office/drawing/2014/main" id="{1DEDE0C7-3404-41C6-A6A9-177A87F98D64}"/>
              </a:ext>
            </a:extLst>
          </p:cNvPr>
          <p:cNvSpPr>
            <a:spLocks xmlns:a="http://schemas.openxmlformats.org/drawingml/2006/main" noGrp="1"/>
          </p:cNvSpPr>
          <p:nvPr/>
        </p:nvSpPr>
        <p:spPr>
          <a:xfrm xmlns:a="http://schemas.openxmlformats.org/drawingml/2006/main">
            <a:off x="609600" y="5857875"/>
            <a:ext cx="1095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46E7D"/>
                </a:solidFill>
                <a:latin typeface="Arial"/>
                <a:ea typeface="Arial"/>
                <a:cs typeface="Arial"/>
              </a:defRPr>
            </a:pPr>
            <a:r>
              <a:rPr sz="1800" b="0">
                <a:solidFill>
                  <a:srgbClr val="546E7D"/>
                </a:solidFill>
                <a:latin typeface="Arial"/>
                <a:ea typeface="Arial"/>
                <a:cs typeface="Arial"/>
              </a:rPr>
              <a:t>RLS y roles: migraciones SQL. Cliente privilegiado: client.server.ts, sin consumidores en src.</a:t>
            </a:r>
          </a:p>
        </p:txBody>
      </p:sp>
    </p:spTree>
    <p:extLst>
      <p:ext uri="{BB962C8B-B14F-4D97-AF65-F5344CB8AC3E}">
        <p14:creationId xmlns:p14="http://schemas.microsoft.com/office/powerpoint/2010/main" val="121780317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9A7CBFA-230E-4C6A-A4BC-A66E3FD29152}"/>
              </a:ext>
            </a:extLst>
          </p:cNvPr>
          <p:cNvSpPr>
            <a:spLocks xmlns:a="http://schemas.openxmlformats.org/drawingml/2006/main" noGrp="1"/>
          </p:cNvSpPr>
          <p:nvPr/>
        </p:nvSpPr>
        <p:spPr>
          <a:xfrm xmlns:a="http://schemas.openxmlformats.org/drawingml/2006/main">
            <a:off x="609600" y="304800"/>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87F8C"/>
                </a:solidFill>
                <a:latin typeface="Arial"/>
                <a:ea typeface="Arial"/>
                <a:cs typeface="Arial"/>
              </a:defRPr>
            </a:pPr>
            <a:r>
              <a:rPr sz="1350" b="1">
                <a:solidFill>
                  <a:srgbClr val="087F8C"/>
                </a:solidFill>
                <a:latin typeface="Arial"/>
                <a:ea typeface="Arial"/>
                <a:cs typeface="Arial"/>
              </a:rPr>
              <a:t>APOYO OPCIONAL</a:t>
            </a:r>
          </a:p>
        </p:txBody>
      </p:sp>
      <p:sp>
        <p:nvSpPr>
          <p:cNvPr id="2" name="">
            <a:extLst xmlns:a="http://schemas.openxmlformats.org/drawingml/2006/main">
              <a:ext uri="{FF2B5EF4-FFF2-40B4-BE49-F238E27FC236}">
                <a16:creationId xmlns:a16="http://schemas.microsoft.com/office/drawing/2014/main" id="{9FDF4FA6-F37D-4100-B3F9-A6A40C3C7E66}"/>
              </a:ext>
            </a:extLst>
          </p:cNvPr>
          <p:cNvSpPr>
            <a:spLocks xmlns:a="http://schemas.openxmlformats.org/drawingml/2006/main" noGrp="1"/>
          </p:cNvSpPr>
          <p:nvPr/>
        </p:nvSpPr>
        <p:spPr>
          <a:xfrm xmlns:a="http://schemas.openxmlformats.org/drawingml/2006/main">
            <a:off x="609600" y="752475"/>
            <a:ext cx="109537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12E43"/>
                </a:solidFill>
                <a:latin typeface="Arial"/>
                <a:ea typeface="Arial"/>
                <a:cs typeface="Arial"/>
              </a:defRPr>
            </a:pPr>
            <a:r>
              <a:rPr sz="3300" b="1">
                <a:solidFill>
                  <a:srgbClr val="112E43"/>
                </a:solidFill>
                <a:latin typeface="Arial"/>
                <a:ea typeface="Arial"/>
                <a:cs typeface="Arial"/>
              </a:rPr>
              <a:t>Vocabulario para explicar sin memorizar</a:t>
            </a:r>
          </a:p>
        </p:txBody>
      </p:sp>
      <p:sp>
        <p:nvSpPr>
          <p:cNvPr id="3" name="">
            <a:extLst xmlns:a="http://schemas.openxmlformats.org/drawingml/2006/main">
              <a:ext uri="{FF2B5EF4-FFF2-40B4-BE49-F238E27FC236}">
                <a16:creationId xmlns:a16="http://schemas.microsoft.com/office/drawing/2014/main" id="{FF507C4B-13F4-4F20-BCE8-05CD8D305F82}"/>
              </a:ext>
            </a:extLst>
          </p:cNvPr>
          <p:cNvSpPr>
            <a:spLocks xmlns:a="http://schemas.openxmlformats.org/drawingml/2006/main" noGrp="1"/>
          </p:cNvSpPr>
          <p:nvPr/>
        </p:nvSpPr>
        <p:spPr>
          <a:xfrm xmlns:a="http://schemas.openxmlformats.org/drawingml/2006/main">
            <a:off x="11049000" y="638175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46E7D"/>
                </a:solidFill>
                <a:latin typeface="Arial"/>
                <a:ea typeface="Arial"/>
                <a:cs typeface="Arial"/>
              </a:defRPr>
            </a:pPr>
            <a:r>
              <a:rPr sz="1200" b="0">
                <a:solidFill>
                  <a:srgbClr val="546E7D"/>
                </a:solidFill>
                <a:latin typeface="Arial"/>
                <a:ea typeface="Arial"/>
                <a:cs typeface="Arial"/>
              </a:rPr>
              <a:t>13</a:t>
            </a:r>
          </a:p>
        </p:txBody>
      </p:sp>
      <p:graphicFrame>
        <p:nvGraphicFramePr>
          <p:cNvPr id="8" name=""/>
          <p:cNvGraphicFramePr/>
          <p:nvPr/>
        </p:nvGraphicFramePr>
        <p:xfrm>
          <a:off xmlns:a="http://schemas.openxmlformats.org/drawingml/2006/main" x="609600" y="1847850"/>
          <a:ext xmlns:a="http://schemas.openxmlformats.org/drawingml/2006/main" cx="10972800" cy="4095750"/>
        </p:xfrm>
        <a:graphic xmlns:a="http://schemas.openxmlformats.org/drawingml/2006/main">
          <a:graphicData uri="http://schemas.openxmlformats.org/drawingml/2006/table">
            <a:tbl>
              <a:tblPr/>
              <a:tblGrid>
                <a:gridCol w="2781300"/>
                <a:gridCol w="8191500"/>
              </a:tblGrid>
              <a:tr h="571500">
                <a:tc>
                  <a:txBody>
                    <a:bodyPr/>
                    <a:lstStyle/>
                    <a:p>
                      <a:r>
                        <a:rPr sz="1650" b="1">
                          <a:solidFill>
                            <a:srgbClr val="FFFFFF"/>
                          </a:solidFill>
                          <a:latin typeface="Arial"/>
                          <a:ea typeface="Arial"/>
                          <a:cs typeface="Arial"/>
                        </a:rPr>
                        <a:t>Término</a:t>
                      </a:r>
                    </a:p>
                  </a:txBody>
                  <a:tcPr marL="142875" marR="142875" marT="114300" marB="114300" anchor="ctr">
                    <a:solidFill>
                      <a:srgbClr val="112E43"/>
                    </a:solidFill>
                  </a:tcPr>
                </a:tc>
                <a:tc>
                  <a:txBody>
                    <a:bodyPr/>
                    <a:lstStyle/>
                    <a:p>
                      <a:r>
                        <a:rPr sz="1650" b="1">
                          <a:solidFill>
                            <a:srgbClr val="FFFFFF"/>
                          </a:solidFill>
                          <a:latin typeface="Arial"/>
                          <a:ea typeface="Arial"/>
                          <a:cs typeface="Arial"/>
                        </a:rPr>
                        <a:t>Cómo decirlo con tus palabras</a:t>
                      </a:r>
                    </a:p>
                  </a:txBody>
                  <a:tcPr marL="142875" marR="142875" marT="114300" marB="114300" anchor="ctr">
                    <a:solidFill>
                      <a:srgbClr val="112E43"/>
                    </a:solidFill>
                  </a:tcPr>
                </a:tc>
              </a:tr>
              <a:tr h="587375">
                <a:tc>
                  <a:txBody>
                    <a:bodyPr/>
                    <a:lstStyle/>
                    <a:p>
                      <a:r>
                        <a:rPr sz="1875" b="1">
                          <a:solidFill>
                            <a:srgbClr val="17374A"/>
                          </a:solidFill>
                          <a:latin typeface="Arial"/>
                          <a:ea typeface="Arial"/>
                          <a:cs typeface="Arial"/>
                        </a:rPr>
                        <a:t>CRM B2B</a:t>
                      </a:r>
                    </a:p>
                  </a:txBody>
                  <a:tcPr marL="142875" marR="142875" marT="114300" marB="114300" anchor="ctr">
                    <a:solidFill>
                      <a:srgbClr val="F1F5F7"/>
                    </a:solidFill>
                  </a:tcPr>
                </a:tc>
                <a:tc>
                  <a:txBody>
                    <a:bodyPr/>
                    <a:lstStyle/>
                    <a:p>
                      <a:r>
                        <a:rPr sz="1875" b="0">
                          <a:solidFill>
                            <a:srgbClr val="17374A"/>
                          </a:solidFill>
                          <a:latin typeface="Arial"/>
                          <a:ea typeface="Arial"/>
                          <a:cs typeface="Arial"/>
                        </a:rPr>
                        <a:t>Sistema para gestionar relaciones comerciales entre empresas.</a:t>
                      </a:r>
                    </a:p>
                  </a:txBody>
                  <a:tcPr marL="142875" marR="142875" marT="114300" marB="114300" anchor="ctr">
                    <a:solidFill>
                      <a:srgbClr val="F1F5F7"/>
                    </a:solidFill>
                  </a:tcPr>
                </a:tc>
              </a:tr>
              <a:tr h="587375">
                <a:tc>
                  <a:txBody>
                    <a:bodyPr/>
                    <a:lstStyle/>
                    <a:p>
                      <a:r>
                        <a:rPr sz="1875" b="1">
                          <a:solidFill>
                            <a:srgbClr val="17374A"/>
                          </a:solidFill>
                          <a:latin typeface="Arial"/>
                          <a:ea typeface="Arial"/>
                          <a:cs typeface="Arial"/>
                        </a:rPr>
                        <a:t>Pipeline</a:t>
                      </a:r>
                    </a:p>
                  </a:txBody>
                  <a:tcPr marL="142875" marR="142875" marT="114300" marB="114300" anchor="ctr">
                    <a:solidFill>
                      <a:srgbClr val="E8F5F2"/>
                    </a:solidFill>
                  </a:tcPr>
                </a:tc>
                <a:tc>
                  <a:txBody>
                    <a:bodyPr/>
                    <a:lstStyle/>
                    <a:p>
                      <a:r>
                        <a:rPr sz="1875" b="0">
                          <a:solidFill>
                            <a:srgbClr val="17374A"/>
                          </a:solidFill>
                          <a:latin typeface="Arial"/>
                          <a:ea typeface="Arial"/>
                          <a:cs typeface="Arial"/>
                        </a:rPr>
                        <a:t>Etapas por las que avanza una oportunidad de venta.</a:t>
                      </a:r>
                    </a:p>
                  </a:txBody>
                  <a:tcPr marL="142875" marR="142875" marT="114300" marB="114300" anchor="ctr">
                    <a:solidFill>
                      <a:srgbClr val="E8F5F2"/>
                    </a:solidFill>
                  </a:tcPr>
                </a:tc>
              </a:tr>
              <a:tr h="587375">
                <a:tc>
                  <a:txBody>
                    <a:bodyPr/>
                    <a:lstStyle/>
                    <a:p>
                      <a:r>
                        <a:rPr sz="1875" b="1">
                          <a:solidFill>
                            <a:srgbClr val="17374A"/>
                          </a:solidFill>
                          <a:latin typeface="Arial"/>
                          <a:ea typeface="Arial"/>
                          <a:cs typeface="Arial"/>
                        </a:rPr>
                        <a:t>Contenedor C4</a:t>
                      </a:r>
                    </a:p>
                  </a:txBody>
                  <a:tcPr marL="142875" marR="142875" marT="114300" marB="114300" anchor="ctr">
                    <a:solidFill>
                      <a:srgbClr val="F1F5F7"/>
                    </a:solidFill>
                  </a:tcPr>
                </a:tc>
                <a:tc>
                  <a:txBody>
                    <a:bodyPr/>
                    <a:lstStyle/>
                    <a:p>
                      <a:r>
                        <a:rPr sz="1875" b="0">
                          <a:solidFill>
                            <a:srgbClr val="17374A"/>
                          </a:solidFill>
                          <a:latin typeface="Arial"/>
                          <a:ea typeface="Arial"/>
                          <a:cs typeface="Arial"/>
                        </a:rPr>
                        <a:t>Aplicación o almacén de datos en ejecución. No exige Docker.</a:t>
                      </a:r>
                    </a:p>
                  </a:txBody>
                  <a:tcPr marL="142875" marR="142875" marT="114300" marB="114300" anchor="ctr">
                    <a:solidFill>
                      <a:srgbClr val="F1F5F7"/>
                    </a:solidFill>
                  </a:tcPr>
                </a:tc>
              </a:tr>
              <a:tr h="587375">
                <a:tc>
                  <a:txBody>
                    <a:bodyPr/>
                    <a:lstStyle/>
                    <a:p>
                      <a:r>
                        <a:rPr sz="1875" b="1">
                          <a:solidFill>
                            <a:srgbClr val="17374A"/>
                          </a:solidFill>
                          <a:latin typeface="Arial"/>
                          <a:ea typeface="Arial"/>
                          <a:cs typeface="Arial"/>
                        </a:rPr>
                        <a:t>ADR</a:t>
                      </a:r>
                    </a:p>
                  </a:txBody>
                  <a:tcPr marL="142875" marR="142875" marT="114300" marB="114300" anchor="ctr">
                    <a:solidFill>
                      <a:srgbClr val="E8F5F2"/>
                    </a:solidFill>
                  </a:tcPr>
                </a:tc>
                <a:tc>
                  <a:txBody>
                    <a:bodyPr/>
                    <a:lstStyle/>
                    <a:p>
                      <a:r>
                        <a:rPr sz="1875" b="0">
                          <a:solidFill>
                            <a:srgbClr val="17374A"/>
                          </a:solidFill>
                          <a:latin typeface="Arial"/>
                          <a:ea typeface="Arial"/>
                          <a:cs typeface="Arial"/>
                        </a:rPr>
                        <a:t>Registro de una decisión, su contexto y sus consecuencias.</a:t>
                      </a:r>
                    </a:p>
                  </a:txBody>
                  <a:tcPr marL="142875" marR="142875" marT="114300" marB="114300" anchor="ctr">
                    <a:solidFill>
                      <a:srgbClr val="E8F5F2"/>
                    </a:solidFill>
                  </a:tcPr>
                </a:tc>
              </a:tr>
              <a:tr h="587375">
                <a:tc>
                  <a:txBody>
                    <a:bodyPr/>
                    <a:lstStyle/>
                    <a:p>
                      <a:r>
                        <a:rPr sz="1875" b="1">
                          <a:solidFill>
                            <a:srgbClr val="17374A"/>
                          </a:solidFill>
                          <a:latin typeface="Arial"/>
                          <a:ea typeface="Arial"/>
                          <a:cs typeface="Arial"/>
                        </a:rPr>
                        <a:t>Trade-off</a:t>
                      </a:r>
                    </a:p>
                  </a:txBody>
                  <a:tcPr marL="142875" marR="142875" marT="114300" marB="114300" anchor="ctr">
                    <a:solidFill>
                      <a:srgbClr val="F1F5F7"/>
                    </a:solidFill>
                  </a:tcPr>
                </a:tc>
                <a:tc>
                  <a:txBody>
                    <a:bodyPr/>
                    <a:lstStyle/>
                    <a:p>
                      <a:r>
                        <a:rPr sz="1875" b="0">
                          <a:solidFill>
                            <a:srgbClr val="17374A"/>
                          </a:solidFill>
                          <a:latin typeface="Arial"/>
                          <a:ea typeface="Arial"/>
                          <a:cs typeface="Arial"/>
                        </a:rPr>
                        <a:t>Beneficio que aceptamos junto con un costo o riesgo.</a:t>
                      </a:r>
                    </a:p>
                  </a:txBody>
                  <a:tcPr marL="142875" marR="142875" marT="114300" marB="114300" anchor="ctr">
                    <a:solidFill>
                      <a:srgbClr val="F1F5F7"/>
                    </a:solidFill>
                  </a:tcPr>
                </a:tc>
              </a:tr>
              <a:tr h="587375">
                <a:tc>
                  <a:txBody>
                    <a:bodyPr/>
                    <a:lstStyle/>
                    <a:p>
                      <a:r>
                        <a:rPr sz="1875" b="1">
                          <a:solidFill>
                            <a:srgbClr val="17374A"/>
                          </a:solidFill>
                          <a:latin typeface="Arial"/>
                          <a:ea typeface="Arial"/>
                          <a:cs typeface="Arial"/>
                        </a:rPr>
                        <a:t>RLS</a:t>
                      </a:r>
                    </a:p>
                  </a:txBody>
                  <a:tcPr marL="142875" marR="142875" marT="114300" marB="114300" anchor="ctr">
                    <a:solidFill>
                      <a:srgbClr val="E8F5F2"/>
                    </a:solidFill>
                  </a:tcPr>
                </a:tc>
                <a:tc>
                  <a:txBody>
                    <a:bodyPr/>
                    <a:lstStyle/>
                    <a:p>
                      <a:r>
                        <a:rPr sz="1875" b="0">
                          <a:solidFill>
                            <a:srgbClr val="17374A"/>
                          </a:solidFill>
                          <a:latin typeface="Arial"/>
                          <a:ea typeface="Arial"/>
                          <a:cs typeface="Arial"/>
                        </a:rPr>
                        <a:t>Reglas de PostgreSQL que controlan el acceso a filas.</a:t>
                      </a:r>
                    </a:p>
                  </a:txBody>
                  <a:tcPr marL="142875" marR="142875" marT="114300" marB="114300" anchor="ctr">
                    <a:solidFill>
                      <a:srgbClr val="E8F5F2"/>
                    </a:solidFill>
                  </a:tcPr>
                </a:tc>
              </a:tr>
            </a:tbl>
          </a:graphicData>
        </a:graphic>
      </p:graphicFrame>
    </p:spTree>
    <p:extLst>
      <p:ext uri="{BB962C8B-B14F-4D97-AF65-F5344CB8AC3E}">
        <p14:creationId xmlns:p14="http://schemas.microsoft.com/office/powerpoint/2010/main" val="143902908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2026-09-19T00:45:29.2190000Z</dcterms:created>
  <dcterms:modified xsi:type="dcterms:W3CDTF">2026-09-19T00:45:29.2190000Z</dcterms:modified>
</coreProperties>
</file>