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4d3c9d1e7c4e16" /><Relationship Type="http://schemas.openxmlformats.org/officeDocument/2006/relationships/extended-properties" Target="/docProps/app.xml" Id="R3afdbc933f594faf" /><Relationship Type="http://schemas.openxmlformats.org/officeDocument/2006/relationships/officeDocument" Target="/ppt/presentation.xml" Id="Rf4cbf183dadb4274" /></Relationships>
</file>

<file path=ppt/presentation.xml><?xml version="1.0" encoding="utf-8"?>
<p:presentation xmlns:p="http://schemas.openxmlformats.org/presentationml/2006/main">
  <p:sldMasterIdLst>
    <p:sldMasterId xmlns:r="http://schemas.openxmlformats.org/officeDocument/2006/relationships" id="2147483648" r:id="Re9673eb3cb85472d"/>
  </p:sldMasterIdLst>
  <p:notesMasterIdLst>
    <p:notesMasterId xmlns:r="http://schemas.openxmlformats.org/officeDocument/2006/relationships" r:id="Re36f16a73b584abc"/>
  </p:notesMasterIdLst>
  <p:sldIdLst>
    <p:sldId xmlns:r="http://schemas.openxmlformats.org/officeDocument/2006/relationships" id="256" r:id="R3c4bf491915140b5"/>
    <p:sldId xmlns:r="http://schemas.openxmlformats.org/officeDocument/2006/relationships" id="257" r:id="R404824fee59e49c9"/>
    <p:sldId xmlns:r="http://schemas.openxmlformats.org/officeDocument/2006/relationships" id="258" r:id="Ra3a8184bc59544d1"/>
    <p:sldId xmlns:r="http://schemas.openxmlformats.org/officeDocument/2006/relationships" id="259" r:id="Rcdfa267f868d411e"/>
    <p:sldId xmlns:r="http://schemas.openxmlformats.org/officeDocument/2006/relationships" id="260" r:id="Rd4a5e931d02042bf"/>
    <p:sldId xmlns:r="http://schemas.openxmlformats.org/officeDocument/2006/relationships" id="261" r:id="R757355ae4df848d1"/>
    <p:sldId xmlns:r="http://schemas.openxmlformats.org/officeDocument/2006/relationships" id="262" r:id="Recc8e842d2d54d7e"/>
    <p:sldId xmlns:r="http://schemas.openxmlformats.org/officeDocument/2006/relationships" id="263" r:id="Ra0f1f125ea3a495c"/>
    <p:sldId xmlns:r="http://schemas.openxmlformats.org/officeDocument/2006/relationships" id="264" r:id="Rf392142ab54a4a50"/>
    <p:sldId xmlns:r="http://schemas.openxmlformats.org/officeDocument/2006/relationships" id="265" r:id="R5d9273b3b34e47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1bfc21f8c44246" /><Relationship Type="http://schemas.openxmlformats.org/officeDocument/2006/relationships/slideMaster" Target="/ppt/slideMasters/slideMaster1.xml" Id="Re9673eb3cb85472d" /><Relationship Type="http://schemas.openxmlformats.org/officeDocument/2006/relationships/notesMaster" Target="/ppt/notesMasters/notesMaster1.xml" Id="Re36f16a73b584abc" /><Relationship Type="http://schemas.openxmlformats.org/officeDocument/2006/relationships/presProps" Target="/ppt/presProps.xml" Id="R7de5ef77871946cb" /><Relationship Type="http://schemas.openxmlformats.org/officeDocument/2006/relationships/tableStyles" Target="/ppt/tableStyles.xml" Id="R4804b0ea348d4165" /><Relationship Type="http://schemas.openxmlformats.org/officeDocument/2006/relationships/slide" Target="/ppt/slides/slide1.xml" Id="R3c4bf491915140b5" /><Relationship Type="http://schemas.openxmlformats.org/officeDocument/2006/relationships/slide" Target="/ppt/slides/slide2.xml" Id="R404824fee59e49c9" /><Relationship Type="http://schemas.openxmlformats.org/officeDocument/2006/relationships/slide" Target="/ppt/slides/slide3.xml" Id="Ra3a8184bc59544d1" /><Relationship Type="http://schemas.openxmlformats.org/officeDocument/2006/relationships/slide" Target="/ppt/slides/slide4.xml" Id="Rcdfa267f868d411e" /><Relationship Type="http://schemas.openxmlformats.org/officeDocument/2006/relationships/slide" Target="/ppt/slides/slide5.xml" Id="Rd4a5e931d02042bf" /><Relationship Type="http://schemas.openxmlformats.org/officeDocument/2006/relationships/slide" Target="/ppt/slides/slide6.xml" Id="R757355ae4df848d1" /><Relationship Type="http://schemas.openxmlformats.org/officeDocument/2006/relationships/slide" Target="/ppt/slides/slide7.xml" Id="Recc8e842d2d54d7e" /><Relationship Type="http://schemas.openxmlformats.org/officeDocument/2006/relationships/slide" Target="/ppt/slides/slide8.xml" Id="Ra0f1f125ea3a495c" /><Relationship Type="http://schemas.openxmlformats.org/officeDocument/2006/relationships/slide" Target="/ppt/slides/slide9.xml" Id="Rf392142ab54a4a50" /><Relationship Type="http://schemas.openxmlformats.org/officeDocument/2006/relationships/slide" Target="/ppt/slides/slide10.xml" Id="R5d9273b3b34e47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cfef0eb15544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415e3c36f741db" /><Relationship Type="http://schemas.openxmlformats.org/officeDocument/2006/relationships/notesMaster" Target="/ppt/notesMasters/notesMaster1.xml" Id="R172c9f178cbc4d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9b45cfadce4390" /><Relationship Type="http://schemas.openxmlformats.org/officeDocument/2006/relationships/notesMaster" Target="/ppt/notesMasters/notesMaster1.xml" Id="R465540f7751446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1c0f541aad4d29" /><Relationship Type="http://schemas.openxmlformats.org/officeDocument/2006/relationships/notesMaster" Target="/ppt/notesMasters/notesMaster1.xml" Id="R7c6b77e6a7dd4a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882f7ad08c47c9" /><Relationship Type="http://schemas.openxmlformats.org/officeDocument/2006/relationships/notesMaster" Target="/ppt/notesMasters/notesMaster1.xml" Id="R41595c42dfa14b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e760be0145471a" /><Relationship Type="http://schemas.openxmlformats.org/officeDocument/2006/relationships/notesMaster" Target="/ppt/notesMasters/notesMaster1.xml" Id="Rea8d07a0230f47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11f9220f9847d4" /><Relationship Type="http://schemas.openxmlformats.org/officeDocument/2006/relationships/notesMaster" Target="/ppt/notesMasters/notesMaster1.xml" Id="R547146adc0f546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cfeef56d7a4e03" /><Relationship Type="http://schemas.openxmlformats.org/officeDocument/2006/relationships/notesMaster" Target="/ppt/notesMasters/notesMaster1.xml" Id="R3c777d2bdbd54f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69e4ac1f444027" /><Relationship Type="http://schemas.openxmlformats.org/officeDocument/2006/relationships/notesMaster" Target="/ppt/notesMasters/notesMaster1.xml" Id="Ref43b41cd88644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80116e56194548" /><Relationship Type="http://schemas.openxmlformats.org/officeDocument/2006/relationships/notesMaster" Target="/ppt/notesMasters/notesMaster1.xml" Id="Rf75fb439123b4a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1aa7a56ce34174" /><Relationship Type="http://schemas.openxmlformats.org/officeDocument/2006/relationships/notesMaster" Target="/ppt/notesMasters/notesMaster1.xml" Id="Rca6940f4028a4e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1 minuto</a:t>
            </a:r>
          </a:p>
          <a:p xmlns:a="http://schemas.openxmlformats.org/drawingml/2006/main">
            <a:r>
              <a:t/>
            </a:r>
          </a:p>
          <a:p xmlns:a="http://schemas.openxmlformats.org/drawingml/2006/main">
            <a:r>
              <a:t>GUION ORAL</a:t>
            </a:r>
          </a:p>
          <a:p xmlns:a="http://schemas.openxmlformats.org/drawingml/2006/main">
            <a:r>
              <a:t>Buenos días. Nuestro proyecto se llama Nexo CRM. Es una aplicación B2B que centraliza la gestión comercial de una organización. Permite administrar empresas, contactos, oportunidades de venta y actividades de seguimiento, como llamadas, reuniones, correos y tareas. El problema que buscamos resolver es la dispersión de la información. Cuando los contactos, las negociaciones y sus seguimientos están separados, resulta difícil conocer el estado de cada oportunidad y decidir cuál debe ser la siguiente acción comercial.</a:t>
            </a:r>
          </a:p>
          <a:p xmlns:a="http://schemas.openxmlformats.org/drawingml/2006/main">
            <a:r>
              <a:t/>
            </a:r>
          </a:p>
          <a:p xmlns:a="http://schemas.openxmlformats.org/drawingml/2006/main">
            <a:r>
              <a:t>INDICACIONES PARA CARLOS</a:t>
            </a:r>
          </a:p>
          <a:p xmlns:a="http://schemas.openxmlformats.org/drawingml/2006/main">
            <a:r>
              <a:t>Mientras hablas, muestra rápidamente Empresas, Contactos, Pipeline y Actividades. No te detengas a explicar cada botón. El tiempo debe incluir ese recorrido.</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50 segundos</a:t>
            </a:r>
          </a:p>
          <a:p xmlns:a="http://schemas.openxmlformats.org/drawingml/2006/main">
            <a:r>
              <a:t/>
            </a:r>
          </a:p>
          <a:p xmlns:a="http://schemas.openxmlformats.org/drawingml/2006/main">
            <a:r>
              <a:t>GUION ORAL</a:t>
            </a:r>
          </a:p>
          <a:p xmlns:a="http://schemas.openxmlformats.org/drawingml/2006/main">
            <a:r>
              <a:t>En el primer nivel de C4 mostramos el sistema desde afuera. Nexo CRM es utilizado por tres tipos de usuarios. El vendedor administra la información comercial; el gerente consulta el pipeline, los indicadores y los reportes; y el administrador gestiona usuarios, roles, pipelines y etapas. El sistema depende de Supabase para autenticación, almacenamiento en PostgreSQL y políticas de seguridad RLS. La aplicación actualmente está desplegada en Vercel.</a:t>
            </a:r>
          </a:p>
          <a:p xmlns:a="http://schemas.openxmlformats.org/drawingml/2006/main">
            <a:r>
              <a:t/>
            </a:r>
          </a:p>
          <a:p xmlns:a="http://schemas.openxmlformats.org/drawingml/2006/main">
            <a:r>
              <a:t>INDICACIONES PARA CARLOS</a:t>
            </a:r>
          </a:p>
          <a:p xmlns:a="http://schemas.openxmlformats.org/drawingml/2006/main">
            <a:r>
              <a:t>Señala primero las personas, después Nexo CRM y finalmente los sistemas externos. En una demostración, la pantalla actual de configuración permite consultar usuarios y etapas.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https://github.com/Felipe7774/NEXUS/blob/b46acb2/dossier/modeloc4-nivel.md</a:t>
            </a:r>
          </a:p>
          <a:p xmlns:a="http://schemas.openxmlformats.org/drawingml/2006/main">
            <a:r>
              <a:t>https://github.com/Felipe7774/NEXUS/blob/b46acb2/dossier/15-evidencia-ejecutable-consolidada.md</a:t>
            </a:r>
          </a:p>
          <a:p xmlns:a="http://schemas.openxmlformats.org/drawingml/2006/main">
            <a:r>
              <a:t>https://github.com/Felipe7774/NEXUS/blob/b46acb2/src/routes/_authenticated/settings.tsx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1 minuto</a:t>
            </a:r>
          </a:p>
          <a:p xmlns:a="http://schemas.openxmlformats.org/drawingml/2006/main">
            <a:r>
              <a:t/>
            </a:r>
          </a:p>
          <a:p xmlns:a="http://schemas.openxmlformats.org/drawingml/2006/main">
            <a:r>
              <a:t>GUION ORAL</a:t>
            </a:r>
          </a:p>
          <a:p xmlns:a="http://schemas.openxmlformats.org/drawingml/2006/main">
            <a:r>
              <a:t>En el segundo nivel mostramos las unidades principales de ejecución. La primera es la aplicación web, construida con React, TypeScript, TanStack Start, Vite y Nitro. Esta contiene la interfaz, la navegación y las capacidades de servidor. La segunda es el proyecto Supabase, que proporciona autenticación, PostgreSQL y políticas RLS. Una precisión importante es que no tenemos un backend Node independiente. La lógica de servidor de TanStack Start viaja dentro de la misma aplicación web, mientras que Supabase proporciona los servicios administrados de autenticación y persistencia.</a:t>
            </a:r>
          </a:p>
          <a:p xmlns:a="http://schemas.openxmlformats.org/drawingml/2006/main">
            <a:r>
              <a:t/>
            </a:r>
          </a:p>
          <a:p xmlns:a="http://schemas.openxmlformats.org/drawingml/2006/main">
            <a:r>
              <a:t>INDICACIONES PARA CARLOS</a:t>
            </a:r>
          </a:p>
          <a:p xmlns:a="http://schemas.openxmlformats.org/drawingml/2006/main">
            <a:r>
              <a:t>Si preguntan cuántos despliegues tienen: tenemos una aplicación propia desplegable y un proyecto Supabase administrado por el proveedor. No mantenemos un tercer backend independiente. RLS es una capacidad de PostgreSQL.</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https://github.com/Felipe7774/NEXUS/blob/b46acb2/dossier/modeloc4-nivel.md</a:t>
            </a:r>
          </a:p>
          <a:p xmlns:a="http://schemas.openxmlformats.org/drawingml/2006/main">
            <a:r>
              <a:t>https://github.com/Felipe7774/NEXUS/blob/b46acb2/dossier/adrs/ADR-004-arquitectura-monolitica.md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35 segundos</a:t>
            </a:r>
          </a:p>
          <a:p xmlns:a="http://schemas.openxmlformats.org/drawingml/2006/main">
            <a:r>
              <a:t/>
            </a:r>
          </a:p>
          <a:p xmlns:a="http://schemas.openxmlformats.org/drawingml/2006/main">
            <a:r>
              <a:t>GUION ORAL</a:t>
            </a:r>
          </a:p>
          <a:p xmlns:a="http://schemas.openxmlformats.org/drawingml/2006/main">
            <a:r>
              <a:t>En el tercer nivel mostramos la organización interna. En la aplicación encontramos los componentes de autenticación, empresas y contactos, pipeline, actividades, dashboard y reportes, configuración administrativa, acceso a datos y procesamiento de servidor. Del lado de Supabase tenemos autenticación, base de datos y políticas RLS. Las migraciones versionadas permiten reconstruir el esquema.</a:t>
            </a:r>
          </a:p>
          <a:p xmlns:a="http://schemas.openxmlformats.org/drawingml/2006/main">
            <a:r>
              <a:t/>
            </a:r>
          </a:p>
          <a:p xmlns:a="http://schemas.openxmlformats.org/drawingml/2006/main">
            <a:r>
              <a:t>INDICACIONES PARA CARLOS</a:t>
            </a:r>
          </a:p>
          <a:p xmlns:a="http://schemas.openxmlformats.org/drawingml/2006/main">
            <a:r>
              <a:t>Esta diapositiva y la siguiente corresponden al minuto asignado a Nivel 3. No leer nombres de archivos todavía: explicar primero las responsabilidades.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https://github.com/Felipe7774/NEXUS/blob/b46acb2/dossier/modeloc4-nivel.md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25 segundos</a:t>
            </a:r>
          </a:p>
          <a:p xmlns:a="http://schemas.openxmlformats.org/drawingml/2006/main">
            <a:r>
              <a:t/>
            </a:r>
          </a:p>
          <a:p xmlns:a="http://schemas.openxmlformats.org/drawingml/2006/main">
            <a:r>
              <a:t>GUION ORAL</a:t>
            </a:r>
          </a:p>
          <a:p xmlns:a="http://schemas.openxmlformats.org/drawingml/2006/main">
            <a:r>
              <a:t>Las pantallas están en routes y components; las operaciones del CRM están centralizadas en src/lib/crm.ts; y la integración con Supabase se encuentra en src/integrations/supabase. Existe un cliente administrativo en client.server.ts que utiliza service_role y puede evitar RLS. Actualmente no tiene consumidores dentro de src, pero se representa porque es código desplegado y constituye un riesgo de seguridad.</a:t>
            </a:r>
          </a:p>
          <a:p xmlns:a="http://schemas.openxmlformats.org/drawingml/2006/main">
            <a:r>
              <a:t/>
            </a:r>
          </a:p>
          <a:p xmlns:a="http://schemas.openxmlformats.org/drawingml/2006/main">
            <a:r>
              <a:t>INDICACIONES PARA CARLOS</a:t>
            </a:r>
          </a:p>
          <a:p xmlns:a="http://schemas.openxmlformats.org/drawingml/2006/main">
            <a:r>
              <a:t>No memorices todos los archivos. Recuerda: routes y components son presentación; lib/crm.ts contiene operaciones; integrations/supabase contiene integración; supabase/migrations contiene persistencia y RLS. El texto original advertía que este cliente faltaba en el diagrama local. Esta diapositiva ya lo menciona. Si preguntan, explica que está aislado y no es usado actualmente según la revisión documentada.</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https://github.com/Felipe7774/NEXUS/blob/b46acb2/dossier/modeloc4-nivel.md</a:t>
            </a:r>
          </a:p>
          <a:p xmlns:a="http://schemas.openxmlformats.org/drawingml/2006/main">
            <a:r>
              <a:t>https://github.com/Felipe7774/NEXUS/blob/b46acb2/src/integrations/supabase/client.server.ts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30 segundos</a:t>
            </a:r>
          </a:p>
          <a:p xmlns:a="http://schemas.openxmlformats.org/drawingml/2006/main">
            <a:r>
              <a:t/>
            </a:r>
          </a:p>
          <a:p xmlns:a="http://schemas.openxmlformats.org/drawingml/2006/main">
            <a:r>
              <a:t>GUION ORAL</a:t>
            </a:r>
          </a:p>
          <a:p xmlns:a="http://schemas.openxmlformats.org/drawingml/2006/main">
            <a:r>
              <a:t>La primera decisión fue mantener una arquitectura en capas. Separamos presentación, operaciones del CRM, integración con Supabase y persistencia versionada. Esto facilita localizar responsabilidades y comprender los cambios. Sin embargo, requiere disciplina para evitar que las capas se mezclen.</a:t>
            </a:r>
          </a:p>
          <a:p xmlns:a="http://schemas.openxmlformats.org/drawingml/2006/main">
            <a:r>
              <a:t/>
            </a:r>
          </a:p>
          <a:p xmlns:a="http://schemas.openxmlformats.org/drawingml/2006/main">
            <a:r>
              <a:t>INDICACIONES PARA CARLOS</a:t>
            </a:r>
          </a:p>
          <a:p xmlns:a="http://schemas.openxmlformats.org/drawingml/2006/main">
            <a:r>
              <a:t>Explicar la decisión, el beneficio y el compromiso. Las cuatro diapositivas ADR suman dos minutos.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https://github.com/Felipe7774/NEXUS/blob/b46acb2/dossier/adrs/ADR-001-estilo-en-capas.md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30 segundos</a:t>
            </a:r>
          </a:p>
          <a:p xmlns:a="http://schemas.openxmlformats.org/drawingml/2006/main">
            <a:r>
              <a:t/>
            </a:r>
          </a:p>
          <a:p xmlns:a="http://schemas.openxmlformats.org/drawingml/2006/main">
            <a:r>
              <a:t>GUION ORAL</a:t>
            </a:r>
          </a:p>
          <a:p xmlns:a="http://schemas.openxmlformats.org/drawingml/2006/main">
            <a:r>
              <a:t>La segunda decisión fue utilizar Supabase para autenticación y persistencia. Esto redujo el trabajo de infraestructura y evitó construir autenticación y una API de datos desde cero. El sacrificio es la dependencia del proveedor, de sus límites y de la configuración de su cuenta.</a:t>
            </a:r>
          </a:p>
          <a:p xmlns:a="http://schemas.openxmlformats.org/drawingml/2006/main">
            <a:r>
              <a:t/>
            </a:r>
          </a:p>
          <a:p xmlns:a="http://schemas.openxmlformats.org/drawingml/2006/main">
            <a:r>
              <a:t>INDICACIONES PARA CARLOS</a:t>
            </a:r>
          </a:p>
          <a:p xmlns:a="http://schemas.openxmlformats.org/drawingml/2006/main">
            <a:r>
              <a:t>Explicar la decisión, el beneficio y el compromiso. Las cuatro diapositivas ADR suman dos minutos.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https://github.com/Felipe7774/NEXUS/blob/b46acb2/dossier/adrs/ADR-002-supabase-autenticacion-y-persistencia.md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30 segundos</a:t>
            </a:r>
          </a:p>
          <a:p xmlns:a="http://schemas.openxmlformats.org/drawingml/2006/main">
            <a:r>
              <a:t/>
            </a:r>
          </a:p>
          <a:p xmlns:a="http://schemas.openxmlformats.org/drawingml/2006/main">
            <a:r>
              <a:t>GUION ORAL</a:t>
            </a:r>
          </a:p>
          <a:p xmlns:a="http://schemas.openxmlformats.org/drawingml/2006/main">
            <a:r>
              <a:t>La tercera decisión fue aplicar Row Level Security en PostgreSQL. RLS hace que el control de acceso se aplique en la base de datos y no dependa solamente de esconder opciones en la interfaz. Existe una prueba que verifica el aislamiento entre dos usuarios. Sin embargo, ese caso no equivale a una auditoría completa de todas las políticas.</a:t>
            </a:r>
          </a:p>
          <a:p xmlns:a="http://schemas.openxmlformats.org/drawingml/2006/main">
            <a:r>
              <a:t/>
            </a:r>
          </a:p>
          <a:p xmlns:a="http://schemas.openxmlformats.org/drawingml/2006/main">
            <a:r>
              <a:t>INDICACIONES PARA CARLOS</a:t>
            </a:r>
          </a:p>
          <a:p xmlns:a="http://schemas.openxmlformats.org/drawingml/2006/main">
            <a:r>
              <a:t>Explicar la decisión, el beneficio y el compromiso. Las cuatro diapositivas ADR suman dos minutos.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https://github.com/Felipe7774/NEXUS/blob/b46acb2/dossier/adrs/ADR-003-aislamiento-de-datos-con-rls.md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30 segundos</a:t>
            </a:r>
          </a:p>
          <a:p xmlns:a="http://schemas.openxmlformats.org/drawingml/2006/main">
            <a:r>
              <a:t/>
            </a:r>
          </a:p>
          <a:p xmlns:a="http://schemas.openxmlformats.org/drawingml/2006/main">
            <a:r>
              <a:t>GUION ORAL</a:t>
            </a:r>
          </a:p>
          <a:p xmlns:a="http://schemas.openxmlformats.org/drawingml/2006/main">
            <a:r>
              <a:t>La cuarta decisión fue mantener una aplicación monolítica. Para un equipo de tres integrantes, una sola aplicación reduce la complejidad de desarrollo, despliegue y operación. No adoptamos microservicios porque no tenemos evidencia de una necesidad que justifique su costo adicional. Arquitectura en capas y arquitectura monolítica no se contradicen. Las capas describen cómo organizamos internamente el código; el monolito describe cómo agrupamos y desplegamos nuestra aplicación.</a:t>
            </a:r>
          </a:p>
          <a:p xmlns:a="http://schemas.openxmlformats.org/drawingml/2006/main">
            <a:r>
              <a:t/>
            </a:r>
          </a:p>
          <a:p xmlns:a="http://schemas.openxmlformats.org/drawingml/2006/main">
            <a:r>
              <a:t>INDICACIONES PARA CARLOS</a:t>
            </a:r>
          </a:p>
          <a:p xmlns:a="http://schemas.openxmlformats.org/drawingml/2006/main">
            <a:r>
              <a:t>Explicar la decisión, el beneficio y el compromiso. Las cuatro diapositivas ADR suman dos minutos.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https://github.com/Felipe7774/NEXUS/blob/b46acb2/dossier/adrs/ADR-004-arquitectura-monolitica.md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del guion: 40 segundos</a:t>
            </a:r>
          </a:p>
          <a:p xmlns:a="http://schemas.openxmlformats.org/drawingml/2006/main">
            <a:r>
              <a:t/>
            </a:r>
          </a:p>
          <a:p xmlns:a="http://schemas.openxmlformats.org/drawingml/2006/main">
            <a:r>
              <a:t>GUION ORAL</a:t>
            </a:r>
          </a:p>
          <a:p xmlns:a="http://schemas.openxmlformats.org/drawingml/2006/main">
            <a:r>
              <a:t>Las decisiones se evaluaron mediante una matriz que compara valor, costo, riesgo residual e impacto en calidad. Las cuatro decisiones fueron confirmadas porque son adecuadas para el alcance y los recursos actuales. Esto no significa que sean perfectas. Supabase reduce el trabajo, pero aumenta la dependencia externa. RLS mejora el aislamiento, pero una política incorrecta puede permitir o bloquear accesos. El monolito reduce complejidad, pero sus módulos no pueden desplegarse independientemente.</a:t>
            </a:r>
          </a:p>
          <a:p xmlns:a="http://schemas.openxmlformats.org/drawingml/2006/main">
            <a:r>
              <a:t/>
            </a:r>
          </a:p>
          <a:p xmlns:a="http://schemas.openxmlformats.org/drawingml/2006/main">
            <a:r>
              <a:t>INDICACIONES PARA CARLOS</a:t>
            </a:r>
          </a:p>
          <a:p xmlns:a="http://schemas.openxmlformats.org/drawingml/2006/main">
            <a:r>
              <a:t>La tabla es un resumen de beneficios y compromisos, no una medición cuantitativa. Cerrar tu parte y dar paso al siguiente integrante. Los tiempos del texto original suman aproximadamente 7 minutos y 30 segundos.</a:t>
            </a:r>
          </a:p>
          <a:p xmlns:a="http://schemas.openxmlformats.org/drawingml/2006/main">
            <a:r>
              <a:t/>
            </a:r>
          </a:p>
          <a:p xmlns:a="http://schemas.openxmlformats.org/drawingml/2006/main">
            <a:r>
              <a:t>FUENTES</a:t>
            </a:r>
          </a:p>
          <a:p xmlns:a="http://schemas.openxmlformats.org/drawingml/2006/main">
            <a:r>
              <a:t>Texto proporcionado por el usuario para esta versión.</a:t>
            </a:r>
          </a:p>
          <a:p xmlns:a="http://schemas.openxmlformats.org/drawingml/2006/main">
            <a:r>
              <a:t>https://github.com/Felipe7774/NEXUS/blob/b46acb2/dossier/12-matriz-trade-offs.md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d9c7a4be4f4f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a43419a7da4922" /><Relationship Type="http://schemas.openxmlformats.org/officeDocument/2006/relationships/slideLayout" Target="/ppt/slideLayouts/slideLayout1.xml" Id="R1d0b9be18f974a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0b9be18f974a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894836476a4f8c" /><Relationship Type="http://schemas.openxmlformats.org/officeDocument/2006/relationships/notesSlide" Target="/ppt/notesSlides/notesSlide1.xml" Id="Rbea299e69e7b46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4d63f1ff6d455b" /><Relationship Type="http://schemas.openxmlformats.org/officeDocument/2006/relationships/notesSlide" Target="/ppt/notesSlides/notesSlide2.xml" Id="R281937a898834f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1512fa2d9d42dd" /><Relationship Type="http://schemas.openxmlformats.org/officeDocument/2006/relationships/notesSlide" Target="/ppt/notesSlides/notesSlide3.xml" Id="R561d6a25b3a145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efd549ea4c42a6" /><Relationship Type="http://schemas.openxmlformats.org/officeDocument/2006/relationships/notesSlide" Target="/ppt/notesSlides/notesSlide4.xml" Id="R3841e51cded34d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691553283f4840" /><Relationship Type="http://schemas.openxmlformats.org/officeDocument/2006/relationships/notesSlide" Target="/ppt/notesSlides/notesSlide5.xml" Id="Rff9189564bbe43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83e38081ce43bc" /><Relationship Type="http://schemas.openxmlformats.org/officeDocument/2006/relationships/notesSlide" Target="/ppt/notesSlides/notesSlide6.xml" Id="R9a57569c4d8242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e07f62dc1941f4" /><Relationship Type="http://schemas.openxmlformats.org/officeDocument/2006/relationships/notesSlide" Target="/ppt/notesSlides/notesSlide7.xml" Id="R5030809e920f42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f09d559b544b2f" /><Relationship Type="http://schemas.openxmlformats.org/officeDocument/2006/relationships/notesSlide" Target="/ppt/notesSlides/notesSlide8.xml" Id="R743c2c6296f746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0249fbb9db4ca5" /><Relationship Type="http://schemas.openxmlformats.org/officeDocument/2006/relationships/notesSlide" Target="/ppt/notesSlides/notesSlide9.xml" Id="R15457b1706da48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2d9d85cb2f4a56" /><Relationship Type="http://schemas.openxmlformats.org/officeDocument/2006/relationships/notesSlide" Target="/ppt/notesSlides/notesSlide10.xml" Id="R5a694a1f9f954ea2" /></Relationships>
</file>

<file path=ppt/slides/slide1.xml><?xml version="1.0" encoding="utf-8"?>
<p:sld xmlns:p="http://schemas.openxmlformats.org/presentationml/2006/main">
  <p:cSld>
    <p:bg>
      <p:bgPr>
        <a:solidFill xmlns:a="http://schemas.openxmlformats.org/drawingml/2006/main">
          <a:srgbClr val="112E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0BA189-D530-4F37-AD6D-BF20B31C0550}"/>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8DDD0"/>
                </a:solidFill>
                <a:latin typeface="Arial"/>
                <a:ea typeface="Arial"/>
                <a:cs typeface="Arial"/>
              </a:defRPr>
            </a:pPr>
            <a:r>
              <a:rPr sz="1350" b="1">
                <a:solidFill>
                  <a:srgbClr val="88DDD0"/>
                </a:solidFill>
                <a:latin typeface="Arial"/>
                <a:ea typeface="Arial"/>
                <a:cs typeface="Arial"/>
              </a:rPr>
              <a:t>CARLOS CORREA · INTEGRANTE 1</a:t>
            </a:r>
          </a:p>
        </p:txBody>
      </p:sp>
      <p:sp>
        <p:nvSpPr>
          <p:cNvPr id="2" name="">
            <a:extLst xmlns:a="http://schemas.openxmlformats.org/drawingml/2006/main">
              <a:ext uri="{FF2B5EF4-FFF2-40B4-BE49-F238E27FC236}">
                <a16:creationId xmlns:a16="http://schemas.microsoft.com/office/drawing/2014/main" id="{8CCA961B-C2C1-46AC-B42B-76C879DB850E}"/>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Nexo CRM</a:t>
            </a:r>
          </a:p>
        </p:txBody>
      </p:sp>
      <p:sp>
        <p:nvSpPr>
          <p:cNvPr id="3" name="">
            <a:extLst xmlns:a="http://schemas.openxmlformats.org/drawingml/2006/main">
              <a:ext uri="{FF2B5EF4-FFF2-40B4-BE49-F238E27FC236}">
                <a16:creationId xmlns:a16="http://schemas.microsoft.com/office/drawing/2014/main" id="{AD6EB499-75DE-482B-8A16-C6DF2451BF63}"/>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8D8E1"/>
                </a:solidFill>
                <a:latin typeface="Arial"/>
                <a:ea typeface="Arial"/>
                <a:cs typeface="Arial"/>
              </a:defRPr>
            </a:pPr>
            <a:r>
              <a:rPr sz="1200" b="0">
                <a:solidFill>
                  <a:srgbClr val="C8D8E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FCBB228-6FD6-4E50-946B-2E1E2B9C5CDA}"/>
              </a:ext>
            </a:extLst>
          </p:cNvPr>
          <p:cNvSpPr>
            <a:spLocks xmlns:a="http://schemas.openxmlformats.org/drawingml/2006/main" noGrp="1"/>
          </p:cNvSpPr>
          <p:nvPr/>
        </p:nvSpPr>
        <p:spPr>
          <a:xfrm xmlns:a="http://schemas.openxmlformats.org/drawingml/2006/main">
            <a:off x="609600" y="1838325"/>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88DDD0"/>
                </a:solidFill>
                <a:latin typeface="Arial"/>
                <a:ea typeface="Arial"/>
                <a:cs typeface="Arial"/>
              </a:defRPr>
            </a:pPr>
            <a:r>
              <a:rPr sz="2700" b="1">
                <a:solidFill>
                  <a:srgbClr val="88DDD0"/>
                </a:solidFill>
                <a:latin typeface="Arial"/>
                <a:ea typeface="Arial"/>
                <a:cs typeface="Arial"/>
              </a:rPr>
              <a:t>Gestión comercial B2B en una sola aplicación</a:t>
            </a:r>
          </a:p>
        </p:txBody>
      </p:sp>
      <p:sp>
        <p:nvSpPr>
          <p:cNvPr id="5" name="">
            <a:extLst xmlns:a="http://schemas.openxmlformats.org/drawingml/2006/main">
              <a:ext uri="{FF2B5EF4-FFF2-40B4-BE49-F238E27FC236}">
                <a16:creationId xmlns:a16="http://schemas.microsoft.com/office/drawing/2014/main" id="{BDAF1B50-6A62-4AB1-90F7-555EFD12775A}"/>
              </a:ext>
            </a:extLst>
          </p:cNvPr>
          <p:cNvSpPr>
            <a:spLocks xmlns:a="http://schemas.openxmlformats.org/drawingml/2006/main" noGrp="1"/>
          </p:cNvSpPr>
          <p:nvPr/>
        </p:nvSpPr>
        <p:spPr>
          <a:xfrm xmlns:a="http://schemas.openxmlformats.org/drawingml/2006/main">
            <a:off x="609600" y="2847975"/>
            <a:ext cx="48577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Empresas y contactos</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Oportunidades de venta</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Actividades de seguimiento</a:t>
            </a:r>
          </a:p>
        </p:txBody>
      </p:sp>
      <p:sp>
        <p:nvSpPr>
          <p:cNvPr id="6" name="">
            <a:extLst xmlns:a="http://schemas.openxmlformats.org/drawingml/2006/main">
              <a:ext uri="{FF2B5EF4-FFF2-40B4-BE49-F238E27FC236}">
                <a16:creationId xmlns:a16="http://schemas.microsoft.com/office/drawing/2014/main" id="{801B57F6-352F-47AF-8EBC-1B86AC7AB1C8}"/>
              </a:ext>
            </a:extLst>
          </p:cNvPr>
          <p:cNvSpPr>
            <a:spLocks xmlns:a="http://schemas.openxmlformats.org/drawingml/2006/main" noGrp="1"/>
          </p:cNvSpPr>
          <p:nvPr/>
        </p:nvSpPr>
        <p:spPr>
          <a:xfrm xmlns:a="http://schemas.openxmlformats.org/drawingml/2006/main">
            <a:off x="6515100" y="28479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88DDD0"/>
                </a:solidFill>
                <a:latin typeface="Arial"/>
                <a:ea typeface="Arial"/>
                <a:cs typeface="Arial"/>
              </a:defRPr>
            </a:pPr>
            <a:r>
              <a:rPr sz="2400" b="1">
                <a:solidFill>
                  <a:srgbClr val="88DDD0"/>
                </a:solidFill>
                <a:latin typeface="Arial"/>
                <a:ea typeface="Arial"/>
                <a:cs typeface="Arial"/>
              </a:rPr>
              <a:t>El problema</a:t>
            </a:r>
          </a:p>
        </p:txBody>
      </p:sp>
      <p:sp>
        <p:nvSpPr>
          <p:cNvPr id="7" name="">
            <a:extLst xmlns:a="http://schemas.openxmlformats.org/drawingml/2006/main">
              <a:ext uri="{FF2B5EF4-FFF2-40B4-BE49-F238E27FC236}">
                <a16:creationId xmlns:a16="http://schemas.microsoft.com/office/drawing/2014/main" id="{7D6EEF6E-5374-4FCE-BDC4-0B7060E0B921}"/>
              </a:ext>
            </a:extLst>
          </p:cNvPr>
          <p:cNvSpPr>
            <a:spLocks xmlns:a="http://schemas.openxmlformats.org/drawingml/2006/main" noGrp="1"/>
          </p:cNvSpPr>
          <p:nvPr/>
        </p:nvSpPr>
        <p:spPr>
          <a:xfrm xmlns:a="http://schemas.openxmlformats.org/drawingml/2006/main">
            <a:off x="6515100" y="3514725"/>
            <a:ext cx="48577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La información dispersa dificulta conocer el estado de una negociación y decidir la siguiente acción.</a:t>
            </a:r>
          </a:p>
        </p:txBody>
      </p:sp>
      <p:sp>
        <p:nvSpPr>
          <p:cNvPr id="8" name="">
            <a:extLst xmlns:a="http://schemas.openxmlformats.org/drawingml/2006/main">
              <a:ext uri="{FF2B5EF4-FFF2-40B4-BE49-F238E27FC236}">
                <a16:creationId xmlns:a16="http://schemas.microsoft.com/office/drawing/2014/main" id="{B4AB6DA6-0439-4DC4-8558-6C454C6A58D7}"/>
              </a:ext>
            </a:extLst>
          </p:cNvPr>
          <p:cNvSpPr>
            <a:spLocks xmlns:a="http://schemas.openxmlformats.org/drawingml/2006/main" noGrp="1"/>
          </p:cNvSpPr>
          <p:nvPr/>
        </p:nvSpPr>
        <p:spPr>
          <a:xfrm xmlns:a="http://schemas.openxmlformats.org/drawingml/2006/main">
            <a:off x="609600" y="56483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8D8E1"/>
                </a:solidFill>
                <a:latin typeface="Arial"/>
                <a:ea typeface="Arial"/>
                <a:cs typeface="Arial"/>
              </a:defRPr>
            </a:pPr>
            <a:r>
              <a:rPr sz="2100" b="0">
                <a:solidFill>
                  <a:srgbClr val="C8D8E1"/>
                </a:solidFill>
                <a:latin typeface="Arial"/>
                <a:ea typeface="Arial"/>
                <a:cs typeface="Arial"/>
              </a:rPr>
              <a:t>Seguimientos: llamadas, reuniones, correos y tareas.</a:t>
            </a:r>
          </a:p>
        </p:txBody>
      </p:sp>
    </p:spTree>
    <p:extLst>
      <p:ext uri="{BB962C8B-B14F-4D97-AF65-F5344CB8AC3E}">
        <p14:creationId xmlns:p14="http://schemas.microsoft.com/office/powerpoint/2010/main" val="9584768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629C60-F67C-41EF-BB29-7F5B68473FE5}"/>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EL SISTEMA VISTO DESDE AFUERA</a:t>
            </a:r>
          </a:p>
        </p:txBody>
      </p:sp>
      <p:sp>
        <p:nvSpPr>
          <p:cNvPr id="2" name="">
            <a:extLst xmlns:a="http://schemas.openxmlformats.org/drawingml/2006/main">
              <a:ext uri="{FF2B5EF4-FFF2-40B4-BE49-F238E27FC236}">
                <a16:creationId xmlns:a16="http://schemas.microsoft.com/office/drawing/2014/main" id="{E2AB8459-14CA-41C5-B6FE-ABC26281B202}"/>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1 · Contexto</a:t>
            </a:r>
          </a:p>
        </p:txBody>
      </p:sp>
      <p:sp>
        <p:nvSpPr>
          <p:cNvPr id="3" name="">
            <a:extLst xmlns:a="http://schemas.openxmlformats.org/drawingml/2006/main">
              <a:ext uri="{FF2B5EF4-FFF2-40B4-BE49-F238E27FC236}">
                <a16:creationId xmlns:a16="http://schemas.microsoft.com/office/drawing/2014/main" id="{D76D538E-13BE-464C-83EE-4EE0157145C3}"/>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02</a:t>
            </a:r>
          </a:p>
        </p:txBody>
      </p:sp>
      <p:graphicFrame>
        <p:nvGraphicFramePr>
          <p:cNvPr id="12" name=""/>
          <p:cNvGraphicFramePr/>
          <p:nvPr/>
        </p:nvGraphicFramePr>
        <p:xfrm>
          <a:off xmlns:a="http://schemas.openxmlformats.org/drawingml/2006/main" x="609600" y="1876425"/>
          <a:ext xmlns:a="http://schemas.openxmlformats.org/drawingml/2006/main" cx="10972800" cy="2819400"/>
        </p:xfrm>
        <a:graphic xmlns:a="http://schemas.openxmlformats.org/drawingml/2006/main">
          <a:graphicData uri="http://schemas.openxmlformats.org/drawingml/2006/table">
            <a:tbl>
              <a:tblPr/>
              <a:tblGrid>
                <a:gridCol w="3000375"/>
                <a:gridCol w="7972425"/>
              </a:tblGrid>
              <a:tr h="571500">
                <a:tc>
                  <a:txBody>
                    <a:bodyPr/>
                    <a:lstStyle/>
                    <a:p>
                      <a:r>
                        <a:rPr sz="1725" b="1">
                          <a:solidFill>
                            <a:srgbClr val="FFFFFF"/>
                          </a:solidFill>
                          <a:latin typeface="Arial"/>
                          <a:ea typeface="Arial"/>
                          <a:cs typeface="Arial"/>
                        </a:rPr>
                        <a:t>Usuario</a:t>
                      </a:r>
                    </a:p>
                  </a:txBody>
                  <a:tcPr marL="152400" marR="152400" marT="114300" marB="114300" anchor="ctr">
                    <a:solidFill>
                      <a:srgbClr val="112E43"/>
                    </a:solidFill>
                  </a:tcPr>
                </a:tc>
                <a:tc>
                  <a:txBody>
                    <a:bodyPr/>
                    <a:lstStyle/>
                    <a:p>
                      <a:r>
                        <a:rPr sz="1725" b="1">
                          <a:solidFill>
                            <a:srgbClr val="FFFFFF"/>
                          </a:solidFill>
                          <a:latin typeface="Arial"/>
                          <a:ea typeface="Arial"/>
                          <a:cs typeface="Arial"/>
                        </a:rPr>
                        <a:t>Responsabilidad principal</a:t>
                      </a:r>
                    </a:p>
                  </a:txBody>
                  <a:tcPr marL="152400" marR="152400" marT="114300" marB="114300" anchor="ctr">
                    <a:solidFill>
                      <a:srgbClr val="112E43"/>
                    </a:solidFill>
                  </a:tcPr>
                </a:tc>
              </a:tr>
              <a:tr h="749300">
                <a:tc>
                  <a:txBody>
                    <a:bodyPr/>
                    <a:lstStyle/>
                    <a:p>
                      <a:r>
                        <a:rPr sz="2100" b="1">
                          <a:solidFill>
                            <a:srgbClr val="17374A"/>
                          </a:solidFill>
                          <a:latin typeface="Arial"/>
                          <a:ea typeface="Arial"/>
                          <a:cs typeface="Arial"/>
                        </a:rPr>
                        <a:t>Vendedor</a:t>
                      </a:r>
                    </a:p>
                  </a:txBody>
                  <a:tcPr marL="152400" marR="152400" marT="114300" marB="114300" anchor="ctr">
                    <a:solidFill>
                      <a:srgbClr val="F1F5F7"/>
                    </a:solidFill>
                  </a:tcPr>
                </a:tc>
                <a:tc>
                  <a:txBody>
                    <a:bodyPr/>
                    <a:lstStyle/>
                    <a:p>
                      <a:r>
                        <a:rPr sz="2100" b="0">
                          <a:solidFill>
                            <a:srgbClr val="17374A"/>
                          </a:solidFill>
                          <a:latin typeface="Arial"/>
                          <a:ea typeface="Arial"/>
                          <a:cs typeface="Arial"/>
                        </a:rPr>
                        <a:t>Administra la información comercial.</a:t>
                      </a:r>
                    </a:p>
                  </a:txBody>
                  <a:tcPr marL="152400" marR="152400" marT="114300" marB="114300" anchor="ctr">
                    <a:solidFill>
                      <a:srgbClr val="F1F5F7"/>
                    </a:solidFill>
                  </a:tcPr>
                </a:tc>
              </a:tr>
              <a:tr h="749300">
                <a:tc>
                  <a:txBody>
                    <a:bodyPr/>
                    <a:lstStyle/>
                    <a:p>
                      <a:r>
                        <a:rPr sz="2100" b="1">
                          <a:solidFill>
                            <a:srgbClr val="17374A"/>
                          </a:solidFill>
                          <a:latin typeface="Arial"/>
                          <a:ea typeface="Arial"/>
                          <a:cs typeface="Arial"/>
                        </a:rPr>
                        <a:t>Gerente</a:t>
                      </a:r>
                    </a:p>
                  </a:txBody>
                  <a:tcPr marL="152400" marR="152400" marT="114300" marB="114300" anchor="ctr">
                    <a:solidFill>
                      <a:srgbClr val="E8F5F2"/>
                    </a:solidFill>
                  </a:tcPr>
                </a:tc>
                <a:tc>
                  <a:txBody>
                    <a:bodyPr/>
                    <a:lstStyle/>
                    <a:p>
                      <a:r>
                        <a:rPr sz="2100" b="0">
                          <a:solidFill>
                            <a:srgbClr val="17374A"/>
                          </a:solidFill>
                          <a:latin typeface="Arial"/>
                          <a:ea typeface="Arial"/>
                          <a:cs typeface="Arial"/>
                        </a:rPr>
                        <a:t>Consulta el pipeline, los indicadores y los reportes.</a:t>
                      </a:r>
                    </a:p>
                  </a:txBody>
                  <a:tcPr marL="152400" marR="152400" marT="114300" marB="114300" anchor="ctr">
                    <a:solidFill>
                      <a:srgbClr val="E8F5F2"/>
                    </a:solidFill>
                  </a:tcPr>
                </a:tc>
              </a:tr>
              <a:tr h="749300">
                <a:tc>
                  <a:txBody>
                    <a:bodyPr/>
                    <a:lstStyle/>
                    <a:p>
                      <a:r>
                        <a:rPr sz="2100" b="1">
                          <a:solidFill>
                            <a:srgbClr val="17374A"/>
                          </a:solidFill>
                          <a:latin typeface="Arial"/>
                          <a:ea typeface="Arial"/>
                          <a:cs typeface="Arial"/>
                        </a:rPr>
                        <a:t>Administrador</a:t>
                      </a:r>
                    </a:p>
                  </a:txBody>
                  <a:tcPr marL="152400" marR="152400" marT="114300" marB="114300" anchor="ctr">
                    <a:solidFill>
                      <a:srgbClr val="F1F5F7"/>
                    </a:solidFill>
                  </a:tcPr>
                </a:tc>
                <a:tc>
                  <a:txBody>
                    <a:bodyPr/>
                    <a:lstStyle/>
                    <a:p>
                      <a:r>
                        <a:rPr sz="2100" b="0">
                          <a:solidFill>
                            <a:srgbClr val="17374A"/>
                          </a:solidFill>
                          <a:latin typeface="Arial"/>
                          <a:ea typeface="Arial"/>
                          <a:cs typeface="Arial"/>
                        </a:rPr>
                        <a:t>Usuarios, roles, pipelines y etapas.</a:t>
                      </a:r>
                    </a:p>
                  </a:txBody>
                  <a:tcPr marL="152400" marR="152400" marT="114300" marB="114300" anchor="ctr">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44CBDAE5-9797-4E14-A6EF-FD56D4BEEDAA}"/>
              </a:ext>
            </a:extLst>
          </p:cNvPr>
          <p:cNvSpPr>
            <a:spLocks xmlns:a="http://schemas.openxmlformats.org/drawingml/2006/main" noGrp="1"/>
          </p:cNvSpPr>
          <p:nvPr/>
        </p:nvSpPr>
        <p:spPr>
          <a:xfrm xmlns:a="http://schemas.openxmlformats.org/drawingml/2006/main">
            <a:off x="609600" y="5095875"/>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Supabase</a:t>
            </a:r>
          </a:p>
        </p:txBody>
      </p:sp>
      <p:sp>
        <p:nvSpPr>
          <p:cNvPr id="6" name="">
            <a:extLst xmlns:a="http://schemas.openxmlformats.org/drawingml/2006/main">
              <a:ext uri="{FF2B5EF4-FFF2-40B4-BE49-F238E27FC236}">
                <a16:creationId xmlns:a16="http://schemas.microsoft.com/office/drawing/2014/main" id="{1BC17A74-DB30-44E9-9256-8B85160DBBE6}"/>
              </a:ext>
            </a:extLst>
          </p:cNvPr>
          <p:cNvSpPr>
            <a:spLocks xmlns:a="http://schemas.openxmlformats.org/drawingml/2006/main" noGrp="1"/>
          </p:cNvSpPr>
          <p:nvPr/>
        </p:nvSpPr>
        <p:spPr>
          <a:xfrm xmlns:a="http://schemas.openxmlformats.org/drawingml/2006/main">
            <a:off x="3248025" y="5095875"/>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Autenticación, PostgreSQL y políticas RLS.</a:t>
            </a:r>
          </a:p>
        </p:txBody>
      </p:sp>
      <p:sp>
        <p:nvSpPr>
          <p:cNvPr id="7" name="">
            <a:extLst xmlns:a="http://schemas.openxmlformats.org/drawingml/2006/main">
              <a:ext uri="{FF2B5EF4-FFF2-40B4-BE49-F238E27FC236}">
                <a16:creationId xmlns:a16="http://schemas.microsoft.com/office/drawing/2014/main" id="{239B92CC-EAD1-4CD9-850B-5FF532F1B748}"/>
              </a:ext>
            </a:extLst>
          </p:cNvPr>
          <p:cNvSpPr>
            <a:spLocks xmlns:a="http://schemas.openxmlformats.org/drawingml/2006/main" noGrp="1"/>
          </p:cNvSpPr>
          <p:nvPr/>
        </p:nvSpPr>
        <p:spPr>
          <a:xfrm xmlns:a="http://schemas.openxmlformats.org/drawingml/2006/main">
            <a:off x="609600" y="571500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Vercel</a:t>
            </a:r>
          </a:p>
        </p:txBody>
      </p:sp>
      <p:sp>
        <p:nvSpPr>
          <p:cNvPr id="8" name="">
            <a:extLst xmlns:a="http://schemas.openxmlformats.org/drawingml/2006/main">
              <a:ext uri="{FF2B5EF4-FFF2-40B4-BE49-F238E27FC236}">
                <a16:creationId xmlns:a16="http://schemas.microsoft.com/office/drawing/2014/main" id="{0871B9DB-1EF5-48FF-80E5-AE37866A0E57}"/>
              </a:ext>
            </a:extLst>
          </p:cNvPr>
          <p:cNvSpPr>
            <a:spLocks xmlns:a="http://schemas.openxmlformats.org/drawingml/2006/main" noGrp="1"/>
          </p:cNvSpPr>
          <p:nvPr/>
        </p:nvSpPr>
        <p:spPr>
          <a:xfrm xmlns:a="http://schemas.openxmlformats.org/drawingml/2006/main">
            <a:off x="3248025" y="5715000"/>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Alojamiento de la aplicación web.</a:t>
            </a:r>
          </a:p>
        </p:txBody>
      </p:sp>
    </p:spTree>
    <p:extLst>
      <p:ext uri="{BB962C8B-B14F-4D97-AF65-F5344CB8AC3E}">
        <p14:creationId xmlns:p14="http://schemas.microsoft.com/office/powerpoint/2010/main" val="640568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8B1CC1-F2E4-41C3-8EE7-CFDF93F6E33F}"/>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UNIDADES PRINCIPALES DE EJECUCIÓN</a:t>
            </a:r>
          </a:p>
        </p:txBody>
      </p:sp>
      <p:sp>
        <p:nvSpPr>
          <p:cNvPr id="2" name="">
            <a:extLst xmlns:a="http://schemas.openxmlformats.org/drawingml/2006/main">
              <a:ext uri="{FF2B5EF4-FFF2-40B4-BE49-F238E27FC236}">
                <a16:creationId xmlns:a16="http://schemas.microsoft.com/office/drawing/2014/main" id="{1DD38BB2-B97B-4BD6-8982-C2BA71FDCBAE}"/>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2 · Contenedores</a:t>
            </a:r>
          </a:p>
        </p:txBody>
      </p:sp>
      <p:sp>
        <p:nvSpPr>
          <p:cNvPr id="3" name="">
            <a:extLst xmlns:a="http://schemas.openxmlformats.org/drawingml/2006/main">
              <a:ext uri="{FF2B5EF4-FFF2-40B4-BE49-F238E27FC236}">
                <a16:creationId xmlns:a16="http://schemas.microsoft.com/office/drawing/2014/main" id="{D1B983A9-1E45-42E3-8333-0D411B35F596}"/>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E35869F-E9C3-409B-A5D3-6849326163EF}"/>
              </a:ext>
            </a:extLst>
          </p:cNvPr>
          <p:cNvSpPr>
            <a:spLocks xmlns:a="http://schemas.openxmlformats.org/drawingml/2006/main" noGrp="1"/>
          </p:cNvSpPr>
          <p:nvPr/>
        </p:nvSpPr>
        <p:spPr>
          <a:xfrm xmlns:a="http://schemas.openxmlformats.org/drawingml/2006/main">
            <a:off x="609600" y="2076450"/>
            <a:ext cx="4810125" cy="3000375"/>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5" name="">
            <a:extLst xmlns:a="http://schemas.openxmlformats.org/drawingml/2006/main">
              <a:ext uri="{FF2B5EF4-FFF2-40B4-BE49-F238E27FC236}">
                <a16:creationId xmlns:a16="http://schemas.microsoft.com/office/drawing/2014/main" id="{D9871971-D0EC-42DE-A5AC-EED270389137}"/>
              </a:ext>
            </a:extLst>
          </p:cNvPr>
          <p:cNvSpPr>
            <a:spLocks xmlns:a="http://schemas.openxmlformats.org/drawingml/2006/main" noGrp="1"/>
          </p:cNvSpPr>
          <p:nvPr/>
        </p:nvSpPr>
        <p:spPr>
          <a:xfrm xmlns:a="http://schemas.openxmlformats.org/drawingml/2006/main">
            <a:off x="819150" y="2266950"/>
            <a:ext cx="439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2E43"/>
                </a:solidFill>
                <a:latin typeface="Arial"/>
                <a:ea typeface="Arial"/>
                <a:cs typeface="Arial"/>
              </a:defRPr>
            </a:pPr>
            <a:r>
              <a:rPr sz="2250" b="1">
                <a:solidFill>
                  <a:srgbClr val="112E43"/>
                </a:solidFill>
                <a:latin typeface="Arial"/>
                <a:ea typeface="Arial"/>
                <a:cs typeface="Arial"/>
              </a:rPr>
              <a:t>Aplicación web</a:t>
            </a:r>
          </a:p>
        </p:txBody>
      </p:sp>
      <p:sp>
        <p:nvSpPr>
          <p:cNvPr id="6" name="">
            <a:extLst xmlns:a="http://schemas.openxmlformats.org/drawingml/2006/main">
              <a:ext uri="{FF2B5EF4-FFF2-40B4-BE49-F238E27FC236}">
                <a16:creationId xmlns:a16="http://schemas.microsoft.com/office/drawing/2014/main" id="{37CB6157-5E69-42CE-B1C0-443987F81B7F}"/>
              </a:ext>
            </a:extLst>
          </p:cNvPr>
          <p:cNvSpPr>
            <a:spLocks xmlns:a="http://schemas.openxmlformats.org/drawingml/2006/main" noGrp="1"/>
          </p:cNvSpPr>
          <p:nvPr/>
        </p:nvSpPr>
        <p:spPr>
          <a:xfrm xmlns:a="http://schemas.openxmlformats.org/drawingml/2006/main">
            <a:off x="819150" y="2914650"/>
            <a:ext cx="43910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React y TypeScript</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TanStack Start, Vite y Nitro</a:t>
            </a:r>
          </a:p>
          <a:p xmlns:a="http://schemas.openxmlformats.org/drawingml/2006/main">
            <a:r>
              <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Interfaz, navegación</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y capacidades de servidor</a:t>
            </a:r>
          </a:p>
        </p:txBody>
      </p:sp>
      <p:sp>
        <p:nvSpPr>
          <p:cNvPr id="7" name="">
            <a:extLst xmlns:a="http://schemas.openxmlformats.org/drawingml/2006/main">
              <a:ext uri="{FF2B5EF4-FFF2-40B4-BE49-F238E27FC236}">
                <a16:creationId xmlns:a16="http://schemas.microsoft.com/office/drawing/2014/main" id="{A62E7DD6-5AB7-48F5-8A64-043DD1595B9A}"/>
              </a:ext>
            </a:extLst>
          </p:cNvPr>
          <p:cNvSpPr>
            <a:spLocks xmlns:a="http://schemas.openxmlformats.org/drawingml/2006/main" noGrp="1"/>
          </p:cNvSpPr>
          <p:nvPr/>
        </p:nvSpPr>
        <p:spPr>
          <a:xfrm xmlns:a="http://schemas.openxmlformats.org/drawingml/2006/main">
            <a:off x="6762750" y="2076450"/>
            <a:ext cx="4819650" cy="3000375"/>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8" name="">
            <a:extLst xmlns:a="http://schemas.openxmlformats.org/drawingml/2006/main">
              <a:ext uri="{FF2B5EF4-FFF2-40B4-BE49-F238E27FC236}">
                <a16:creationId xmlns:a16="http://schemas.microsoft.com/office/drawing/2014/main" id="{ADA0D2C3-3437-433B-9F39-571660744B0C}"/>
              </a:ext>
            </a:extLst>
          </p:cNvPr>
          <p:cNvSpPr>
            <a:spLocks xmlns:a="http://schemas.openxmlformats.org/drawingml/2006/main" noGrp="1"/>
          </p:cNvSpPr>
          <p:nvPr/>
        </p:nvSpPr>
        <p:spPr>
          <a:xfrm xmlns:a="http://schemas.openxmlformats.org/drawingml/2006/main">
            <a:off x="6972300" y="2266950"/>
            <a:ext cx="440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2E43"/>
                </a:solidFill>
                <a:latin typeface="Arial"/>
                <a:ea typeface="Arial"/>
                <a:cs typeface="Arial"/>
              </a:defRPr>
            </a:pPr>
            <a:r>
              <a:rPr sz="2250" b="1">
                <a:solidFill>
                  <a:srgbClr val="112E43"/>
                </a:solidFill>
                <a:latin typeface="Arial"/>
                <a:ea typeface="Arial"/>
                <a:cs typeface="Arial"/>
              </a:rPr>
              <a:t>Proyecto Supabase</a:t>
            </a:r>
          </a:p>
        </p:txBody>
      </p:sp>
      <p:sp>
        <p:nvSpPr>
          <p:cNvPr id="9" name="">
            <a:extLst xmlns:a="http://schemas.openxmlformats.org/drawingml/2006/main">
              <a:ext uri="{FF2B5EF4-FFF2-40B4-BE49-F238E27FC236}">
                <a16:creationId xmlns:a16="http://schemas.microsoft.com/office/drawing/2014/main" id="{F62E6A09-8BCA-4F38-AC18-C11686E1675B}"/>
              </a:ext>
            </a:extLst>
          </p:cNvPr>
          <p:cNvSpPr>
            <a:spLocks xmlns:a="http://schemas.openxmlformats.org/drawingml/2006/main" noGrp="1"/>
          </p:cNvSpPr>
          <p:nvPr/>
        </p:nvSpPr>
        <p:spPr>
          <a:xfrm xmlns:a="http://schemas.openxmlformats.org/drawingml/2006/main">
            <a:off x="6972300" y="2914650"/>
            <a:ext cx="4400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Autenticación</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PostgreSQL y políticas RLS</a:t>
            </a:r>
          </a:p>
          <a:p xmlns:a="http://schemas.openxmlformats.org/drawingml/2006/main">
            <a:r>
              <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Servicios administrados</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de identidad y persistencia</a:t>
            </a:r>
          </a:p>
        </p:txBody>
      </p:sp>
      <p:cxnSp>
        <p:nvCxnSpPr>
          <p:cNvPr id="23" name=""/>
          <p:cNvCxnSpPr>
            <a:stCxn xmlns:a="http://schemas.openxmlformats.org/drawingml/2006/main" id="4" idx="3"/>
            <a:endCxn xmlns:a="http://schemas.openxmlformats.org/drawingml/2006/main" id="7" idx="1"/>
          </p:cNvCxnSpPr>
          <p:nvPr/>
        </p:nvCxnSpPr>
        <p:spPr>
          <a:xfrm xmlns:a="http://schemas.openxmlformats.org/drawingml/2006/main">
            <a:off x="5419725" y="3576638"/>
            <a:ext cx="1343025"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11" name="">
            <a:extLst xmlns:a="http://schemas.openxmlformats.org/drawingml/2006/main">
              <a:ext uri="{FF2B5EF4-FFF2-40B4-BE49-F238E27FC236}">
                <a16:creationId xmlns:a16="http://schemas.microsoft.com/office/drawing/2014/main" id="{36B490A2-6EFD-41B3-8845-B3CFE7ED9248}"/>
              </a:ext>
            </a:extLst>
          </p:cNvPr>
          <p:cNvSpPr>
            <a:spLocks xmlns:a="http://schemas.openxmlformats.org/drawingml/2006/main" noGrp="1"/>
          </p:cNvSpPr>
          <p:nvPr/>
        </p:nvSpPr>
        <p:spPr>
          <a:xfrm xmlns:a="http://schemas.openxmlformats.org/drawingml/2006/main">
            <a:off x="5591175" y="3095625"/>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HTTPS</a:t>
            </a:r>
          </a:p>
        </p:txBody>
      </p:sp>
      <p:sp>
        <p:nvSpPr>
          <p:cNvPr id="12" name="">
            <a:extLst xmlns:a="http://schemas.openxmlformats.org/drawingml/2006/main">
              <a:ext uri="{FF2B5EF4-FFF2-40B4-BE49-F238E27FC236}">
                <a16:creationId xmlns:a16="http://schemas.microsoft.com/office/drawing/2014/main" id="{BC73A7E3-C87F-4F97-B492-8E9D266A94DB}"/>
              </a:ext>
            </a:extLst>
          </p:cNvPr>
          <p:cNvSpPr>
            <a:spLocks xmlns:a="http://schemas.openxmlformats.org/drawingml/2006/main" noGrp="1"/>
          </p:cNvSpPr>
          <p:nvPr/>
        </p:nvSpPr>
        <p:spPr>
          <a:xfrm xmlns:a="http://schemas.openxmlformats.org/drawingml/2006/main">
            <a:off x="609600" y="54292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2E43"/>
                </a:solidFill>
                <a:latin typeface="Arial"/>
                <a:ea typeface="Arial"/>
                <a:cs typeface="Arial"/>
              </a:defRPr>
            </a:pPr>
            <a:r>
              <a:rPr sz="2250" b="1">
                <a:solidFill>
                  <a:srgbClr val="112E43"/>
                </a:solidFill>
                <a:latin typeface="Arial"/>
                <a:ea typeface="Arial"/>
                <a:cs typeface="Arial"/>
              </a:rPr>
              <a:t>La lógica de servidor viaja dentro de la aplicación web.</a:t>
            </a:r>
          </a:p>
        </p:txBody>
      </p:sp>
      <p:sp>
        <p:nvSpPr>
          <p:cNvPr id="13" name="">
            <a:extLst xmlns:a="http://schemas.openxmlformats.org/drawingml/2006/main">
              <a:ext uri="{FF2B5EF4-FFF2-40B4-BE49-F238E27FC236}">
                <a16:creationId xmlns:a16="http://schemas.microsoft.com/office/drawing/2014/main" id="{4FC2A7B8-9210-4F69-BFB0-0BB922BCB6BF}"/>
              </a:ext>
            </a:extLst>
          </p:cNvPr>
          <p:cNvSpPr>
            <a:spLocks xmlns:a="http://schemas.openxmlformats.org/drawingml/2006/main" noGrp="1"/>
          </p:cNvSpPr>
          <p:nvPr/>
        </p:nvSpPr>
        <p:spPr>
          <a:xfrm xmlns:a="http://schemas.openxmlformats.org/drawingml/2006/main">
            <a:off x="609600" y="59912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46E7D"/>
                </a:solidFill>
                <a:latin typeface="Arial"/>
                <a:ea typeface="Arial"/>
                <a:cs typeface="Arial"/>
              </a:defRPr>
            </a:pPr>
            <a:r>
              <a:rPr sz="2025" b="0">
                <a:solidFill>
                  <a:srgbClr val="546E7D"/>
                </a:solidFill>
                <a:latin typeface="Arial"/>
                <a:ea typeface="Arial"/>
                <a:cs typeface="Arial"/>
              </a:rPr>
              <a:t>No existe un backend Node independiente.</a:t>
            </a:r>
          </a:p>
        </p:txBody>
      </p:sp>
    </p:spTree>
    <p:extLst>
      <p:ext uri="{BB962C8B-B14F-4D97-AF65-F5344CB8AC3E}">
        <p14:creationId xmlns:p14="http://schemas.microsoft.com/office/powerpoint/2010/main" val="715732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349171-9344-49B1-A3B6-A436D4F4E426}"/>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ORGANIZACIÓN INTERNA</a:t>
            </a:r>
          </a:p>
        </p:txBody>
      </p:sp>
      <p:sp>
        <p:nvSpPr>
          <p:cNvPr id="2" name="">
            <a:extLst xmlns:a="http://schemas.openxmlformats.org/drawingml/2006/main">
              <a:ext uri="{FF2B5EF4-FFF2-40B4-BE49-F238E27FC236}">
                <a16:creationId xmlns:a16="http://schemas.microsoft.com/office/drawing/2014/main" id="{364F0E68-1F0B-4151-9B22-3D6D68ACFC92}"/>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3 · Componentes</a:t>
            </a:r>
          </a:p>
        </p:txBody>
      </p:sp>
      <p:sp>
        <p:nvSpPr>
          <p:cNvPr id="3" name="">
            <a:extLst xmlns:a="http://schemas.openxmlformats.org/drawingml/2006/main">
              <a:ext uri="{FF2B5EF4-FFF2-40B4-BE49-F238E27FC236}">
                <a16:creationId xmlns:a16="http://schemas.microsoft.com/office/drawing/2014/main" id="{51B77F41-AA3C-4D0A-9C6D-B19D0337C93A}"/>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661E4A3-0585-4096-8D51-1B1D33F2DF25}"/>
              </a:ext>
            </a:extLst>
          </p:cNvPr>
          <p:cNvSpPr>
            <a:spLocks xmlns:a="http://schemas.openxmlformats.org/drawingml/2006/main" noGrp="1"/>
          </p:cNvSpPr>
          <p:nvPr/>
        </p:nvSpPr>
        <p:spPr>
          <a:xfrm xmlns:a="http://schemas.openxmlformats.org/drawingml/2006/main">
            <a:off x="609600" y="1943100"/>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Aplicación web</a:t>
            </a:r>
          </a:p>
        </p:txBody>
      </p:sp>
      <p:sp>
        <p:nvSpPr>
          <p:cNvPr id="5" name="">
            <a:extLst xmlns:a="http://schemas.openxmlformats.org/drawingml/2006/main">
              <a:ext uri="{FF2B5EF4-FFF2-40B4-BE49-F238E27FC236}">
                <a16:creationId xmlns:a16="http://schemas.microsoft.com/office/drawing/2014/main" id="{0365345A-8F1A-4A41-88D6-17E06A814237}"/>
              </a:ext>
            </a:extLst>
          </p:cNvPr>
          <p:cNvSpPr>
            <a:spLocks xmlns:a="http://schemas.openxmlformats.org/drawingml/2006/main" noGrp="1"/>
          </p:cNvSpPr>
          <p:nvPr/>
        </p:nvSpPr>
        <p:spPr>
          <a:xfrm xmlns:a="http://schemas.openxmlformats.org/drawingml/2006/main">
            <a:off x="609600" y="2609850"/>
            <a:ext cx="57150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Autenticación</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Empresas y contactos</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Pipeline</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Actividades</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Dashboard y reportes</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Configuración administrativa</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Acceso a datos</a:t>
            </a:r>
          </a:p>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Procesamiento de servidor</a:t>
            </a:r>
          </a:p>
        </p:txBody>
      </p:sp>
      <p:sp>
        <p:nvSpPr>
          <p:cNvPr id="6" name="">
            <a:extLst xmlns:a="http://schemas.openxmlformats.org/drawingml/2006/main">
              <a:ext uri="{FF2B5EF4-FFF2-40B4-BE49-F238E27FC236}">
                <a16:creationId xmlns:a16="http://schemas.microsoft.com/office/drawing/2014/main" id="{6B65297D-360C-4A1E-8C4B-1B0EC726B065}"/>
              </a:ext>
            </a:extLst>
          </p:cNvPr>
          <p:cNvSpPr>
            <a:spLocks xmlns:a="http://schemas.openxmlformats.org/drawingml/2006/main" noGrp="1"/>
          </p:cNvSpPr>
          <p:nvPr/>
        </p:nvSpPr>
        <p:spPr>
          <a:xfrm xmlns:a="http://schemas.openxmlformats.org/drawingml/2006/main">
            <a:off x="7334250" y="1943100"/>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Supabase</a:t>
            </a:r>
          </a:p>
        </p:txBody>
      </p:sp>
      <p:sp>
        <p:nvSpPr>
          <p:cNvPr id="7" name="">
            <a:extLst xmlns:a="http://schemas.openxmlformats.org/drawingml/2006/main">
              <a:ext uri="{FF2B5EF4-FFF2-40B4-BE49-F238E27FC236}">
                <a16:creationId xmlns:a16="http://schemas.microsoft.com/office/drawing/2014/main" id="{60723918-B7CE-4A03-941D-A0B180DEE984}"/>
              </a:ext>
            </a:extLst>
          </p:cNvPr>
          <p:cNvSpPr>
            <a:spLocks xmlns:a="http://schemas.openxmlformats.org/drawingml/2006/main" noGrp="1"/>
          </p:cNvSpPr>
          <p:nvPr/>
        </p:nvSpPr>
        <p:spPr>
          <a:xfrm xmlns:a="http://schemas.openxmlformats.org/drawingml/2006/main">
            <a:off x="7334250" y="2609850"/>
            <a:ext cx="4191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74A"/>
                </a:solidFill>
                <a:latin typeface="Arial"/>
                <a:ea typeface="Arial"/>
                <a:cs typeface="Arial"/>
              </a:defRPr>
            </a:pPr>
            <a:r>
              <a:rPr sz="2250" b="0">
                <a:solidFill>
                  <a:srgbClr val="17374A"/>
                </a:solidFill>
                <a:latin typeface="Arial"/>
                <a:ea typeface="Arial"/>
                <a:cs typeface="Arial"/>
              </a:rPr>
              <a:t>Autenticación</a:t>
            </a:r>
          </a:p>
          <a:p xmlns:a="http://schemas.openxmlformats.org/drawingml/2006/main">
            <a:pPr>
              <a:defRPr sz="2250" b="0">
                <a:solidFill>
                  <a:srgbClr val="17374A"/>
                </a:solidFill>
                <a:latin typeface="Arial"/>
                <a:ea typeface="Arial"/>
                <a:cs typeface="Arial"/>
              </a:defRPr>
            </a:pPr>
            <a:r>
              <a:rPr sz="2250" b="0">
                <a:solidFill>
                  <a:srgbClr val="17374A"/>
                </a:solidFill>
                <a:latin typeface="Arial"/>
                <a:ea typeface="Arial"/>
                <a:cs typeface="Arial"/>
              </a:rPr>
              <a:t>Base de datos</a:t>
            </a:r>
          </a:p>
          <a:p xmlns:a="http://schemas.openxmlformats.org/drawingml/2006/main">
            <a:pPr>
              <a:defRPr sz="2250" b="0">
                <a:solidFill>
                  <a:srgbClr val="17374A"/>
                </a:solidFill>
                <a:latin typeface="Arial"/>
                <a:ea typeface="Arial"/>
                <a:cs typeface="Arial"/>
              </a:defRPr>
            </a:pPr>
            <a:r>
              <a:rPr sz="2250" b="0">
                <a:solidFill>
                  <a:srgbClr val="17374A"/>
                </a:solidFill>
                <a:latin typeface="Arial"/>
                <a:ea typeface="Arial"/>
                <a:cs typeface="Arial"/>
              </a:rPr>
              <a:t>Políticas RLS</a:t>
            </a:r>
          </a:p>
        </p:txBody>
      </p:sp>
      <p:sp>
        <p:nvSpPr>
          <p:cNvPr id="8" name="">
            <a:extLst xmlns:a="http://schemas.openxmlformats.org/drawingml/2006/main">
              <a:ext uri="{FF2B5EF4-FFF2-40B4-BE49-F238E27FC236}">
                <a16:creationId xmlns:a16="http://schemas.microsoft.com/office/drawing/2014/main" id="{EB1FA1FB-8C2E-46A6-AAAE-927D2230F51F}"/>
              </a:ext>
            </a:extLst>
          </p:cNvPr>
          <p:cNvSpPr>
            <a:spLocks xmlns:a="http://schemas.openxmlformats.org/drawingml/2006/main" noGrp="1"/>
          </p:cNvSpPr>
          <p:nvPr/>
        </p:nvSpPr>
        <p:spPr>
          <a:xfrm xmlns:a="http://schemas.openxmlformats.org/drawingml/2006/main">
            <a:off x="7334250" y="4486275"/>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46E7D"/>
                </a:solidFill>
                <a:latin typeface="Arial"/>
                <a:ea typeface="Arial"/>
                <a:cs typeface="Arial"/>
              </a:defRPr>
            </a:pPr>
            <a:r>
              <a:rPr sz="2100" b="0">
                <a:solidFill>
                  <a:srgbClr val="546E7D"/>
                </a:solidFill>
                <a:latin typeface="Arial"/>
                <a:ea typeface="Arial"/>
                <a:cs typeface="Arial"/>
              </a:rPr>
              <a:t>Las migraciones versionadas permiten reconstruir el esquema.</a:t>
            </a:r>
          </a:p>
        </p:txBody>
      </p:sp>
    </p:spTree>
    <p:extLst>
      <p:ext uri="{BB962C8B-B14F-4D97-AF65-F5344CB8AC3E}">
        <p14:creationId xmlns:p14="http://schemas.microsoft.com/office/powerpoint/2010/main" val="20993558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A3B920-45B8-4DED-87A0-C2CB0E7F8E52}"/>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ARCHIVOS Y CLIENTE ADMINISTRATIVO</a:t>
            </a:r>
          </a:p>
        </p:txBody>
      </p:sp>
      <p:sp>
        <p:nvSpPr>
          <p:cNvPr id="2" name="">
            <a:extLst xmlns:a="http://schemas.openxmlformats.org/drawingml/2006/main">
              <a:ext uri="{FF2B5EF4-FFF2-40B4-BE49-F238E27FC236}">
                <a16:creationId xmlns:a16="http://schemas.microsoft.com/office/drawing/2014/main" id="{64ABCE7F-4639-405A-AE0B-E81E82AE963F}"/>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3 · Dónde está cada responsabilidad</a:t>
            </a:r>
          </a:p>
        </p:txBody>
      </p:sp>
      <p:sp>
        <p:nvSpPr>
          <p:cNvPr id="3" name="">
            <a:extLst xmlns:a="http://schemas.openxmlformats.org/drawingml/2006/main">
              <a:ext uri="{FF2B5EF4-FFF2-40B4-BE49-F238E27FC236}">
                <a16:creationId xmlns:a16="http://schemas.microsoft.com/office/drawing/2014/main" id="{1F9B5AFD-6664-4649-B8E0-E128F677172A}"/>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05</a:t>
            </a:r>
          </a:p>
        </p:txBody>
      </p:sp>
      <p:graphicFrame>
        <p:nvGraphicFramePr>
          <p:cNvPr id="10" name=""/>
          <p:cNvGraphicFramePr/>
          <p:nvPr/>
        </p:nvGraphicFramePr>
        <p:xfrm>
          <a:off xmlns:a="http://schemas.openxmlformats.org/drawingml/2006/main" x="609600" y="1828800"/>
          <a:ext xmlns:a="http://schemas.openxmlformats.org/drawingml/2006/main" cx="10972800" cy="3086100"/>
        </p:xfrm>
        <a:graphic xmlns:a="http://schemas.openxmlformats.org/drawingml/2006/main">
          <a:graphicData uri="http://schemas.openxmlformats.org/drawingml/2006/table">
            <a:tbl>
              <a:tblPr/>
              <a:tblGrid>
                <a:gridCol w="4191000"/>
                <a:gridCol w="6781800"/>
              </a:tblGrid>
              <a:tr h="571500">
                <a:tc>
                  <a:txBody>
                    <a:bodyPr/>
                    <a:lstStyle/>
                    <a:p>
                      <a:r>
                        <a:rPr sz="1725" b="1">
                          <a:solidFill>
                            <a:srgbClr val="FFFFFF"/>
                          </a:solidFill>
                          <a:latin typeface="Arial"/>
                          <a:ea typeface="Arial"/>
                          <a:cs typeface="Arial"/>
                        </a:rPr>
                        <a:t>Responsabilidad</a:t>
                      </a:r>
                    </a:p>
                  </a:txBody>
                  <a:tcPr marL="152400" marR="152400" marT="114300" marB="114300" anchor="ctr">
                    <a:solidFill>
                      <a:srgbClr val="112E43"/>
                    </a:solidFill>
                  </a:tcPr>
                </a:tc>
                <a:tc>
                  <a:txBody>
                    <a:bodyPr/>
                    <a:lstStyle/>
                    <a:p>
                      <a:r>
                        <a:rPr sz="1725" b="1">
                          <a:solidFill>
                            <a:srgbClr val="FFFFFF"/>
                          </a:solidFill>
                          <a:latin typeface="Arial"/>
                          <a:ea typeface="Arial"/>
                          <a:cs typeface="Arial"/>
                        </a:rPr>
                        <a:t>Ubicación</a:t>
                      </a:r>
                    </a:p>
                  </a:txBody>
                  <a:tcPr marL="152400" marR="152400" marT="114300" marB="114300" anchor="ctr">
                    <a:solidFill>
                      <a:srgbClr val="112E43"/>
                    </a:solidFill>
                  </a:tcPr>
                </a:tc>
              </a:tr>
              <a:tr h="628650">
                <a:tc>
                  <a:txBody>
                    <a:bodyPr/>
                    <a:lstStyle/>
                    <a:p>
                      <a:r>
                        <a:rPr sz="2025" b="1">
                          <a:solidFill>
                            <a:srgbClr val="17374A"/>
                          </a:solidFill>
                          <a:latin typeface="Arial"/>
                          <a:ea typeface="Arial"/>
                          <a:cs typeface="Arial"/>
                        </a:rPr>
                        <a:t>Presentación</a:t>
                      </a:r>
                    </a:p>
                  </a:txBody>
                  <a:tcPr marL="152400" marR="152400" marT="114300" marB="114300" anchor="ctr">
                    <a:solidFill>
                      <a:srgbClr val="F1F5F7"/>
                    </a:solidFill>
                  </a:tcPr>
                </a:tc>
                <a:tc>
                  <a:txBody>
                    <a:bodyPr/>
                    <a:lstStyle/>
                    <a:p>
                      <a:r>
                        <a:rPr sz="2025" b="0">
                          <a:solidFill>
                            <a:srgbClr val="17374A"/>
                          </a:solidFill>
                          <a:latin typeface="Arial"/>
                          <a:ea typeface="Arial"/>
                          <a:cs typeface="Arial"/>
                        </a:rPr>
                        <a:t>src/routes/ y src/components/</a:t>
                      </a:r>
                    </a:p>
                  </a:txBody>
                  <a:tcPr marL="152400" marR="152400" marT="114300" marB="114300" anchor="ctr">
                    <a:solidFill>
                      <a:srgbClr val="F1F5F7"/>
                    </a:solidFill>
                  </a:tcPr>
                </a:tc>
              </a:tr>
              <a:tr h="628650">
                <a:tc>
                  <a:txBody>
                    <a:bodyPr/>
                    <a:lstStyle/>
                    <a:p>
                      <a:r>
                        <a:rPr sz="2025" b="1">
                          <a:solidFill>
                            <a:srgbClr val="17374A"/>
                          </a:solidFill>
                          <a:latin typeface="Arial"/>
                          <a:ea typeface="Arial"/>
                          <a:cs typeface="Arial"/>
                        </a:rPr>
                        <a:t>Operaciones del CRM</a:t>
                      </a:r>
                    </a:p>
                  </a:txBody>
                  <a:tcPr marL="152400" marR="152400" marT="114300" marB="114300" anchor="ctr">
                    <a:solidFill>
                      <a:srgbClr val="E8F5F2"/>
                    </a:solidFill>
                  </a:tcPr>
                </a:tc>
                <a:tc>
                  <a:txBody>
                    <a:bodyPr/>
                    <a:lstStyle/>
                    <a:p>
                      <a:r>
                        <a:rPr sz="2025" b="0">
                          <a:solidFill>
                            <a:srgbClr val="17374A"/>
                          </a:solidFill>
                          <a:latin typeface="Arial"/>
                          <a:ea typeface="Arial"/>
                          <a:cs typeface="Arial"/>
                        </a:rPr>
                        <a:t>src/lib/crm.ts</a:t>
                      </a:r>
                    </a:p>
                  </a:txBody>
                  <a:tcPr marL="152400" marR="152400" marT="114300" marB="114300" anchor="ctr">
                    <a:solidFill>
                      <a:srgbClr val="E8F5F2"/>
                    </a:solidFill>
                  </a:tcPr>
                </a:tc>
              </a:tr>
              <a:tr h="628650">
                <a:tc>
                  <a:txBody>
                    <a:bodyPr/>
                    <a:lstStyle/>
                    <a:p>
                      <a:r>
                        <a:rPr sz="2025" b="1">
                          <a:solidFill>
                            <a:srgbClr val="17374A"/>
                          </a:solidFill>
                          <a:latin typeface="Arial"/>
                          <a:ea typeface="Arial"/>
                          <a:cs typeface="Arial"/>
                        </a:rPr>
                        <a:t>Integración con Supabase</a:t>
                      </a:r>
                    </a:p>
                  </a:txBody>
                  <a:tcPr marL="152400" marR="152400" marT="114300" marB="114300" anchor="ctr">
                    <a:solidFill>
                      <a:srgbClr val="F1F5F7"/>
                    </a:solidFill>
                  </a:tcPr>
                </a:tc>
                <a:tc>
                  <a:txBody>
                    <a:bodyPr/>
                    <a:lstStyle/>
                    <a:p>
                      <a:r>
                        <a:rPr sz="2025" b="0">
                          <a:solidFill>
                            <a:srgbClr val="17374A"/>
                          </a:solidFill>
                          <a:latin typeface="Arial"/>
                          <a:ea typeface="Arial"/>
                          <a:cs typeface="Arial"/>
                        </a:rPr>
                        <a:t>src/integrations/supabase/</a:t>
                      </a:r>
                    </a:p>
                  </a:txBody>
                  <a:tcPr marL="152400" marR="152400" marT="114300" marB="114300" anchor="ctr">
                    <a:solidFill>
                      <a:srgbClr val="F1F5F7"/>
                    </a:solidFill>
                  </a:tcPr>
                </a:tc>
              </a:tr>
              <a:tr h="628650">
                <a:tc>
                  <a:txBody>
                    <a:bodyPr/>
                    <a:lstStyle/>
                    <a:p>
                      <a:r>
                        <a:rPr sz="2025" b="1">
                          <a:solidFill>
                            <a:srgbClr val="17374A"/>
                          </a:solidFill>
                          <a:latin typeface="Arial"/>
                          <a:ea typeface="Arial"/>
                          <a:cs typeface="Arial"/>
                        </a:rPr>
                        <a:t>Persistencia y RLS</a:t>
                      </a:r>
                    </a:p>
                  </a:txBody>
                  <a:tcPr marL="152400" marR="152400" marT="114300" marB="114300" anchor="ctr">
                    <a:solidFill>
                      <a:srgbClr val="E8F5F2"/>
                    </a:solidFill>
                  </a:tcPr>
                </a:tc>
                <a:tc>
                  <a:txBody>
                    <a:bodyPr/>
                    <a:lstStyle/>
                    <a:p>
                      <a:r>
                        <a:rPr sz="2025" b="0">
                          <a:solidFill>
                            <a:srgbClr val="17374A"/>
                          </a:solidFill>
                          <a:latin typeface="Arial"/>
                          <a:ea typeface="Arial"/>
                          <a:cs typeface="Arial"/>
                        </a:rPr>
                        <a:t>supabase/migrations/</a:t>
                      </a:r>
                    </a:p>
                  </a:txBody>
                  <a:tcPr marL="152400" marR="152400" marT="114300" marB="114300" anchor="ctr">
                    <a:solidFill>
                      <a:srgbClr val="E8F5F2"/>
                    </a:solidFill>
                  </a:tcPr>
                </a:tc>
              </a:tr>
            </a:tbl>
          </a:graphicData>
        </a:graphic>
      </p:graphicFrame>
      <p:sp>
        <p:nvSpPr>
          <p:cNvPr id="5" name="">
            <a:extLst xmlns:a="http://schemas.openxmlformats.org/drawingml/2006/main">
              <a:ext uri="{FF2B5EF4-FFF2-40B4-BE49-F238E27FC236}">
                <a16:creationId xmlns:a16="http://schemas.microsoft.com/office/drawing/2014/main" id="{94EE2451-9781-4CB1-AFE0-64F56750A9C3}"/>
              </a:ext>
            </a:extLst>
          </p:cNvPr>
          <p:cNvSpPr>
            <a:spLocks xmlns:a="http://schemas.openxmlformats.org/drawingml/2006/main" noGrp="1"/>
          </p:cNvSpPr>
          <p:nvPr/>
        </p:nvSpPr>
        <p:spPr>
          <a:xfrm xmlns:a="http://schemas.openxmlformats.org/drawingml/2006/main">
            <a:off x="609600" y="52101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45B18"/>
                </a:solidFill>
                <a:latin typeface="Arial"/>
                <a:ea typeface="Arial"/>
                <a:cs typeface="Arial"/>
              </a:defRPr>
            </a:pPr>
            <a:r>
              <a:rPr sz="2175" b="1">
                <a:solidFill>
                  <a:srgbClr val="A45B18"/>
                </a:solidFill>
                <a:latin typeface="Arial"/>
                <a:ea typeface="Arial"/>
                <a:cs typeface="Arial"/>
              </a:rPr>
              <a:t>Cliente administrativo: client.server.ts</a:t>
            </a:r>
          </a:p>
        </p:txBody>
      </p:sp>
      <p:sp>
        <p:nvSpPr>
          <p:cNvPr id="6" name="">
            <a:extLst xmlns:a="http://schemas.openxmlformats.org/drawingml/2006/main">
              <a:ext uri="{FF2B5EF4-FFF2-40B4-BE49-F238E27FC236}">
                <a16:creationId xmlns:a16="http://schemas.microsoft.com/office/drawing/2014/main" id="{A1999B50-A3D5-4938-B8E1-0351451A694C}"/>
              </a:ext>
            </a:extLst>
          </p:cNvPr>
          <p:cNvSpPr>
            <a:spLocks xmlns:a="http://schemas.openxmlformats.org/drawingml/2006/main" noGrp="1"/>
          </p:cNvSpPr>
          <p:nvPr/>
        </p:nvSpPr>
        <p:spPr>
          <a:xfrm xmlns:a="http://schemas.openxmlformats.org/drawingml/2006/main">
            <a:off x="609600" y="57054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E7D"/>
                </a:solidFill>
                <a:latin typeface="Arial"/>
                <a:ea typeface="Arial"/>
                <a:cs typeface="Arial"/>
              </a:defRPr>
            </a:pPr>
            <a:r>
              <a:rPr sz="1875" b="0">
                <a:solidFill>
                  <a:srgbClr val="546E7D"/>
                </a:solidFill>
                <a:latin typeface="Arial"/>
                <a:ea typeface="Arial"/>
                <a:cs typeface="Arial"/>
              </a:rPr>
              <a:t>Usa service_role y puede omitir RLS. No tiene consumidores en src, pero está presente en el código y representa un riesgo.</a:t>
            </a:r>
          </a:p>
        </p:txBody>
      </p:sp>
    </p:spTree>
    <p:extLst>
      <p:ext uri="{BB962C8B-B14F-4D97-AF65-F5344CB8AC3E}">
        <p14:creationId xmlns:p14="http://schemas.microsoft.com/office/powerpoint/2010/main" val="4670598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F17629-DA40-4C9D-957E-B7D86B7F6447}"/>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DECISIÓN ARQUITECTÓNICA · ADR-001</a:t>
            </a:r>
          </a:p>
        </p:txBody>
      </p:sp>
      <p:sp>
        <p:nvSpPr>
          <p:cNvPr id="2" name="">
            <a:extLst xmlns:a="http://schemas.openxmlformats.org/drawingml/2006/main">
              <a:ext uri="{FF2B5EF4-FFF2-40B4-BE49-F238E27FC236}">
                <a16:creationId xmlns:a16="http://schemas.microsoft.com/office/drawing/2014/main" id="{2EECB8DF-8141-4ED2-8BDD-F03211043E5A}"/>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Arquitectura en capas</a:t>
            </a:r>
          </a:p>
        </p:txBody>
      </p:sp>
      <p:sp>
        <p:nvSpPr>
          <p:cNvPr id="3" name="">
            <a:extLst xmlns:a="http://schemas.openxmlformats.org/drawingml/2006/main">
              <a:ext uri="{FF2B5EF4-FFF2-40B4-BE49-F238E27FC236}">
                <a16:creationId xmlns:a16="http://schemas.microsoft.com/office/drawing/2014/main" id="{5022D3F2-7562-4907-8E08-5245C02ECD39}"/>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B8EAD2B-090F-4DAB-B946-7E29EF88F853}"/>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Decisión</a:t>
            </a:r>
          </a:p>
        </p:txBody>
      </p:sp>
      <p:sp>
        <p:nvSpPr>
          <p:cNvPr id="5" name="">
            <a:extLst xmlns:a="http://schemas.openxmlformats.org/drawingml/2006/main">
              <a:ext uri="{FF2B5EF4-FFF2-40B4-BE49-F238E27FC236}">
                <a16:creationId xmlns:a16="http://schemas.microsoft.com/office/drawing/2014/main" id="{8E79DD2A-C503-472C-81B0-AA1BB060038F}"/>
              </a:ext>
            </a:extLst>
          </p:cNvPr>
          <p:cNvSpPr>
            <a:spLocks xmlns:a="http://schemas.openxmlformats.org/drawingml/2006/main" noGrp="1"/>
          </p:cNvSpPr>
          <p:nvPr/>
        </p:nvSpPr>
        <p:spPr>
          <a:xfrm xmlns:a="http://schemas.openxmlformats.org/drawingml/2006/main">
            <a:off x="609600" y="2552700"/>
            <a:ext cx="10810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74A"/>
                </a:solidFill>
                <a:latin typeface="Arial"/>
                <a:ea typeface="Arial"/>
                <a:cs typeface="Arial"/>
              </a:defRPr>
            </a:pPr>
            <a:r>
              <a:rPr sz="2400" b="0">
                <a:solidFill>
                  <a:srgbClr val="17374A"/>
                </a:solidFill>
                <a:latin typeface="Arial"/>
                <a:ea typeface="Arial"/>
                <a:cs typeface="Arial"/>
              </a:rPr>
              <a:t>Separar presentación, operaciones del CRM, integración con Supabase y persistencia versionada.</a:t>
            </a:r>
          </a:p>
        </p:txBody>
      </p:sp>
      <p:sp>
        <p:nvSpPr>
          <p:cNvPr id="6" name="">
            <a:extLst xmlns:a="http://schemas.openxmlformats.org/drawingml/2006/main">
              <a:ext uri="{FF2B5EF4-FFF2-40B4-BE49-F238E27FC236}">
                <a16:creationId xmlns:a16="http://schemas.microsoft.com/office/drawing/2014/main" id="{81F3F0F7-5183-4B46-98FB-E4231BC31893}"/>
              </a:ext>
            </a:extLst>
          </p:cNvPr>
          <p:cNvSpPr>
            <a:spLocks xmlns:a="http://schemas.openxmlformats.org/drawingml/2006/main" noGrp="1"/>
          </p:cNvSpPr>
          <p:nvPr/>
        </p:nvSpPr>
        <p:spPr>
          <a:xfrm xmlns:a="http://schemas.openxmlformats.org/drawingml/2006/main">
            <a:off x="609600" y="3895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2E43"/>
                </a:solidFill>
                <a:latin typeface="Arial"/>
                <a:ea typeface="Arial"/>
                <a:cs typeface="Arial"/>
              </a:defRPr>
            </a:pPr>
            <a:r>
              <a:rPr sz="2175" b="1">
                <a:solidFill>
                  <a:srgbClr val="112E43"/>
                </a:solidFill>
                <a:latin typeface="Arial"/>
                <a:ea typeface="Arial"/>
                <a:cs typeface="Arial"/>
              </a:rPr>
              <a:t>Beneficio</a:t>
            </a:r>
          </a:p>
        </p:txBody>
      </p:sp>
      <p:sp>
        <p:nvSpPr>
          <p:cNvPr id="7" name="">
            <a:extLst xmlns:a="http://schemas.openxmlformats.org/drawingml/2006/main">
              <a:ext uri="{FF2B5EF4-FFF2-40B4-BE49-F238E27FC236}">
                <a16:creationId xmlns:a16="http://schemas.microsoft.com/office/drawing/2014/main" id="{05F9A3E3-6600-4F76-B836-D0C875E86686}"/>
              </a:ext>
            </a:extLst>
          </p:cNvPr>
          <p:cNvSpPr>
            <a:spLocks xmlns:a="http://schemas.openxmlformats.org/drawingml/2006/main" noGrp="1"/>
          </p:cNvSpPr>
          <p:nvPr/>
        </p:nvSpPr>
        <p:spPr>
          <a:xfrm xmlns:a="http://schemas.openxmlformats.org/drawingml/2006/main">
            <a:off x="609600" y="445770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Localizar responsabilidades</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y comprender los cambios.</a:t>
            </a:r>
          </a:p>
        </p:txBody>
      </p:sp>
      <p:sp>
        <p:nvSpPr>
          <p:cNvPr id="8" name="">
            <a:extLst xmlns:a="http://schemas.openxmlformats.org/drawingml/2006/main">
              <a:ext uri="{FF2B5EF4-FFF2-40B4-BE49-F238E27FC236}">
                <a16:creationId xmlns:a16="http://schemas.microsoft.com/office/drawing/2014/main" id="{11DC8BD5-403A-4A29-A861-B02BEC361D5F}"/>
              </a:ext>
            </a:extLst>
          </p:cNvPr>
          <p:cNvSpPr>
            <a:spLocks xmlns:a="http://schemas.openxmlformats.org/drawingml/2006/main" noGrp="1"/>
          </p:cNvSpPr>
          <p:nvPr/>
        </p:nvSpPr>
        <p:spPr>
          <a:xfrm xmlns:a="http://schemas.openxmlformats.org/drawingml/2006/main">
            <a:off x="6515100" y="3895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45B18"/>
                </a:solidFill>
                <a:latin typeface="Arial"/>
                <a:ea typeface="Arial"/>
                <a:cs typeface="Arial"/>
              </a:defRPr>
            </a:pPr>
            <a:r>
              <a:rPr sz="2175" b="1">
                <a:solidFill>
                  <a:srgbClr val="A45B18"/>
                </a:solidFill>
                <a:latin typeface="Arial"/>
                <a:ea typeface="Arial"/>
                <a:cs typeface="Arial"/>
              </a:rPr>
              <a:t>Compromiso o límite</a:t>
            </a:r>
          </a:p>
        </p:txBody>
      </p:sp>
      <p:sp>
        <p:nvSpPr>
          <p:cNvPr id="9" name="">
            <a:extLst xmlns:a="http://schemas.openxmlformats.org/drawingml/2006/main">
              <a:ext uri="{FF2B5EF4-FFF2-40B4-BE49-F238E27FC236}">
                <a16:creationId xmlns:a16="http://schemas.microsoft.com/office/drawing/2014/main" id="{10B89303-FB0D-4DF7-8D65-3618376475D8}"/>
              </a:ext>
            </a:extLst>
          </p:cNvPr>
          <p:cNvSpPr>
            <a:spLocks xmlns:a="http://schemas.openxmlformats.org/drawingml/2006/main" noGrp="1"/>
          </p:cNvSpPr>
          <p:nvPr/>
        </p:nvSpPr>
        <p:spPr>
          <a:xfrm xmlns:a="http://schemas.openxmlformats.org/drawingml/2006/main">
            <a:off x="6515100" y="44577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Mantener disciplina para</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evitar que las capas se mezclen.</a:t>
            </a:r>
          </a:p>
        </p:txBody>
      </p:sp>
    </p:spTree>
    <p:extLst>
      <p:ext uri="{BB962C8B-B14F-4D97-AF65-F5344CB8AC3E}">
        <p14:creationId xmlns:p14="http://schemas.microsoft.com/office/powerpoint/2010/main" val="16469143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26BF3B-625E-465F-BBDA-944D821743A5}"/>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DECISIÓN ARQUITECTÓNICA · ADR-002</a:t>
            </a:r>
          </a:p>
        </p:txBody>
      </p:sp>
      <p:sp>
        <p:nvSpPr>
          <p:cNvPr id="2" name="">
            <a:extLst xmlns:a="http://schemas.openxmlformats.org/drawingml/2006/main">
              <a:ext uri="{FF2B5EF4-FFF2-40B4-BE49-F238E27FC236}">
                <a16:creationId xmlns:a16="http://schemas.microsoft.com/office/drawing/2014/main" id="{CC7CE201-4490-4387-9CBF-FD6FA7E358B3}"/>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Uso de Supabase</a:t>
            </a:r>
          </a:p>
        </p:txBody>
      </p:sp>
      <p:sp>
        <p:nvSpPr>
          <p:cNvPr id="3" name="">
            <a:extLst xmlns:a="http://schemas.openxmlformats.org/drawingml/2006/main">
              <a:ext uri="{FF2B5EF4-FFF2-40B4-BE49-F238E27FC236}">
                <a16:creationId xmlns:a16="http://schemas.microsoft.com/office/drawing/2014/main" id="{CD933A3F-D18F-4DC3-809E-6D7C3F95D9EC}"/>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3DDD894-85B0-40F0-9697-DD77B664F532}"/>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Decisión</a:t>
            </a:r>
          </a:p>
        </p:txBody>
      </p:sp>
      <p:sp>
        <p:nvSpPr>
          <p:cNvPr id="5" name="">
            <a:extLst xmlns:a="http://schemas.openxmlformats.org/drawingml/2006/main">
              <a:ext uri="{FF2B5EF4-FFF2-40B4-BE49-F238E27FC236}">
                <a16:creationId xmlns:a16="http://schemas.microsoft.com/office/drawing/2014/main" id="{391A5002-157D-4822-8C04-B97841B28E88}"/>
              </a:ext>
            </a:extLst>
          </p:cNvPr>
          <p:cNvSpPr>
            <a:spLocks xmlns:a="http://schemas.openxmlformats.org/drawingml/2006/main" noGrp="1"/>
          </p:cNvSpPr>
          <p:nvPr/>
        </p:nvSpPr>
        <p:spPr>
          <a:xfrm xmlns:a="http://schemas.openxmlformats.org/drawingml/2006/main">
            <a:off x="609600" y="2552700"/>
            <a:ext cx="10810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74A"/>
                </a:solidFill>
                <a:latin typeface="Arial"/>
                <a:ea typeface="Arial"/>
                <a:cs typeface="Arial"/>
              </a:defRPr>
            </a:pPr>
            <a:r>
              <a:rPr sz="2400" b="0">
                <a:solidFill>
                  <a:srgbClr val="17374A"/>
                </a:solidFill>
                <a:latin typeface="Arial"/>
                <a:ea typeface="Arial"/>
                <a:cs typeface="Arial"/>
              </a:rPr>
              <a:t>Utilizar Supabase para autenticación y persistencia del CRM.</a:t>
            </a:r>
          </a:p>
        </p:txBody>
      </p:sp>
      <p:sp>
        <p:nvSpPr>
          <p:cNvPr id="6" name="">
            <a:extLst xmlns:a="http://schemas.openxmlformats.org/drawingml/2006/main">
              <a:ext uri="{FF2B5EF4-FFF2-40B4-BE49-F238E27FC236}">
                <a16:creationId xmlns:a16="http://schemas.microsoft.com/office/drawing/2014/main" id="{F24C3BAD-E284-4EB8-A846-AFFC51FD25A0}"/>
              </a:ext>
            </a:extLst>
          </p:cNvPr>
          <p:cNvSpPr>
            <a:spLocks xmlns:a="http://schemas.openxmlformats.org/drawingml/2006/main" noGrp="1"/>
          </p:cNvSpPr>
          <p:nvPr/>
        </p:nvSpPr>
        <p:spPr>
          <a:xfrm xmlns:a="http://schemas.openxmlformats.org/drawingml/2006/main">
            <a:off x="609600" y="3895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2E43"/>
                </a:solidFill>
                <a:latin typeface="Arial"/>
                <a:ea typeface="Arial"/>
                <a:cs typeface="Arial"/>
              </a:defRPr>
            </a:pPr>
            <a:r>
              <a:rPr sz="2175" b="1">
                <a:solidFill>
                  <a:srgbClr val="112E43"/>
                </a:solidFill>
                <a:latin typeface="Arial"/>
                <a:ea typeface="Arial"/>
                <a:cs typeface="Arial"/>
              </a:rPr>
              <a:t>Beneficio</a:t>
            </a:r>
          </a:p>
        </p:txBody>
      </p:sp>
      <p:sp>
        <p:nvSpPr>
          <p:cNvPr id="7" name="">
            <a:extLst xmlns:a="http://schemas.openxmlformats.org/drawingml/2006/main">
              <a:ext uri="{FF2B5EF4-FFF2-40B4-BE49-F238E27FC236}">
                <a16:creationId xmlns:a16="http://schemas.microsoft.com/office/drawing/2014/main" id="{B2AE8557-881F-45EC-A986-70EF70C0D9D9}"/>
              </a:ext>
            </a:extLst>
          </p:cNvPr>
          <p:cNvSpPr>
            <a:spLocks xmlns:a="http://schemas.openxmlformats.org/drawingml/2006/main" noGrp="1"/>
          </p:cNvSpPr>
          <p:nvPr/>
        </p:nvSpPr>
        <p:spPr>
          <a:xfrm xmlns:a="http://schemas.openxmlformats.org/drawingml/2006/main">
            <a:off x="609600" y="445770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Reducir trabajo de infraestructura</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y evitar construir Auth y una API</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de datos desde cero.</a:t>
            </a:r>
          </a:p>
        </p:txBody>
      </p:sp>
      <p:sp>
        <p:nvSpPr>
          <p:cNvPr id="8" name="">
            <a:extLst xmlns:a="http://schemas.openxmlformats.org/drawingml/2006/main">
              <a:ext uri="{FF2B5EF4-FFF2-40B4-BE49-F238E27FC236}">
                <a16:creationId xmlns:a16="http://schemas.microsoft.com/office/drawing/2014/main" id="{FCFC3A26-3050-4B28-91D4-67B9FD1F7186}"/>
              </a:ext>
            </a:extLst>
          </p:cNvPr>
          <p:cNvSpPr>
            <a:spLocks xmlns:a="http://schemas.openxmlformats.org/drawingml/2006/main" noGrp="1"/>
          </p:cNvSpPr>
          <p:nvPr/>
        </p:nvSpPr>
        <p:spPr>
          <a:xfrm xmlns:a="http://schemas.openxmlformats.org/drawingml/2006/main">
            <a:off x="6515100" y="3895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45B18"/>
                </a:solidFill>
                <a:latin typeface="Arial"/>
                <a:ea typeface="Arial"/>
                <a:cs typeface="Arial"/>
              </a:defRPr>
            </a:pPr>
            <a:r>
              <a:rPr sz="2175" b="1">
                <a:solidFill>
                  <a:srgbClr val="A45B18"/>
                </a:solidFill>
                <a:latin typeface="Arial"/>
                <a:ea typeface="Arial"/>
                <a:cs typeface="Arial"/>
              </a:rPr>
              <a:t>Compromiso o límite</a:t>
            </a:r>
          </a:p>
        </p:txBody>
      </p:sp>
      <p:sp>
        <p:nvSpPr>
          <p:cNvPr id="9" name="">
            <a:extLst xmlns:a="http://schemas.openxmlformats.org/drawingml/2006/main">
              <a:ext uri="{FF2B5EF4-FFF2-40B4-BE49-F238E27FC236}">
                <a16:creationId xmlns:a16="http://schemas.microsoft.com/office/drawing/2014/main" id="{F4F0243D-C8AA-411D-9110-5F4CC718507A}"/>
              </a:ext>
            </a:extLst>
          </p:cNvPr>
          <p:cNvSpPr>
            <a:spLocks xmlns:a="http://schemas.openxmlformats.org/drawingml/2006/main" noGrp="1"/>
          </p:cNvSpPr>
          <p:nvPr/>
        </p:nvSpPr>
        <p:spPr>
          <a:xfrm xmlns:a="http://schemas.openxmlformats.org/drawingml/2006/main">
            <a:off x="6515100" y="44577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Dependencia del proveedor,</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de sus límites y de la</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configuración de la cuenta.</a:t>
            </a:r>
          </a:p>
        </p:txBody>
      </p:sp>
    </p:spTree>
    <p:extLst>
      <p:ext uri="{BB962C8B-B14F-4D97-AF65-F5344CB8AC3E}">
        <p14:creationId xmlns:p14="http://schemas.microsoft.com/office/powerpoint/2010/main" val="13495307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3E23BC-6D09-4994-9ED4-3F895F7CE614}"/>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DECISIÓN ARQUITECTÓNICA · ADR-003</a:t>
            </a:r>
          </a:p>
        </p:txBody>
      </p:sp>
      <p:sp>
        <p:nvSpPr>
          <p:cNvPr id="2" name="">
            <a:extLst xmlns:a="http://schemas.openxmlformats.org/drawingml/2006/main">
              <a:ext uri="{FF2B5EF4-FFF2-40B4-BE49-F238E27FC236}">
                <a16:creationId xmlns:a16="http://schemas.microsoft.com/office/drawing/2014/main" id="{9F7D7A0B-7B5F-497E-AA64-279B6A8E86B3}"/>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Aislamiento mediante RLS</a:t>
            </a:r>
          </a:p>
        </p:txBody>
      </p:sp>
      <p:sp>
        <p:nvSpPr>
          <p:cNvPr id="3" name="">
            <a:extLst xmlns:a="http://schemas.openxmlformats.org/drawingml/2006/main">
              <a:ext uri="{FF2B5EF4-FFF2-40B4-BE49-F238E27FC236}">
                <a16:creationId xmlns:a16="http://schemas.microsoft.com/office/drawing/2014/main" id="{A30B9CF9-2DB3-41AA-BCBA-3F0B01CA0688}"/>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D152E826-8727-471A-A03F-F2225E34E872}"/>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Decisión</a:t>
            </a:r>
          </a:p>
        </p:txBody>
      </p:sp>
      <p:sp>
        <p:nvSpPr>
          <p:cNvPr id="5" name="">
            <a:extLst xmlns:a="http://schemas.openxmlformats.org/drawingml/2006/main">
              <a:ext uri="{FF2B5EF4-FFF2-40B4-BE49-F238E27FC236}">
                <a16:creationId xmlns:a16="http://schemas.microsoft.com/office/drawing/2014/main" id="{D3ED287A-4AB2-44E4-8F4C-143DB274AFCA}"/>
              </a:ext>
            </a:extLst>
          </p:cNvPr>
          <p:cNvSpPr>
            <a:spLocks xmlns:a="http://schemas.openxmlformats.org/drawingml/2006/main" noGrp="1"/>
          </p:cNvSpPr>
          <p:nvPr/>
        </p:nvSpPr>
        <p:spPr>
          <a:xfrm xmlns:a="http://schemas.openxmlformats.org/drawingml/2006/main">
            <a:off x="609600" y="2552700"/>
            <a:ext cx="10810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74A"/>
                </a:solidFill>
                <a:latin typeface="Arial"/>
                <a:ea typeface="Arial"/>
                <a:cs typeface="Arial"/>
              </a:defRPr>
            </a:pPr>
            <a:r>
              <a:rPr sz="2400" b="0">
                <a:solidFill>
                  <a:srgbClr val="17374A"/>
                </a:solidFill>
                <a:latin typeface="Arial"/>
                <a:ea typeface="Arial"/>
                <a:cs typeface="Arial"/>
              </a:rPr>
              <a:t>Aplicar Row Level Security en PostgreSQL para controlar el acceso a los registros.</a:t>
            </a:r>
          </a:p>
        </p:txBody>
      </p:sp>
      <p:sp>
        <p:nvSpPr>
          <p:cNvPr id="6" name="">
            <a:extLst xmlns:a="http://schemas.openxmlformats.org/drawingml/2006/main">
              <a:ext uri="{FF2B5EF4-FFF2-40B4-BE49-F238E27FC236}">
                <a16:creationId xmlns:a16="http://schemas.microsoft.com/office/drawing/2014/main" id="{F52D5D43-C293-4F41-9C50-93FEFEE806B6}"/>
              </a:ext>
            </a:extLst>
          </p:cNvPr>
          <p:cNvSpPr>
            <a:spLocks xmlns:a="http://schemas.openxmlformats.org/drawingml/2006/main" noGrp="1"/>
          </p:cNvSpPr>
          <p:nvPr/>
        </p:nvSpPr>
        <p:spPr>
          <a:xfrm xmlns:a="http://schemas.openxmlformats.org/drawingml/2006/main">
            <a:off x="609600" y="3895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2E43"/>
                </a:solidFill>
                <a:latin typeface="Arial"/>
                <a:ea typeface="Arial"/>
                <a:cs typeface="Arial"/>
              </a:defRPr>
            </a:pPr>
            <a:r>
              <a:rPr sz="2175" b="1">
                <a:solidFill>
                  <a:srgbClr val="112E43"/>
                </a:solidFill>
                <a:latin typeface="Arial"/>
                <a:ea typeface="Arial"/>
                <a:cs typeface="Arial"/>
              </a:rPr>
              <a:t>Beneficio</a:t>
            </a:r>
          </a:p>
        </p:txBody>
      </p:sp>
      <p:sp>
        <p:nvSpPr>
          <p:cNvPr id="7" name="">
            <a:extLst xmlns:a="http://schemas.openxmlformats.org/drawingml/2006/main">
              <a:ext uri="{FF2B5EF4-FFF2-40B4-BE49-F238E27FC236}">
                <a16:creationId xmlns:a16="http://schemas.microsoft.com/office/drawing/2014/main" id="{CA234185-115B-42C1-80FC-F9B1897C7F80}"/>
              </a:ext>
            </a:extLst>
          </p:cNvPr>
          <p:cNvSpPr>
            <a:spLocks xmlns:a="http://schemas.openxmlformats.org/drawingml/2006/main" noGrp="1"/>
          </p:cNvSpPr>
          <p:nvPr/>
        </p:nvSpPr>
        <p:spPr>
          <a:xfrm xmlns:a="http://schemas.openxmlformats.org/drawingml/2006/main">
            <a:off x="609600" y="445770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El control se aplica</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en la base de datos.</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Existe una prueba entre dos usuarios.</a:t>
            </a:r>
          </a:p>
        </p:txBody>
      </p:sp>
      <p:sp>
        <p:nvSpPr>
          <p:cNvPr id="8" name="">
            <a:extLst xmlns:a="http://schemas.openxmlformats.org/drawingml/2006/main">
              <a:ext uri="{FF2B5EF4-FFF2-40B4-BE49-F238E27FC236}">
                <a16:creationId xmlns:a16="http://schemas.microsoft.com/office/drawing/2014/main" id="{AB8B8210-C65D-4737-9777-A354657CFF7D}"/>
              </a:ext>
            </a:extLst>
          </p:cNvPr>
          <p:cNvSpPr>
            <a:spLocks xmlns:a="http://schemas.openxmlformats.org/drawingml/2006/main" noGrp="1"/>
          </p:cNvSpPr>
          <p:nvPr/>
        </p:nvSpPr>
        <p:spPr>
          <a:xfrm xmlns:a="http://schemas.openxmlformats.org/drawingml/2006/main">
            <a:off x="6515100" y="3895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45B18"/>
                </a:solidFill>
                <a:latin typeface="Arial"/>
                <a:ea typeface="Arial"/>
                <a:cs typeface="Arial"/>
              </a:defRPr>
            </a:pPr>
            <a:r>
              <a:rPr sz="2175" b="1">
                <a:solidFill>
                  <a:srgbClr val="A45B18"/>
                </a:solidFill>
                <a:latin typeface="Arial"/>
                <a:ea typeface="Arial"/>
                <a:cs typeface="Arial"/>
              </a:rPr>
              <a:t>Compromiso o límite</a:t>
            </a:r>
          </a:p>
        </p:txBody>
      </p:sp>
      <p:sp>
        <p:nvSpPr>
          <p:cNvPr id="9" name="">
            <a:extLst xmlns:a="http://schemas.openxmlformats.org/drawingml/2006/main">
              <a:ext uri="{FF2B5EF4-FFF2-40B4-BE49-F238E27FC236}">
                <a16:creationId xmlns:a16="http://schemas.microsoft.com/office/drawing/2014/main" id="{2C4FD2B6-0A6B-4A6C-8E37-FE16AB69F114}"/>
              </a:ext>
            </a:extLst>
          </p:cNvPr>
          <p:cNvSpPr>
            <a:spLocks xmlns:a="http://schemas.openxmlformats.org/drawingml/2006/main" noGrp="1"/>
          </p:cNvSpPr>
          <p:nvPr/>
        </p:nvSpPr>
        <p:spPr>
          <a:xfrm xmlns:a="http://schemas.openxmlformats.org/drawingml/2006/main">
            <a:off x="6515100" y="44577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Ese caso no equivale</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a una auditoría completa</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de todas las políticas.</a:t>
            </a:r>
          </a:p>
        </p:txBody>
      </p:sp>
    </p:spTree>
    <p:extLst>
      <p:ext uri="{BB962C8B-B14F-4D97-AF65-F5344CB8AC3E}">
        <p14:creationId xmlns:p14="http://schemas.microsoft.com/office/powerpoint/2010/main" val="415261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9030B8-A656-46CA-87F5-C354EEBD41CE}"/>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DECISIÓN ARQUITECTÓNICA · ADR-004</a:t>
            </a:r>
          </a:p>
        </p:txBody>
      </p:sp>
      <p:sp>
        <p:nvSpPr>
          <p:cNvPr id="2" name="">
            <a:extLst xmlns:a="http://schemas.openxmlformats.org/drawingml/2006/main">
              <a:ext uri="{FF2B5EF4-FFF2-40B4-BE49-F238E27FC236}">
                <a16:creationId xmlns:a16="http://schemas.microsoft.com/office/drawing/2014/main" id="{1C0D6203-2462-4B12-86A8-B484E95EFCA8}"/>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Arquitectura monolítica</a:t>
            </a:r>
          </a:p>
        </p:txBody>
      </p:sp>
      <p:sp>
        <p:nvSpPr>
          <p:cNvPr id="3" name="">
            <a:extLst xmlns:a="http://schemas.openxmlformats.org/drawingml/2006/main">
              <a:ext uri="{FF2B5EF4-FFF2-40B4-BE49-F238E27FC236}">
                <a16:creationId xmlns:a16="http://schemas.microsoft.com/office/drawing/2014/main" id="{7CBBCF54-0E1B-489E-868B-CE7F5E047A08}"/>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B98753F3-420D-41F3-B45C-CDBCE1CBDB8D}"/>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Decisión</a:t>
            </a:r>
          </a:p>
        </p:txBody>
      </p:sp>
      <p:sp>
        <p:nvSpPr>
          <p:cNvPr id="5" name="">
            <a:extLst xmlns:a="http://schemas.openxmlformats.org/drawingml/2006/main">
              <a:ext uri="{FF2B5EF4-FFF2-40B4-BE49-F238E27FC236}">
                <a16:creationId xmlns:a16="http://schemas.microsoft.com/office/drawing/2014/main" id="{A492C697-34B9-472A-93B0-E779091E8851}"/>
              </a:ext>
            </a:extLst>
          </p:cNvPr>
          <p:cNvSpPr>
            <a:spLocks xmlns:a="http://schemas.openxmlformats.org/drawingml/2006/main" noGrp="1"/>
          </p:cNvSpPr>
          <p:nvPr/>
        </p:nvSpPr>
        <p:spPr>
          <a:xfrm xmlns:a="http://schemas.openxmlformats.org/drawingml/2006/main">
            <a:off x="609600" y="2552700"/>
            <a:ext cx="10810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74A"/>
                </a:solidFill>
                <a:latin typeface="Arial"/>
                <a:ea typeface="Arial"/>
                <a:cs typeface="Arial"/>
              </a:defRPr>
            </a:pPr>
            <a:r>
              <a:rPr sz="2400" b="0">
                <a:solidFill>
                  <a:srgbClr val="17374A"/>
                </a:solidFill>
                <a:latin typeface="Arial"/>
                <a:ea typeface="Arial"/>
                <a:cs typeface="Arial"/>
              </a:rPr>
              <a:t>Mantener una sola aplicación propia para un equipo de tres integrantes.</a:t>
            </a:r>
          </a:p>
        </p:txBody>
      </p:sp>
      <p:sp>
        <p:nvSpPr>
          <p:cNvPr id="6" name="">
            <a:extLst xmlns:a="http://schemas.openxmlformats.org/drawingml/2006/main">
              <a:ext uri="{FF2B5EF4-FFF2-40B4-BE49-F238E27FC236}">
                <a16:creationId xmlns:a16="http://schemas.microsoft.com/office/drawing/2014/main" id="{8628E12A-7250-4A2F-80C1-9A239AADA30D}"/>
              </a:ext>
            </a:extLst>
          </p:cNvPr>
          <p:cNvSpPr>
            <a:spLocks xmlns:a="http://schemas.openxmlformats.org/drawingml/2006/main" noGrp="1"/>
          </p:cNvSpPr>
          <p:nvPr/>
        </p:nvSpPr>
        <p:spPr>
          <a:xfrm xmlns:a="http://schemas.openxmlformats.org/drawingml/2006/main">
            <a:off x="609600" y="3895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2E43"/>
                </a:solidFill>
                <a:latin typeface="Arial"/>
                <a:ea typeface="Arial"/>
                <a:cs typeface="Arial"/>
              </a:defRPr>
            </a:pPr>
            <a:r>
              <a:rPr sz="2175" b="1">
                <a:solidFill>
                  <a:srgbClr val="112E43"/>
                </a:solidFill>
                <a:latin typeface="Arial"/>
                <a:ea typeface="Arial"/>
                <a:cs typeface="Arial"/>
              </a:rPr>
              <a:t>Beneficio</a:t>
            </a:r>
          </a:p>
        </p:txBody>
      </p:sp>
      <p:sp>
        <p:nvSpPr>
          <p:cNvPr id="7" name="">
            <a:extLst xmlns:a="http://schemas.openxmlformats.org/drawingml/2006/main">
              <a:ext uri="{FF2B5EF4-FFF2-40B4-BE49-F238E27FC236}">
                <a16:creationId xmlns:a16="http://schemas.microsoft.com/office/drawing/2014/main" id="{0CF55EB8-E21B-44CE-93C7-C5C4285D1560}"/>
              </a:ext>
            </a:extLst>
          </p:cNvPr>
          <p:cNvSpPr>
            <a:spLocks xmlns:a="http://schemas.openxmlformats.org/drawingml/2006/main" noGrp="1"/>
          </p:cNvSpPr>
          <p:nvPr/>
        </p:nvSpPr>
        <p:spPr>
          <a:xfrm xmlns:a="http://schemas.openxmlformats.org/drawingml/2006/main">
            <a:off x="609600" y="445770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Reducir la complejidad</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de desarrollo, despliegue</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y operación.</a:t>
            </a:r>
          </a:p>
        </p:txBody>
      </p:sp>
      <p:sp>
        <p:nvSpPr>
          <p:cNvPr id="8" name="">
            <a:extLst xmlns:a="http://schemas.openxmlformats.org/drawingml/2006/main">
              <a:ext uri="{FF2B5EF4-FFF2-40B4-BE49-F238E27FC236}">
                <a16:creationId xmlns:a16="http://schemas.microsoft.com/office/drawing/2014/main" id="{3348843B-71F1-4948-A74A-4EB39FC72BAD}"/>
              </a:ext>
            </a:extLst>
          </p:cNvPr>
          <p:cNvSpPr>
            <a:spLocks xmlns:a="http://schemas.openxmlformats.org/drawingml/2006/main" noGrp="1"/>
          </p:cNvSpPr>
          <p:nvPr/>
        </p:nvSpPr>
        <p:spPr>
          <a:xfrm xmlns:a="http://schemas.openxmlformats.org/drawingml/2006/main">
            <a:off x="6515100" y="3895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45B18"/>
                </a:solidFill>
                <a:latin typeface="Arial"/>
                <a:ea typeface="Arial"/>
                <a:cs typeface="Arial"/>
              </a:defRPr>
            </a:pPr>
            <a:r>
              <a:rPr sz="2175" b="1">
                <a:solidFill>
                  <a:srgbClr val="A45B18"/>
                </a:solidFill>
                <a:latin typeface="Arial"/>
                <a:ea typeface="Arial"/>
                <a:cs typeface="Arial"/>
              </a:rPr>
              <a:t>Compromiso o límite</a:t>
            </a:r>
          </a:p>
        </p:txBody>
      </p:sp>
      <p:sp>
        <p:nvSpPr>
          <p:cNvPr id="9" name="">
            <a:extLst xmlns:a="http://schemas.openxmlformats.org/drawingml/2006/main">
              <a:ext uri="{FF2B5EF4-FFF2-40B4-BE49-F238E27FC236}">
                <a16:creationId xmlns:a16="http://schemas.microsoft.com/office/drawing/2014/main" id="{254DF779-20E6-4D49-9854-609B8CD58D61}"/>
              </a:ext>
            </a:extLst>
          </p:cNvPr>
          <p:cNvSpPr>
            <a:spLocks xmlns:a="http://schemas.openxmlformats.org/drawingml/2006/main" noGrp="1"/>
          </p:cNvSpPr>
          <p:nvPr/>
        </p:nvSpPr>
        <p:spPr>
          <a:xfrm xmlns:a="http://schemas.openxmlformats.org/drawingml/2006/main">
            <a:off x="6515100" y="44577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Los módulos se despliegan juntos.</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No hay evidencia que justifique</a:t>
            </a:r>
          </a:p>
          <a:p xmlns:a="http://schemas.openxmlformats.org/drawingml/2006/main">
            <a:pPr>
              <a:defRPr sz="2175" b="0">
                <a:solidFill>
                  <a:srgbClr val="546E7D"/>
                </a:solidFill>
                <a:latin typeface="Arial"/>
                <a:ea typeface="Arial"/>
                <a:cs typeface="Arial"/>
              </a:defRPr>
            </a:pPr>
            <a:r>
              <a:rPr sz="2175" b="0">
                <a:solidFill>
                  <a:srgbClr val="546E7D"/>
                </a:solidFill>
                <a:latin typeface="Arial"/>
                <a:ea typeface="Arial"/>
                <a:cs typeface="Arial"/>
              </a:rPr>
              <a:t>el costo adicional de microservicios.</a:t>
            </a:r>
          </a:p>
        </p:txBody>
      </p:sp>
      <p:sp>
        <p:nvSpPr>
          <p:cNvPr id="10" name="">
            <a:extLst xmlns:a="http://schemas.openxmlformats.org/drawingml/2006/main">
              <a:ext uri="{FF2B5EF4-FFF2-40B4-BE49-F238E27FC236}">
                <a16:creationId xmlns:a16="http://schemas.microsoft.com/office/drawing/2014/main" id="{72E22688-EF50-4EE5-97BD-31F23238A1AB}"/>
              </a:ext>
            </a:extLst>
          </p:cNvPr>
          <p:cNvSpPr>
            <a:spLocks xmlns:a="http://schemas.openxmlformats.org/drawingml/2006/main" noGrp="1"/>
          </p:cNvSpPr>
          <p:nvPr/>
        </p:nvSpPr>
        <p:spPr>
          <a:xfrm xmlns:a="http://schemas.openxmlformats.org/drawingml/2006/main">
            <a:off x="609600" y="5962650"/>
            <a:ext cx="10744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Arial"/>
                <a:ea typeface="Arial"/>
                <a:cs typeface="Arial"/>
              </a:defRPr>
            </a:pPr>
            <a:r>
              <a:rPr sz="1725" b="1">
                <a:solidFill>
                  <a:srgbClr val="087F8C"/>
                </a:solidFill>
                <a:latin typeface="Arial"/>
                <a:ea typeface="Arial"/>
                <a:cs typeface="Arial"/>
              </a:rPr>
              <a:t>Capas: organización interna. Monolito: agrupación y despliegue.</a:t>
            </a:r>
          </a:p>
        </p:txBody>
      </p:sp>
    </p:spTree>
    <p:extLst>
      <p:ext uri="{BB962C8B-B14F-4D97-AF65-F5344CB8AC3E}">
        <p14:creationId xmlns:p14="http://schemas.microsoft.com/office/powerpoint/2010/main" val="15497080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86DEEC-460D-4609-8FCD-F00AE9AE73BB}"/>
              </a:ext>
            </a:extLst>
          </p:cNvPr>
          <p:cNvSpPr>
            <a:spLocks xmlns:a="http://schemas.openxmlformats.org/drawingml/2006/main" noGrp="1"/>
          </p:cNvSpPr>
          <p:nvPr/>
        </p:nvSpPr>
        <p:spPr>
          <a:xfrm xmlns:a="http://schemas.openxmlformats.org/drawingml/2006/main">
            <a:off x="609600" y="304800"/>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VALOR, COSTO, RIESGO RESIDUAL E IMPACTO EN CALIDAD</a:t>
            </a:r>
          </a:p>
        </p:txBody>
      </p:sp>
      <p:sp>
        <p:nvSpPr>
          <p:cNvPr id="2" name="">
            <a:extLst xmlns:a="http://schemas.openxmlformats.org/drawingml/2006/main">
              <a:ext uri="{FF2B5EF4-FFF2-40B4-BE49-F238E27FC236}">
                <a16:creationId xmlns:a16="http://schemas.microsoft.com/office/drawing/2014/main" id="{C0CF0245-2747-4A1E-9D85-1FB758D88352}"/>
              </a:ext>
            </a:extLst>
          </p:cNvPr>
          <p:cNvSpPr>
            <a:spLocks xmlns:a="http://schemas.openxmlformats.org/drawingml/2006/main" noGrp="1"/>
          </p:cNvSpPr>
          <p:nvPr/>
        </p:nvSpPr>
        <p:spPr>
          <a:xfrm xmlns:a="http://schemas.openxmlformats.org/drawingml/2006/main">
            <a:off x="609600" y="762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Matriz de trade-offs</a:t>
            </a:r>
          </a:p>
        </p:txBody>
      </p:sp>
      <p:sp>
        <p:nvSpPr>
          <p:cNvPr id="3" name="">
            <a:extLst xmlns:a="http://schemas.openxmlformats.org/drawingml/2006/main">
              <a:ext uri="{FF2B5EF4-FFF2-40B4-BE49-F238E27FC236}">
                <a16:creationId xmlns:a16="http://schemas.microsoft.com/office/drawing/2014/main" id="{96E19677-E29E-4921-B8F8-5CE4EE0CFBA4}"/>
              </a:ext>
            </a:extLst>
          </p:cNvPr>
          <p:cNvSpPr>
            <a:spLocks xmlns:a="http://schemas.openxmlformats.org/drawingml/2006/main" noGrp="1"/>
          </p:cNvSpPr>
          <p:nvPr/>
        </p:nvSpPr>
        <p:spPr>
          <a:xfrm xmlns:a="http://schemas.openxmlformats.org/drawingml/2006/main">
            <a:off x="1104900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6AD83D7-E836-431D-A2BF-973DE53358E8}"/>
              </a:ext>
            </a:extLst>
          </p:cNvPr>
          <p:cNvSpPr>
            <a:spLocks xmlns:a="http://schemas.openxmlformats.org/drawingml/2006/main" noGrp="1"/>
          </p:cNvSpPr>
          <p:nvPr/>
        </p:nvSpPr>
        <p:spPr>
          <a:xfrm xmlns:a="http://schemas.openxmlformats.org/drawingml/2006/main">
            <a:off x="609600" y="1809750"/>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Las cuatro decisiones están confirmadas para el alcance y los recursos actuales.</a:t>
            </a:r>
          </a:p>
        </p:txBody>
      </p:sp>
      <p:graphicFrame>
        <p:nvGraphicFramePr>
          <p:cNvPr id="10" name=""/>
          <p:cNvGraphicFramePr/>
          <p:nvPr/>
        </p:nvGraphicFramePr>
        <p:xfrm>
          <a:off xmlns:a="http://schemas.openxmlformats.org/drawingml/2006/main" x="609600" y="2867025"/>
          <a:ext xmlns:a="http://schemas.openxmlformats.org/drawingml/2006/main" cx="10972800" cy="3076575"/>
        </p:xfrm>
        <a:graphic xmlns:a="http://schemas.openxmlformats.org/drawingml/2006/main">
          <a:graphicData uri="http://schemas.openxmlformats.org/drawingml/2006/table">
            <a:tbl>
              <a:tblPr/>
              <a:tblGrid>
                <a:gridCol w="2095500"/>
                <a:gridCol w="4286250"/>
                <a:gridCol w="4591050"/>
              </a:tblGrid>
              <a:tr h="571500">
                <a:tc>
                  <a:txBody>
                    <a:bodyPr/>
                    <a:lstStyle/>
                    <a:p>
                      <a:r>
                        <a:rPr sz="1725" b="1">
                          <a:solidFill>
                            <a:srgbClr val="FFFFFF"/>
                          </a:solidFill>
                          <a:latin typeface="Arial"/>
                          <a:ea typeface="Arial"/>
                          <a:cs typeface="Arial"/>
                        </a:rPr>
                        <a:t>Decisión</a:t>
                      </a:r>
                    </a:p>
                  </a:txBody>
                  <a:tcPr marL="152400" marR="152400" marT="114300" marB="114300" anchor="ctr">
                    <a:solidFill>
                      <a:srgbClr val="112E43"/>
                    </a:solidFill>
                  </a:tcPr>
                </a:tc>
                <a:tc>
                  <a:txBody>
                    <a:bodyPr/>
                    <a:lstStyle/>
                    <a:p>
                      <a:r>
                        <a:rPr sz="1725" b="1">
                          <a:solidFill>
                            <a:srgbClr val="FFFFFF"/>
                          </a:solidFill>
                          <a:latin typeface="Arial"/>
                          <a:ea typeface="Arial"/>
                          <a:cs typeface="Arial"/>
                        </a:rPr>
                        <a:t>Beneficio</a:t>
                      </a:r>
                    </a:p>
                  </a:txBody>
                  <a:tcPr marL="152400" marR="152400" marT="114300" marB="114300" anchor="ctr">
                    <a:solidFill>
                      <a:srgbClr val="112E43"/>
                    </a:solidFill>
                  </a:tcPr>
                </a:tc>
                <a:tc>
                  <a:txBody>
                    <a:bodyPr/>
                    <a:lstStyle/>
                    <a:p>
                      <a:r>
                        <a:rPr sz="1725" b="1">
                          <a:solidFill>
                            <a:srgbClr val="FFFFFF"/>
                          </a:solidFill>
                          <a:latin typeface="Arial"/>
                          <a:ea typeface="Arial"/>
                          <a:cs typeface="Arial"/>
                        </a:rPr>
                        <a:t>Compromiso</a:t>
                      </a:r>
                    </a:p>
                  </a:txBody>
                  <a:tcPr marL="152400" marR="152400" marT="114300" marB="114300" anchor="ctr">
                    <a:solidFill>
                      <a:srgbClr val="112E43"/>
                    </a:solidFill>
                  </a:tcPr>
                </a:tc>
              </a:tr>
              <a:tr h="626269">
                <a:tc>
                  <a:txBody>
                    <a:bodyPr/>
                    <a:lstStyle/>
                    <a:p>
                      <a:r>
                        <a:rPr sz="1800" b="1">
                          <a:solidFill>
                            <a:srgbClr val="17374A"/>
                          </a:solidFill>
                          <a:latin typeface="Arial"/>
                          <a:ea typeface="Arial"/>
                          <a:cs typeface="Arial"/>
                        </a:rPr>
                        <a:t>Capas</a:t>
                      </a:r>
                    </a:p>
                  </a:txBody>
                  <a:tcPr marL="152400" marR="152400" marT="114300" marB="114300" anchor="ctr">
                    <a:solidFill>
                      <a:srgbClr val="F1F5F7"/>
                    </a:solidFill>
                  </a:tcPr>
                </a:tc>
                <a:tc>
                  <a:txBody>
                    <a:bodyPr/>
                    <a:lstStyle/>
                    <a:p>
                      <a:r>
                        <a:rPr sz="1800" b="0">
                          <a:solidFill>
                            <a:srgbClr val="17374A"/>
                          </a:solidFill>
                          <a:latin typeface="Arial"/>
                          <a:ea typeface="Arial"/>
                          <a:cs typeface="Arial"/>
                        </a:rPr>
                        <a:t>Comprender responsabilidades</a:t>
                      </a:r>
                    </a:p>
                  </a:txBody>
                  <a:tcPr marL="152400" marR="152400" marT="114300" marB="114300" anchor="ctr">
                    <a:solidFill>
                      <a:srgbClr val="F1F5F7"/>
                    </a:solidFill>
                  </a:tcPr>
                </a:tc>
                <a:tc>
                  <a:txBody>
                    <a:bodyPr/>
                    <a:lstStyle/>
                    <a:p>
                      <a:r>
                        <a:rPr sz="1800" b="0">
                          <a:solidFill>
                            <a:srgbClr val="17374A"/>
                          </a:solidFill>
                          <a:latin typeface="Arial"/>
                          <a:ea typeface="Arial"/>
                          <a:cs typeface="Arial"/>
                        </a:rPr>
                        <a:t>Conservar la separación</a:t>
                      </a:r>
                    </a:p>
                  </a:txBody>
                  <a:tcPr marL="152400" marR="152400" marT="114300" marB="114300" anchor="ctr">
                    <a:solidFill>
                      <a:srgbClr val="F1F5F7"/>
                    </a:solidFill>
                  </a:tcPr>
                </a:tc>
              </a:tr>
              <a:tr h="626269">
                <a:tc>
                  <a:txBody>
                    <a:bodyPr/>
                    <a:lstStyle/>
                    <a:p>
                      <a:r>
                        <a:rPr sz="1800" b="1">
                          <a:solidFill>
                            <a:srgbClr val="17374A"/>
                          </a:solidFill>
                          <a:latin typeface="Arial"/>
                          <a:ea typeface="Arial"/>
                          <a:cs typeface="Arial"/>
                        </a:rPr>
                        <a:t>Supabase</a:t>
                      </a:r>
                    </a:p>
                  </a:txBody>
                  <a:tcPr marL="152400" marR="152400" marT="114300" marB="114300" anchor="ctr">
                    <a:solidFill>
                      <a:srgbClr val="E8F5F2"/>
                    </a:solidFill>
                  </a:tcPr>
                </a:tc>
                <a:tc>
                  <a:txBody>
                    <a:bodyPr/>
                    <a:lstStyle/>
                    <a:p>
                      <a:r>
                        <a:rPr sz="1800" b="0">
                          <a:solidFill>
                            <a:srgbClr val="17374A"/>
                          </a:solidFill>
                          <a:latin typeface="Arial"/>
                          <a:ea typeface="Arial"/>
                          <a:cs typeface="Arial"/>
                        </a:rPr>
                        <a:t>Reducir trabajo</a:t>
                      </a:r>
                    </a:p>
                  </a:txBody>
                  <a:tcPr marL="152400" marR="152400" marT="114300" marB="114300" anchor="ctr">
                    <a:solidFill>
                      <a:srgbClr val="E8F5F2"/>
                    </a:solidFill>
                  </a:tcPr>
                </a:tc>
                <a:tc>
                  <a:txBody>
                    <a:bodyPr/>
                    <a:lstStyle/>
                    <a:p>
                      <a:r>
                        <a:rPr sz="1800" b="0">
                          <a:solidFill>
                            <a:srgbClr val="17374A"/>
                          </a:solidFill>
                          <a:latin typeface="Arial"/>
                          <a:ea typeface="Arial"/>
                          <a:cs typeface="Arial"/>
                        </a:rPr>
                        <a:t>Dependencia externa</a:t>
                      </a:r>
                    </a:p>
                  </a:txBody>
                  <a:tcPr marL="152400" marR="152400" marT="114300" marB="114300" anchor="ctr">
                    <a:solidFill>
                      <a:srgbClr val="E8F5F2"/>
                    </a:solidFill>
                  </a:tcPr>
                </a:tc>
              </a:tr>
              <a:tr h="626269">
                <a:tc>
                  <a:txBody>
                    <a:bodyPr/>
                    <a:lstStyle/>
                    <a:p>
                      <a:r>
                        <a:rPr sz="1800" b="1">
                          <a:solidFill>
                            <a:srgbClr val="17374A"/>
                          </a:solidFill>
                          <a:latin typeface="Arial"/>
                          <a:ea typeface="Arial"/>
                          <a:cs typeface="Arial"/>
                        </a:rPr>
                        <a:t>RLS</a:t>
                      </a:r>
                    </a:p>
                  </a:txBody>
                  <a:tcPr marL="152400" marR="152400" marT="114300" marB="114300" anchor="ctr">
                    <a:solidFill>
                      <a:srgbClr val="F1F5F7"/>
                    </a:solidFill>
                  </a:tcPr>
                </a:tc>
                <a:tc>
                  <a:txBody>
                    <a:bodyPr/>
                    <a:lstStyle/>
                    <a:p>
                      <a:r>
                        <a:rPr sz="1800" b="0">
                          <a:solidFill>
                            <a:srgbClr val="17374A"/>
                          </a:solidFill>
                          <a:latin typeface="Arial"/>
                          <a:ea typeface="Arial"/>
                          <a:cs typeface="Arial"/>
                        </a:rPr>
                        <a:t>Mejorar el aislamiento</a:t>
                      </a:r>
                    </a:p>
                  </a:txBody>
                  <a:tcPr marL="152400" marR="152400" marT="114300" marB="114300" anchor="ctr">
                    <a:solidFill>
                      <a:srgbClr val="F1F5F7"/>
                    </a:solidFill>
                  </a:tcPr>
                </a:tc>
                <a:tc>
                  <a:txBody>
                    <a:bodyPr/>
                    <a:lstStyle/>
                    <a:p>
                      <a:r>
                        <a:rPr sz="1800" b="0">
                          <a:solidFill>
                            <a:srgbClr val="17374A"/>
                          </a:solidFill>
                          <a:latin typeface="Arial"/>
                          <a:ea typeface="Arial"/>
                          <a:cs typeface="Arial"/>
                        </a:rPr>
                        <a:t>Políticas incorrectas pueden</a:t>
                      </a:r>
                    </a:p>
                    <a:p>
                      <a:r>
                        <a:rPr sz="1800" b="0">
                          <a:solidFill>
                            <a:srgbClr val="17374A"/>
                          </a:solidFill>
                          <a:latin typeface="Arial"/>
                          <a:ea typeface="Arial"/>
                          <a:cs typeface="Arial"/>
                        </a:rPr>
                        <a:t>permitir o bloquear accesos</a:t>
                      </a:r>
                    </a:p>
                  </a:txBody>
                  <a:tcPr marL="152400" marR="152400" marT="114300" marB="114300" anchor="ctr">
                    <a:solidFill>
                      <a:srgbClr val="F1F5F7"/>
                    </a:solidFill>
                  </a:tcPr>
                </a:tc>
              </a:tr>
              <a:tr h="626269">
                <a:tc>
                  <a:txBody>
                    <a:bodyPr/>
                    <a:lstStyle/>
                    <a:p>
                      <a:r>
                        <a:rPr sz="1800" b="1">
                          <a:solidFill>
                            <a:srgbClr val="17374A"/>
                          </a:solidFill>
                          <a:latin typeface="Arial"/>
                          <a:ea typeface="Arial"/>
                          <a:cs typeface="Arial"/>
                        </a:rPr>
                        <a:t>Monolito</a:t>
                      </a:r>
                    </a:p>
                  </a:txBody>
                  <a:tcPr marL="152400" marR="152400" marT="114300" marB="114300" anchor="ctr">
                    <a:solidFill>
                      <a:srgbClr val="E8F5F2"/>
                    </a:solidFill>
                  </a:tcPr>
                </a:tc>
                <a:tc>
                  <a:txBody>
                    <a:bodyPr/>
                    <a:lstStyle/>
                    <a:p>
                      <a:r>
                        <a:rPr sz="1800" b="0">
                          <a:solidFill>
                            <a:srgbClr val="17374A"/>
                          </a:solidFill>
                          <a:latin typeface="Arial"/>
                          <a:ea typeface="Arial"/>
                          <a:cs typeface="Arial"/>
                        </a:rPr>
                        <a:t>Reducir complejidad</a:t>
                      </a:r>
                    </a:p>
                  </a:txBody>
                  <a:tcPr marL="152400" marR="152400" marT="114300" marB="114300" anchor="ctr">
                    <a:solidFill>
                      <a:srgbClr val="E8F5F2"/>
                    </a:solidFill>
                  </a:tcPr>
                </a:tc>
                <a:tc>
                  <a:txBody>
                    <a:bodyPr/>
                    <a:lstStyle/>
                    <a:p>
                      <a:r>
                        <a:rPr sz="1800" b="0">
                          <a:solidFill>
                            <a:srgbClr val="17374A"/>
                          </a:solidFill>
                          <a:latin typeface="Arial"/>
                          <a:ea typeface="Arial"/>
                          <a:cs typeface="Arial"/>
                        </a:rPr>
                        <a:t>Módulos sin despliegue</a:t>
                      </a:r>
                    </a:p>
                    <a:p>
                      <a:r>
                        <a:rPr sz="1800" b="0">
                          <a:solidFill>
                            <a:srgbClr val="17374A"/>
                          </a:solidFill>
                          <a:latin typeface="Arial"/>
                          <a:ea typeface="Arial"/>
                          <a:cs typeface="Arial"/>
                        </a:rPr>
                        <a:t>independiente</a:t>
                      </a:r>
                    </a:p>
                  </a:txBody>
                  <a:tcPr marL="152400" marR="152400" marT="114300" marB="114300" anchor="ctr">
                    <a:solidFill>
                      <a:srgbClr val="E8F5F2"/>
                    </a:solidFill>
                  </a:tcPr>
                </a:tc>
              </a:tr>
            </a:tbl>
          </a:graphicData>
        </a:graphic>
      </p:graphicFrame>
    </p:spTree>
    <p:extLst>
      <p:ext uri="{BB962C8B-B14F-4D97-AF65-F5344CB8AC3E}">
        <p14:creationId xmlns:p14="http://schemas.microsoft.com/office/powerpoint/2010/main" val="1451649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2026-09-19T00:54:12.2860000Z</dcterms:created>
  <dcterms:modified xsi:type="dcterms:W3CDTF">2026-09-19T00:54:12.2860000Z</dcterms:modified>
</coreProperties>
</file>